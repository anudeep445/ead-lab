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7" r:id="rId42"/>
    <p:sldId id="296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12192000" cy="6858000"/>
  <p:notesSz cx="6858000" cy="9144000"/>
  <p:embeddedFontLst>
    <p:embeddedFont>
      <p:font typeface="Marcellus" panose="020B0604020202020204" charset="0"/>
      <p:regular r:id="rId72"/>
    </p:embeddedFont>
    <p:embeddedFont>
      <p:font typeface="Noto Sans Symbols" panose="020B0604020202020204" charset="0"/>
      <p:regular r:id="rId7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8" roundtripDataSignature="AMtx7mh5I5UTe2GbArNEqLvCw+3d9vJv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EE4250-6577-4DAD-B2DE-3D58155B38E5}">
  <a:tblStyle styleId="{43EE4250-6577-4DAD-B2DE-3D58155B38E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FEB"/>
          </a:solidFill>
        </a:fill>
      </a:tcStyle>
    </a:wholeTbl>
    <a:band1H>
      <a:tcTxStyle/>
      <a:tcStyle>
        <a:tcBdr/>
        <a:fill>
          <a:solidFill>
            <a:srgbClr val="CBDDD5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DD5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38" Type="http://customschemas.google.com/relationships/presentationmetadata" Target="meta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3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.fntdata"/><Relationship Id="rId14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4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2.fntdata"/><Relationship Id="rId14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141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deep Mekala" userId="1f1bd151a77ec733" providerId="LiveId" clId="{F5DE6FD2-4540-4B88-99A0-C6F2F02FF85F}"/>
    <pc:docChg chg="undo custSel modSld">
      <pc:chgData name="Anudeep Mekala" userId="1f1bd151a77ec733" providerId="LiveId" clId="{F5DE6FD2-4540-4B88-99A0-C6F2F02FF85F}" dt="2026-03-10T05:07:14.621" v="3" actId="1035"/>
      <pc:docMkLst>
        <pc:docMk/>
      </pc:docMkLst>
      <pc:sldChg chg="modSp mod">
        <pc:chgData name="Anudeep Mekala" userId="1f1bd151a77ec733" providerId="LiveId" clId="{F5DE6FD2-4540-4B88-99A0-C6F2F02FF85F}" dt="2026-03-10T04:53:14.502" v="1" actId="1076"/>
        <pc:sldMkLst>
          <pc:docMk/>
          <pc:sldMk cId="0" sldId="264"/>
        </pc:sldMkLst>
        <pc:picChg chg="mod">
          <ac:chgData name="Anudeep Mekala" userId="1f1bd151a77ec733" providerId="LiveId" clId="{F5DE6FD2-4540-4B88-99A0-C6F2F02FF85F}" dt="2026-03-10T04:53:14.502" v="1" actId="1076"/>
          <ac:picMkLst>
            <pc:docMk/>
            <pc:sldMk cId="0" sldId="264"/>
            <ac:picMk id="169" creationId="{00000000-0000-0000-0000-000000000000}"/>
          </ac:picMkLst>
        </pc:picChg>
      </pc:sldChg>
      <pc:sldChg chg="modSp mod">
        <pc:chgData name="Anudeep Mekala" userId="1f1bd151a77ec733" providerId="LiveId" clId="{F5DE6FD2-4540-4B88-99A0-C6F2F02FF85F}" dt="2026-03-10T05:07:14.621" v="3" actId="1035"/>
        <pc:sldMkLst>
          <pc:docMk/>
          <pc:sldMk cId="0" sldId="268"/>
        </pc:sldMkLst>
        <pc:picChg chg="mod">
          <ac:chgData name="Anudeep Mekala" userId="1f1bd151a77ec733" providerId="LiveId" clId="{F5DE6FD2-4540-4B88-99A0-C6F2F02FF85F}" dt="2026-03-10T05:07:14.621" v="3" actId="1035"/>
          <ac:picMkLst>
            <pc:docMk/>
            <pc:sldMk cId="0" sldId="268"/>
            <ac:picMk id="21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685820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7436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7540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3193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9170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3638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395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893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230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2330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9201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1630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7581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14016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03286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31539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11866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21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72289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76775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07878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42185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23050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27930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62760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525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43965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2771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63975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28861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44156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20343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41286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30126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568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4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4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8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X1makkzeIPbE_LjsCfsWURvRmQjip1uQ/view?usp=sharing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vOgTbkI-Ln_rscTLvcbzOq-X8M1n9kDd/view?usp=sharing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" name="Google Shape;85;p1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818866" y="128790"/>
            <a:ext cx="11136573" cy="6581104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22ITC08</a:t>
            </a: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 APPLICATION DEVELOPMENT </a:t>
            </a: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UNIT-II</a:t>
            </a:r>
            <a:endParaRPr dirty="0"/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86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</a:t>
            </a:r>
            <a:endParaRPr dirty="0"/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1" i="0" u="none" strike="noStrike" cap="none" dirty="0">
              <a:solidFill>
                <a:srgbClr val="86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0" i="0" u="none" strike="noStrike" cap="none" dirty="0">
              <a:solidFill>
                <a:srgbClr val="86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280" y="4289738"/>
            <a:ext cx="2400300" cy="1905000"/>
          </a:xfrm>
          <a:prstGeom prst="rect">
            <a:avLst/>
          </a:prstGeom>
          <a:ln w="6350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of Bootstrap</a:t>
            </a:r>
            <a:endParaRPr sz="3600" b="1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2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4" name="Google Shape;94;p2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lang="en-US" sz="28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Powerful, extensible, and feature-packed frontend toolkit. </a:t>
            </a:r>
            <a:endParaRPr sz="2800" b="1" i="0" u="none" strike="noStrike" cap="none" dirty="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is the most commonly used </a:t>
            </a:r>
            <a:r>
              <a:rPr lang="en-US" sz="2800" b="1" i="0" u="none" strike="noStrike" cap="none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 for Front-End </a:t>
            </a:r>
            <a:r>
              <a:rPr lang="en-US" sz="2800" b="0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Development. </a:t>
            </a:r>
            <a:endParaRPr sz="2800" b="0" i="0" u="none" strike="noStrike" cap="none" dirty="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providing several pre defined libraries for </a:t>
            </a:r>
            <a:r>
              <a:rPr lang="en-US" sz="2800" b="0" i="0" u="none" strike="noStrike" cap="none" dirty="0" err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</a:t>
            </a:r>
            <a:r>
              <a:rPr lang="en-US" sz="2800" b="0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java script. </a:t>
            </a:r>
            <a:endParaRPr dirty="0"/>
          </a:p>
          <a:p>
            <a:pPr marL="457200" marR="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 b="1" i="0" u="none" strike="noStrike" cap="none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version of Bootstrap is: 5.3.x</a:t>
            </a:r>
            <a:endParaRPr sz="2800" b="1" i="0" u="none" strike="noStrike" cap="none" dirty="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4047735" y="5208216"/>
            <a:ext cx="4938801" cy="584775"/>
          </a:xfrm>
          <a:prstGeom prst="rect">
            <a:avLst/>
          </a:prstGeom>
          <a:noFill/>
          <a:ln w="69850" cap="flat" cmpd="sng">
            <a:solidFill>
              <a:srgbClr val="071D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https://getbootstrap.com/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2996045" y="5903484"/>
            <a:ext cx="7488382" cy="584775"/>
          </a:xfrm>
          <a:prstGeom prst="rect">
            <a:avLst/>
          </a:prstGeom>
          <a:noFill/>
          <a:ln w="73025" cap="flat" cmpd="sng">
            <a:solidFill>
              <a:srgbClr val="071D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https://www.w3schools.com/howto/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4 VS Bootstrap 5</a:t>
            </a:r>
            <a:endParaRPr sz="3600" b="1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3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5" name="Google Shape;105;p3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8" name="Google Shape;108;p3"/>
          <p:cNvGraphicFramePr/>
          <p:nvPr/>
        </p:nvGraphicFramePr>
        <p:xfrm>
          <a:off x="1086069" y="1140080"/>
          <a:ext cx="10443800" cy="5155675"/>
        </p:xfrm>
        <a:graphic>
          <a:graphicData uri="http://schemas.openxmlformats.org/drawingml/2006/table">
            <a:tbl>
              <a:tblPr firstRow="1" bandRow="1">
                <a:noFill/>
                <a:tableStyleId>{43EE4250-6577-4DAD-B2DE-3D58155B38E5}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BASIS OF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solidFill>
                      <a:srgbClr val="071D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BOOTSTRAP 4</a:t>
                      </a:r>
                      <a:endParaRPr/>
                    </a:p>
                  </a:txBody>
                  <a:tcPr marL="95250" marR="95250" marT="95250" marB="95250" anchor="ctr">
                    <a:solidFill>
                      <a:srgbClr val="071D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BOOTSTRAP 5</a:t>
                      </a:r>
                      <a:endParaRPr/>
                    </a:p>
                  </a:txBody>
                  <a:tcPr marL="95250" marR="95250" marT="95250" marB="95250" anchor="ctr">
                    <a:solidFill>
                      <a:srgbClr val="071D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Grid System</a:t>
                      </a:r>
                      <a:endParaRPr sz="14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has 5 tier (xs, sm, md, lg, xl).</a:t>
                      </a:r>
                      <a:endParaRPr/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has 6 tier (xs, sm, md, lg, xl, xxl).</a:t>
                      </a:r>
                      <a:endParaRPr/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Color</a:t>
                      </a:r>
                      <a:endParaRPr sz="14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has limited colors.</a:t>
                      </a:r>
                      <a:endParaRPr/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Extra colors added with the looks, A card improved color palette. </a:t>
                      </a:r>
                      <a:endParaRPr/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Jquery</a:t>
                      </a:r>
                      <a:endParaRPr sz="14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has jquery and all related plugins.</a:t>
                      </a:r>
                      <a:endParaRPr/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Jquery is removed and switched to vanilla JS with some working plugins</a:t>
                      </a:r>
                      <a:endParaRPr sz="14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Explorer</a:t>
                      </a:r>
                      <a:endParaRPr sz="14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Bootstrap 4 supports both IE 10 and 11.</a:t>
                      </a:r>
                      <a:endParaRPr/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Bootstrap 5 doesn’t support IE 10 and 11.</a:t>
                      </a:r>
                      <a:endParaRPr/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Form elements</a:t>
                      </a:r>
                      <a:endParaRPr sz="14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Radio buttons, checkboxes have different look in different OS and browsers. </a:t>
                      </a:r>
                      <a:endParaRPr/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look of form elements will not change, on different OS or browser. </a:t>
                      </a:r>
                      <a:endParaRPr/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5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Bootstrap Icons</a:t>
                      </a:r>
                      <a:endParaRPr sz="14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Bootstrap 4 doesn’t have its own SVG icons, we have to use font-awesome for icons.</a:t>
                      </a:r>
                      <a:endParaRPr/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Bootstrap 5 have its own SVG icons</a:t>
                      </a:r>
                      <a:endParaRPr/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Jumbotron</a:t>
                      </a:r>
                      <a:endParaRPr sz="14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supports.</a:t>
                      </a:r>
                      <a:endParaRPr/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doesn’t support jumbotron.</a:t>
                      </a:r>
                      <a:endParaRPr/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Connectivity of Bootstrap in page</a:t>
            </a:r>
            <a:endParaRPr sz="36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</a:t>
            </a: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Bootstrap</a:t>
            </a: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HTML by using the following </a:t>
            </a: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ways. </a:t>
            </a:r>
            <a:endParaRPr sz="2800" b="1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lang="en-US" sz="2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CDN </a:t>
            </a:r>
            <a:endParaRPr/>
          </a:p>
          <a:p>
            <a:pPr marL="457200" marR="0" lvl="0" indent="-457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2800"/>
              <a:buFont typeface="Noto Sans Symbols"/>
              <a:buChar char="⮚"/>
            </a:pPr>
            <a:r>
              <a:rPr lang="en-US" sz="2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Locally</a:t>
            </a: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CDN</a:t>
            </a:r>
            <a:r>
              <a:rPr lang="en-US" sz="2800" u="sng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 </a:t>
            </a:r>
            <a:r>
              <a:rPr lang="en-US" sz="2800" b="1" u="sng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Delivery Network </a:t>
            </a:r>
            <a:r>
              <a:rPr lang="en-US" sz="2800" u="sng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sz="2800" u="sng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the following in the &lt;head&gt; part of our html </a:t>
            </a:r>
            <a:endParaRPr sz="280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&lt;link href="https://cdn.jsdelivr.net/npm/bootstrap@5.1.3/dist/css/bootstrap.min.css" rel="stylesheet" &gt;</a:t>
            </a:r>
            <a:endParaRPr sz="1800" b="1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4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Delivery Network </a:t>
            </a:r>
            <a:endParaRPr sz="360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5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6" name="Google Shape;126;p5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425" y="1209675"/>
            <a:ext cx="10607812" cy="2853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42013" y="4255946"/>
            <a:ext cx="6819900" cy="1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ct val="100000"/>
              <a:buFont typeface="Times New Roman"/>
              <a:buNone/>
            </a:pPr>
            <a:r>
              <a:rPr lang="en-US" sz="36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Bootstrap Locally</a:t>
            </a:r>
            <a:endParaRPr sz="36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Download bootstrap.css file from the link getbootstrap.com .</a:t>
            </a:r>
            <a:endParaRPr sz="280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zip file contains bootstrap.css file. </a:t>
            </a:r>
            <a:endParaRPr sz="280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 this file in our application folder and add the following link in html. </a:t>
            </a:r>
            <a:endParaRPr sz="280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&lt;link rel="stylesheet" href=“bootstrap.css"&gt; </a:t>
            </a:r>
            <a:endParaRPr sz="28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6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7" name="Google Shape;137;p6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Bootstrap Locally</a:t>
            </a:r>
            <a:endParaRPr sz="3600" b="1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7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6" name="Google Shape;146;p7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3791" y="899137"/>
            <a:ext cx="10647950" cy="3018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9119" y="3928737"/>
            <a:ext cx="9482571" cy="1883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and Container-fluid</a:t>
            </a:r>
            <a:endParaRPr sz="3600" b="1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bootstrap, the </a:t>
            </a: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 </a:t>
            </a: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used to set the content’s margin.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.container</a:t>
            </a:r>
            <a:endParaRPr dirty="0"/>
          </a:p>
          <a:p>
            <a:pPr marL="0" marR="0" lvl="0" indent="-177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.container class provides a responsive fixed width container.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.container-fluid</a:t>
            </a:r>
            <a:endParaRPr dirty="0"/>
          </a:p>
          <a:p>
            <a:pPr marL="0" marR="0" lvl="0" indent="-177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.container-fluid class provides a full-width container which spans the entire width of the viewport.</a:t>
            </a:r>
            <a:endParaRPr dirty="0"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p8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7" name="Google Shape;157;p8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0137" y="4719145"/>
            <a:ext cx="8334375" cy="1580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and Container-fluid</a:t>
            </a:r>
            <a:endParaRPr sz="3600" b="1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p9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7" name="Google Shape;167;p9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8770" y="952336"/>
            <a:ext cx="11237201" cy="484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and Container-fluid</a:t>
            </a:r>
            <a:endParaRPr sz="3600" b="1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10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7" name="Google Shape;177;p10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4288" y="2297496"/>
            <a:ext cx="5192111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44359" y="1169605"/>
            <a:ext cx="6211778" cy="4421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and Container-fluid</a:t>
            </a:r>
            <a:endParaRPr sz="3600" b="1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7" name="Google Shape;187;p11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8" name="Google Shape;188;p11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934" y="1145628"/>
            <a:ext cx="11084532" cy="4687613"/>
          </a:xfrm>
          <a:prstGeom prst="rect">
            <a:avLst/>
          </a:prstGeom>
          <a:noFill/>
          <a:ln w="34925" cap="flat" cmpd="sng">
            <a:solidFill>
              <a:srgbClr val="6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 - </a:t>
            </a:r>
            <a:r>
              <a:rPr lang="en-US" sz="36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</a:t>
            </a:r>
            <a:endParaRPr sz="3600" b="1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6" name="Google Shape;196;p12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7" name="Google Shape;197;p12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of the styles in Bootstrap are implemented as class styles.</a:t>
            </a:r>
            <a:endParaRPr dirty="0"/>
          </a:p>
          <a:p>
            <a:pPr marL="457200" marR="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ct val="100000"/>
              <a:buFont typeface="Noto Sans Symbols"/>
              <a:buChar char="⮚"/>
            </a:pP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use these classes directly in our web application to improve look and feel. </a:t>
            </a:r>
            <a:endParaRPr sz="2800" dirty="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Commonly Used Classes :</a:t>
            </a:r>
            <a:endParaRPr dirty="0"/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Container Class </a:t>
            </a:r>
            <a:endParaRPr sz="2800" dirty="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Button Related Classes </a:t>
            </a:r>
            <a:endParaRPr sz="2800" dirty="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Jumbotron Classes </a:t>
            </a:r>
            <a:endParaRPr sz="2800" dirty="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 - </a:t>
            </a:r>
            <a:r>
              <a:rPr lang="en-US" sz="36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</a:t>
            </a:r>
            <a:endParaRPr sz="3600" b="1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205" name="Google Shape;205;p13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6" name="Google Shape;206;p13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 Class: </a:t>
            </a:r>
            <a:endParaRPr sz="280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To center our elements we should use container class.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 b="0" i="0" u="none" strike="noStrike" cap="non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" name="Google Shape;20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51796" y="2343583"/>
            <a:ext cx="696494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99872" y="3372090"/>
            <a:ext cx="7124700" cy="2188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38575" y="5466089"/>
            <a:ext cx="7715250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 - </a:t>
            </a:r>
            <a:r>
              <a:rPr lang="en-US" sz="36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</a:t>
            </a:r>
            <a:endParaRPr sz="3600" b="1" i="0" u="none" strike="noStrike" cap="non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button classes can be used on an </a:t>
            </a:r>
            <a:r>
              <a:rPr lang="en-US" sz="24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&lt;a&gt;, &lt;button&gt;, or &lt;input&gt; 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element: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4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1" name="Google Shape;22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727" y="1814609"/>
            <a:ext cx="10505209" cy="4100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Change Default Styles of Bootstrap </a:t>
            </a:r>
            <a:endParaRPr sz="36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5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5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0" name="Google Shape;230;p15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682" y="1328453"/>
            <a:ext cx="10131136" cy="3815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2300" y="2083377"/>
            <a:ext cx="4552518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 - </a:t>
            </a:r>
            <a:r>
              <a:rPr lang="en-US" sz="36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</a:t>
            </a:r>
            <a:endParaRPr sz="3600" b="1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provides four </a:t>
            </a:r>
            <a:r>
              <a:rPr lang="en-US" sz="2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 sizes</a:t>
            </a: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80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 that define the different sizes are:</a:t>
            </a:r>
            <a:endParaRPr/>
          </a:p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btn-lg</a:t>
            </a:r>
            <a:endParaRPr sz="2800" b="1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	.btn-sm</a:t>
            </a:r>
            <a:endParaRPr sz="2800" b="1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	.btn-xs</a:t>
            </a:r>
            <a:endParaRPr sz="2800" b="1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2794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0" name="Google Shape;240;p16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1" name="Google Shape;241;p16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115" y="3809606"/>
            <a:ext cx="7829550" cy="1930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7903" y="2621697"/>
            <a:ext cx="50577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 - </a:t>
            </a:r>
            <a:r>
              <a:rPr lang="en-US" sz="36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</a:t>
            </a:r>
            <a:endParaRPr sz="3600" b="1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50" name="Google Shape;250;p17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 Groups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allows you to </a:t>
            </a:r>
            <a:r>
              <a:rPr lang="en-US" sz="2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a series of buttons </a:t>
            </a: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together (on a single line) in a button group.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 &lt;div&gt; element with class .btn-group to create a button group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&lt;div class="btn-group </a:t>
            </a:r>
            <a:r>
              <a:rPr lang="en-US" sz="24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btn-group-vertical</a:t>
            </a:r>
            <a:r>
              <a:rPr lang="en-US" sz="24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btn-group-lg </a:t>
            </a:r>
            <a:r>
              <a:rPr lang="en-US" sz="24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btn-group-justified</a:t>
            </a:r>
            <a:r>
              <a:rPr lang="en-US" sz="24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btn-success"&gt;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1" name="Google Shape;251;p17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52" name="Google Shape;252;p17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5272" y="4343193"/>
            <a:ext cx="11265172" cy="1248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Jumbotron</a:t>
            </a:r>
            <a:endParaRPr sz="3600" b="1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260" name="Google Shape;260;p18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61" name="Google Shape;261;p18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jumbotron</a:t>
            </a: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indicates a big box for calling extra attention to some special content or information.</a:t>
            </a:r>
            <a:endParaRPr dirty="0"/>
          </a:p>
          <a:p>
            <a:pPr marL="457200" marR="0" lvl="0" indent="-457200" algn="just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jumbotron</a:t>
            </a: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displayed as a grey box with rounded corners. It also enlarges the font sizes of the text inside it.</a:t>
            </a:r>
            <a:endParaRPr dirty="0"/>
          </a:p>
          <a:p>
            <a:pPr marL="457200" marR="0" lvl="0" indent="-457200" algn="just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 a </a:t>
            </a: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jumbotron</a:t>
            </a: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you can put nearly any valid HTML, including other Bootstrap elements/classes.</a:t>
            </a:r>
            <a:endParaRPr sz="2800" b="0" i="0" u="none" strike="noStrike" cap="none" dirty="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Jumbotron</a:t>
            </a:r>
            <a:endParaRPr sz="3600" b="1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269" name="Google Shape;269;p19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70" name="Google Shape;270;p1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3" name="Google Shape;273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156" y="1595794"/>
            <a:ext cx="10785763" cy="1843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84485" y="3488375"/>
            <a:ext cx="9102434" cy="2951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Grid</a:t>
            </a:r>
            <a:endParaRPr sz="3600" b="1" i="0" u="none" strike="noStrike" cap="none" dirty="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Bootstrap’s grid system uses a series of containers, rows, and columns to layout and align content.</a:t>
            </a:r>
            <a:endParaRPr dirty="0"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Bootstrap's grid system is built with flexbox and allows up to 12 columns across the page.</a:t>
            </a:r>
            <a:endParaRPr dirty="0"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do not want to use all 12 columns individually, you can group the columns together to create wider columns.</a:t>
            </a:r>
            <a:endParaRPr sz="2800" dirty="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20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4" name="Google Shape;284;p20"/>
          <p:cNvSpPr/>
          <p:nvPr/>
        </p:nvSpPr>
        <p:spPr>
          <a:xfrm>
            <a:off x="301336" y="5592301"/>
            <a:ext cx="10131137" cy="369332"/>
          </a:xfrm>
          <a:prstGeom prst="rect">
            <a:avLst/>
          </a:prstGeom>
          <a:noFill/>
          <a:ln w="69850" cap="flat" cmpd="sng">
            <a:solidFill>
              <a:srgbClr val="071D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600000"/>
                </a:solidFill>
                <a:latin typeface="Calibri"/>
                <a:ea typeface="Calibri"/>
                <a:cs typeface="Calibri"/>
                <a:sym typeface="Calibri"/>
              </a:rPr>
              <a:t>https://chrome.google.com/webstore/detail/bootstrap-grid-overlay/mnlklmelflkheijccafopdohgclfefcg</a:t>
            </a:r>
            <a:endParaRPr sz="1800" b="1">
              <a:solidFill>
                <a:srgbClr val="6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Grid</a:t>
            </a:r>
            <a:endParaRPr sz="3600" b="1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we need Grid?</a:t>
            </a:r>
            <a:endParaRPr sz="2800" b="1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To display our application layout properly on multiple devices of multiple screen sizes like desktop, laptop, tab, mobile etc, we should go for grid system. 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21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3" name="Google Shape;293;p21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566" y="3643312"/>
            <a:ext cx="10819534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Grid</a:t>
            </a:r>
            <a:endParaRPr sz="3600" b="1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5 grid system has six classes</a:t>
            </a:r>
            <a:endParaRPr sz="2800" b="1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.col- </a:t>
            </a: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(extra small devices - screen width less than 576px)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.col-sm- </a:t>
            </a: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(small devices - screen width equal to or greater than 576px)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.col-md- </a:t>
            </a: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(medium devices - screen width equal to or greater than 768px)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.col-lg- </a:t>
            </a: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(large devices - screen width equal to or greater than 992px)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.col-xl- </a:t>
            </a: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(xlarge devices - screen width equal to or greater than 1200px)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.col-xxl- </a:t>
            </a: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(xxlarge devices - screen width equal to or greater than 1400px)</a:t>
            </a:r>
            <a:endParaRPr sz="2800" b="0" i="0" u="none" strike="noStrike" cap="non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2" name="Google Shape;302;p22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03" name="Google Shape;303;p22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Grid</a:t>
            </a:r>
            <a:endParaRPr sz="3600" b="1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310" name="Google Shape;310;p23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implement Grid? </a:t>
            </a:r>
            <a:endParaRPr sz="2800" b="1" dirty="0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implement grid by using 2 classes 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row class: to define row 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&lt;div class="row"&gt; 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Within the row we can define columns by using the following class </a:t>
            </a:r>
            <a:endParaRPr dirty="0"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col-</a:t>
            </a:r>
            <a:r>
              <a:rPr lang="en-US" sz="2800" b="1" dirty="0" err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screenSize</a:t>
            </a: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2800" b="1" dirty="0" err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noOfColumns</a:t>
            </a: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 b="1" i="0" u="none" strike="noStrike" cap="none" dirty="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1" name="Google Shape;311;p23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12" name="Google Shape;312;p23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49687" y="2644405"/>
            <a:ext cx="7035504" cy="1649299"/>
          </a:xfrm>
          <a:prstGeom prst="rect">
            <a:avLst/>
          </a:prstGeom>
          <a:noFill/>
          <a:ln w="66675" cap="flat" cmpd="sng">
            <a:solidFill>
              <a:srgbClr val="6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Grid</a:t>
            </a:r>
            <a:endParaRPr sz="3600" b="1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320" name="Google Shape;320;p24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1" name="Google Shape;321;p24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1: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</a:t>
            </a:r>
            <a:r>
              <a:rPr lang="en-US" sz="96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2: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</a:t>
            </a:r>
            <a:r>
              <a:rPr lang="en-US" sz="9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sz="9800" b="1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96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4" name="Google Shape;32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4992" y="1742539"/>
            <a:ext cx="7967193" cy="170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39690" y="4636394"/>
            <a:ext cx="7580827" cy="188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Grid</a:t>
            </a:r>
            <a:endParaRPr sz="3600" b="1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331" name="Google Shape;331;p25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2" name="Google Shape;332;p25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Grid: </a:t>
            </a:r>
            <a:r>
              <a:rPr lang="en-US" sz="2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Grid inside Grid </a:t>
            </a:r>
            <a:endParaRPr sz="2800" b="1" i="0" u="none" strike="noStrike" cap="none">
              <a:solidFill>
                <a:srgbClr val="6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5" name="Google Shape;335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7465" y="1724518"/>
            <a:ext cx="9130535" cy="2742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6441" y="4670556"/>
            <a:ext cx="10412537" cy="2021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Table</a:t>
            </a:r>
            <a:endParaRPr sz="3600" b="1" i="0" u="none" strike="noStrike" cap="non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342" name="Google Shape;342;p26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marR="0" lvl="0" indent="-2286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sng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basic Bootstrap 5 table has a light padding and horizontal dividers</a:t>
            </a:r>
            <a:r>
              <a:rPr lang="en-US" sz="2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.table</a:t>
            </a: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class adds </a:t>
            </a:r>
            <a:r>
              <a:rPr lang="en-US" sz="28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styling </a:t>
            </a: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 table.</a:t>
            </a:r>
            <a:endParaRPr dirty="0"/>
          </a:p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.table-striped</a:t>
            </a: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class </a:t>
            </a:r>
            <a:r>
              <a:rPr lang="en-US" sz="28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zebra-stripes </a:t>
            </a: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 table.</a:t>
            </a:r>
            <a:endParaRPr dirty="0"/>
          </a:p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lang="en-US" sz="26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.table-bordered</a:t>
            </a:r>
            <a:r>
              <a:rPr lang="en-US" sz="26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class </a:t>
            </a:r>
            <a:r>
              <a:rPr lang="en-US" sz="2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borders on all sides</a:t>
            </a:r>
            <a:r>
              <a:rPr lang="en-US" sz="26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table and cells.</a:t>
            </a:r>
            <a:endParaRPr dirty="0"/>
          </a:p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.table-hover</a:t>
            </a: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class adds a </a:t>
            </a:r>
            <a:r>
              <a:rPr lang="en-US" sz="28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hover effect </a:t>
            </a: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table rows.</a:t>
            </a:r>
            <a:endParaRPr dirty="0"/>
          </a:p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.</a:t>
            </a: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table-dark</a:t>
            </a: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class adds a </a:t>
            </a:r>
            <a:r>
              <a:rPr lang="en-US" sz="28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black background </a:t>
            </a: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table.</a:t>
            </a:r>
            <a:endParaRPr dirty="0"/>
          </a:p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.</a:t>
            </a: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table-dark</a:t>
            </a: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and .</a:t>
            </a: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table-striped</a:t>
            </a: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to create a </a:t>
            </a:r>
            <a:r>
              <a:rPr lang="en-US" sz="28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dark, striped table</a:t>
            </a: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lang="en-US" sz="2800" b="1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.table-borderless</a:t>
            </a: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class </a:t>
            </a:r>
            <a:r>
              <a:rPr lang="en-US" sz="28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removes borders </a:t>
            </a:r>
            <a:r>
              <a:rPr lang="en-US" sz="2800" dirty="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the table.</a:t>
            </a:r>
            <a:endParaRPr sz="2800" dirty="0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26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7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Table</a:t>
            </a:r>
            <a:endParaRPr sz="3600" b="1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351" name="Google Shape;351;p27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27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54" name="Google Shape;354;p27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7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6" name="Google Shape;356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690" y="1134789"/>
            <a:ext cx="5165834" cy="4845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4152" y="1714500"/>
            <a:ext cx="5809920" cy="3103380"/>
          </a:xfrm>
          <a:prstGeom prst="rect">
            <a:avLst/>
          </a:prstGeom>
          <a:noFill/>
          <a:ln w="53975" cap="flat" cmpd="sng">
            <a:solidFill>
              <a:srgbClr val="6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8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Table</a:t>
            </a:r>
            <a:endParaRPr sz="3600" b="1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363" name="Google Shape;363;p28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Contextual classes</a:t>
            </a: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can be used to color the whole table (&lt;table&gt;),  the table rows (&lt;tr&gt;) or table cells (&lt;td&gt;).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4" name="Google Shape;364;p28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5" name="Google Shape;365;p28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8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970" y="2259724"/>
            <a:ext cx="10334625" cy="3673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9"/>
          <p:cNvSpPr txBox="1"/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Table</a:t>
            </a:r>
            <a:endParaRPr sz="3600" b="1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373" name="Google Shape;373;p29"/>
          <p:cNvSpPr txBox="1"/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4" name="Google Shape;374;p29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3408" y="68781"/>
            <a:ext cx="746975" cy="66069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75" name="Google Shape;375;p29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9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262" y="892722"/>
            <a:ext cx="11804103" cy="5213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0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Table</a:t>
            </a:r>
            <a:endParaRPr sz="3600" b="1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383" name="Google Shape;383;p30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84" name="Google Shape;384;p30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0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0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7" name="Google Shape;387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3393" y="1207869"/>
            <a:ext cx="8061435" cy="5014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1"/>
          <p:cNvSpPr txBox="1"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00000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Table</a:t>
            </a:r>
            <a:endParaRPr sz="3600" b="1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393" name="Google Shape;393;p31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94738"/>
            <a:ext cx="586853" cy="66326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94" name="Google Shape;394;p31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1"/>
          <p:cNvSpPr txBox="1"/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Responsive Tables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.table-responsive</a:t>
            </a: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class </a:t>
            </a:r>
            <a:r>
              <a:rPr lang="en-US" sz="2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a scrollbar </a:t>
            </a: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table.</a:t>
            </a:r>
            <a:endParaRPr sz="2800" b="1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7" name="Google Shape;397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875" y="2386505"/>
            <a:ext cx="1038225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8263" y="4866289"/>
            <a:ext cx="9907806" cy="1656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2"/>
          <p:cNvSpPr txBox="1"/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Image</a:t>
            </a:r>
            <a:endParaRPr sz="3600" b="1" i="0" u="none" strike="noStrike" cap="none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404" name="Google Shape;404;p32"/>
          <p:cNvSpPr txBox="1"/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32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2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p32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91166" y="5915467"/>
            <a:ext cx="1000833" cy="915237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08" name="Google Shape;408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414" y="1432528"/>
            <a:ext cx="10026869" cy="2183030"/>
          </a:xfrm>
          <a:prstGeom prst="rect">
            <a:avLst/>
          </a:prstGeom>
          <a:noFill/>
          <a:ln w="31750" cap="flat" cmpd="sng">
            <a:solidFill>
              <a:srgbClr val="600000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409" name="Google Shape;409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2269" y="3872567"/>
            <a:ext cx="10056545" cy="2335602"/>
          </a:xfrm>
          <a:prstGeom prst="rect">
            <a:avLst/>
          </a:prstGeom>
          <a:noFill/>
          <a:ln w="31750" cap="flat" cmpd="sng">
            <a:solidFill>
              <a:srgbClr val="6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3"/>
          <p:cNvSpPr txBox="1"/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Image</a:t>
            </a:r>
            <a:endParaRPr sz="3600" b="1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415" name="Google Shape;415;p33"/>
          <p:cNvSpPr txBox="1"/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Aligning Images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 an image to the </a:t>
            </a:r>
            <a:r>
              <a:rPr lang="en-US" sz="24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with the .float-start</a:t>
            </a:r>
            <a:r>
              <a:rPr lang="en-US" sz="24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class or to the </a:t>
            </a:r>
            <a:r>
              <a:rPr lang="en-US" sz="2400" b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with .float-end</a:t>
            </a:r>
            <a:r>
              <a:rPr lang="en-US" sz="24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228600" marR="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33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7" name="Google Shape;417;p33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772" y="6209730"/>
            <a:ext cx="778199" cy="593679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18" name="Google Shape;418;p33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3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0" name="Google Shape;42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299" y="2374900"/>
            <a:ext cx="10340865" cy="1450866"/>
          </a:xfrm>
          <a:prstGeom prst="rect">
            <a:avLst/>
          </a:prstGeom>
          <a:noFill/>
          <a:ln w="34925">
            <a:solidFill>
              <a:schemeClr val="tx1"/>
            </a:solidFill>
          </a:ln>
        </p:spPr>
      </p:pic>
      <p:pic>
        <p:nvPicPr>
          <p:cNvPr id="421" name="Google Shape;421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5517" y="3987800"/>
            <a:ext cx="10310648" cy="1982529"/>
          </a:xfrm>
          <a:prstGeom prst="rect">
            <a:avLst/>
          </a:prstGeom>
          <a:noFill/>
          <a:ln w="31750" cap="flat" cmpd="sng">
            <a:solidFill>
              <a:srgbClr val="6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4"/>
          <p:cNvSpPr txBox="1"/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Image</a:t>
            </a:r>
            <a:endParaRPr sz="3600" b="1" dirty="0">
              <a:solidFill>
                <a:srgbClr val="86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427" name="Google Shape;427;p34"/>
          <p:cNvSpPr txBox="1"/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1D0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come in all sizes. </a:t>
            </a:r>
            <a:r>
              <a:rPr lang="en-US" sz="2800" b="1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Responsive Images </a:t>
            </a:r>
            <a:r>
              <a:rPr lang="en-US" sz="2800">
                <a:solidFill>
                  <a:srgbClr val="071D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adjust to fit the size of the screen.</a:t>
            </a:r>
            <a:endParaRPr sz="2800" b="0" i="0" u="none" strike="noStrike" cap="none">
              <a:solidFill>
                <a:srgbClr val="071D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8" name="Google Shape;428;p34" descr="C:\Users\GANGA\Desktop\download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5780" y="6242918"/>
            <a:ext cx="622363" cy="615082"/>
          </a:xfrm>
          <a:prstGeom prst="rect">
            <a:avLst/>
          </a:prstGeom>
          <a:noFill/>
          <a:ln w="9525" cap="flat" cmpd="sng">
            <a:solidFill>
              <a:srgbClr val="8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29" name="Google Shape;429;p34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4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 w="12700" cap="flat" cmpd="sng">
            <a:solidFill>
              <a:srgbClr val="86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1" name="Google Shape;431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2187" y="2346271"/>
            <a:ext cx="10385206" cy="2110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7650" y="3455656"/>
            <a:ext cx="4612186" cy="2484816"/>
          </a:xfrm>
          <a:prstGeom prst="rect">
            <a:avLst/>
          </a:prstGeom>
          <a:noFill/>
          <a:ln w="31750" cap="flat" cmpd="sng">
            <a:solidFill>
              <a:srgbClr val="600000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ln w="25400">
            <a:solidFill>
              <a:srgbClr val="860000"/>
            </a:solidFill>
          </a:ln>
        </p:spPr>
        <p:txBody>
          <a:bodyPr>
            <a:normAutofit/>
          </a:bodyPr>
          <a:lstStyle/>
          <a:p>
            <a:pPr lvl="0" algn="ctr"/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Alert</a:t>
            </a:r>
            <a:endParaRPr lang="en-US" sz="3600" b="1" dirty="0">
              <a:solidFill>
                <a:srgbClr val="860000"/>
              </a:solidFill>
              <a:latin typeface="Marcellus"/>
            </a:endParaRPr>
          </a:p>
        </p:txBody>
      </p:sp>
      <p:pic>
        <p:nvPicPr>
          <p:cNvPr id="1027" name="Picture 3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194738"/>
            <a:ext cx="586853" cy="66326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457200" lvl="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 5 provides an easy way to create predefined alert messages.</a:t>
            </a:r>
          </a:p>
          <a:p>
            <a:pPr marL="457200" lvl="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sz="28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800" dirty="0"/>
              <a:t> .</a:t>
            </a: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alert-success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715" y="1528943"/>
            <a:ext cx="4390243" cy="4997426"/>
          </a:xfrm>
          <a:prstGeom prst="rect">
            <a:avLst/>
          </a:prstGeom>
          <a:ln w="60325">
            <a:solidFill>
              <a:srgbClr val="0033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707" y="2377440"/>
            <a:ext cx="4565912" cy="4039793"/>
          </a:xfrm>
          <a:prstGeom prst="rect">
            <a:avLst/>
          </a:prstGeom>
          <a:ln w="66675">
            <a:solidFill>
              <a:srgbClr val="860000"/>
            </a:solidFill>
          </a:ln>
        </p:spPr>
      </p:pic>
    </p:spTree>
    <p:extLst>
      <p:ext uri="{BB962C8B-B14F-4D97-AF65-F5344CB8AC3E}">
        <p14:creationId xmlns:p14="http://schemas.microsoft.com/office/powerpoint/2010/main" val="10449023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Alert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860000"/>
              </a:solidFill>
              <a:effectLst/>
              <a:uLnTx/>
              <a:uFillTx/>
              <a:latin typeface="Marcellus"/>
              <a:ea typeface="+mj-ea"/>
              <a:cs typeface="+mj-c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color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.alert-link utility class to quickly provide matching colored links within any alert.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91166" y="5915467"/>
            <a:ext cx="1000833" cy="915237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98" y="2715064"/>
            <a:ext cx="8515350" cy="3699803"/>
          </a:xfrm>
          <a:prstGeom prst="rect">
            <a:avLst/>
          </a:prstGeom>
          <a:solidFill>
            <a:schemeClr val="lt1"/>
          </a:solidFill>
          <a:ln w="53975">
            <a:solidFill>
              <a:srgbClr val="860000"/>
            </a:solidFill>
          </a:ln>
        </p:spPr>
      </p:pic>
    </p:spTree>
    <p:extLst>
      <p:ext uri="{BB962C8B-B14F-4D97-AF65-F5344CB8AC3E}">
        <p14:creationId xmlns:p14="http://schemas.microsoft.com/office/powerpoint/2010/main" val="21030774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Alert</a:t>
            </a:r>
            <a:endParaRPr lang="en-US" sz="3600" b="1" kern="1200" dirty="0">
              <a:solidFill>
                <a:srgbClr val="860000"/>
              </a:solidFill>
              <a:latin typeface="Marcellu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772" y="6209730"/>
            <a:ext cx="778199" cy="593679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>
            <a:solidFill>
              <a:srgbClr val="8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71" y="1125875"/>
            <a:ext cx="10279252" cy="4606249"/>
          </a:xfrm>
          <a:prstGeom prst="rect">
            <a:avLst/>
          </a:prstGeom>
          <a:ln w="50800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35426370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Alert</a:t>
            </a:r>
            <a:endParaRPr lang="en-US" sz="3600" b="1" kern="1200" dirty="0">
              <a:solidFill>
                <a:srgbClr val="860000"/>
              </a:solidFill>
              <a:latin typeface="Marcellu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Icons</a:t>
            </a:r>
          </a:p>
          <a:p>
            <a:pPr marL="457200" lvl="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Similarly, you can use 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Bootstrap Icons </a:t>
            </a: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to create alerts with icons. Depending on your icons and content, you may want to add more utilities or custom styles.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05780" y="6242918"/>
            <a:ext cx="622363" cy="61508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>
            <a:solidFill>
              <a:srgbClr val="8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933" y="3147133"/>
            <a:ext cx="7624030" cy="2747230"/>
          </a:xfrm>
          <a:prstGeom prst="rect">
            <a:avLst/>
          </a:prstGeom>
          <a:ln w="50800">
            <a:solidFill>
              <a:srgbClr val="860000"/>
            </a:solidFill>
          </a:ln>
        </p:spPr>
      </p:pic>
    </p:spTree>
    <p:extLst>
      <p:ext uri="{BB962C8B-B14F-4D97-AF65-F5344CB8AC3E}">
        <p14:creationId xmlns:p14="http://schemas.microsoft.com/office/powerpoint/2010/main" val="40219397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Alert</a:t>
            </a:r>
            <a:endParaRPr lang="en-US" sz="3600" b="1" kern="1200" dirty="0">
              <a:solidFill>
                <a:srgbClr val="860000"/>
              </a:solidFill>
              <a:latin typeface="Marcellu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33408" y="68781"/>
            <a:ext cx="746975" cy="660699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>
            <a:solidFill>
              <a:srgbClr val="8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03" y="1075684"/>
            <a:ext cx="11156414" cy="4819666"/>
          </a:xfrm>
          <a:prstGeom prst="rect">
            <a:avLst/>
          </a:prstGeom>
          <a:ln w="63500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27313268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ln w="25400">
            <a:solidFill>
              <a:srgbClr val="86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Progress Bar</a:t>
            </a:r>
            <a:endParaRPr lang="en-US" sz="3600" b="1" dirty="0">
              <a:solidFill>
                <a:srgbClr val="860000"/>
              </a:solidFill>
              <a:latin typeface="Marcellus"/>
            </a:endParaRPr>
          </a:p>
        </p:txBody>
      </p:sp>
      <p:pic>
        <p:nvPicPr>
          <p:cNvPr id="1027" name="Picture 3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194738"/>
            <a:ext cx="586853" cy="66326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 bar </a:t>
            </a:r>
            <a:r>
              <a:rPr lang="en-US" sz="28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used to show how far a user is in a process.</a:t>
            </a: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.progress </a:t>
            </a:r>
            <a:r>
              <a:rPr lang="en-US" sz="2800" b="1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class to create a default progress bar.</a:t>
            </a: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.progress-bar </a:t>
            </a:r>
            <a:r>
              <a:rPr lang="en-US" sz="2800" b="1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to indicate the progress so far.</a:t>
            </a: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		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973" y="3521123"/>
            <a:ext cx="9806896" cy="283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5464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Progress Bar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860000"/>
              </a:solidFill>
              <a:effectLst/>
              <a:uLnTx/>
              <a:uFillTx/>
              <a:latin typeface="Marcellus"/>
              <a:ea typeface="+mj-ea"/>
              <a:cs typeface="+mj-c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 Bar Height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91166" y="5915467"/>
            <a:ext cx="1000833" cy="915237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60" y="2043751"/>
            <a:ext cx="9739331" cy="1682088"/>
          </a:xfrm>
          <a:prstGeom prst="rect">
            <a:avLst/>
          </a:prstGeom>
          <a:ln w="63500">
            <a:solidFill>
              <a:srgbClr val="0033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73" y="4361171"/>
            <a:ext cx="9557717" cy="1772343"/>
          </a:xfrm>
          <a:prstGeom prst="rect">
            <a:avLst/>
          </a:prstGeom>
          <a:ln w="66675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41707872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ln w="25400">
            <a:solidFill>
              <a:srgbClr val="86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Progress Bar</a:t>
            </a:r>
            <a:endParaRPr lang="en-US" sz="3600" dirty="0">
              <a:solidFill>
                <a:srgbClr val="860000"/>
              </a:solidFill>
              <a:latin typeface="Marcellus"/>
            </a:endParaRPr>
          </a:p>
        </p:txBody>
      </p:sp>
      <p:pic>
        <p:nvPicPr>
          <p:cNvPr id="1027" name="Picture 3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194738"/>
            <a:ext cx="586853" cy="66326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818866" y="865415"/>
            <a:ext cx="11136573" cy="5795493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 Bar Labels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972" y="1785629"/>
            <a:ext cx="10011174" cy="1849828"/>
          </a:xfrm>
          <a:prstGeom prst="rect">
            <a:avLst/>
          </a:prstGeom>
          <a:ln w="60325">
            <a:solidFill>
              <a:srgbClr val="0033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972" y="4029675"/>
            <a:ext cx="10011174" cy="1878756"/>
          </a:xfrm>
          <a:prstGeom prst="rect">
            <a:avLst/>
          </a:prstGeom>
          <a:ln w="60325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24804537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Progress Bar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860000"/>
              </a:solidFill>
              <a:effectLst/>
              <a:uLnTx/>
              <a:uFillTx/>
              <a:latin typeface="Marcellus"/>
              <a:ea typeface="+mj-ea"/>
              <a:cs typeface="+mj-c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Colored Progress Bars</a:t>
            </a:r>
          </a:p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default, the progress bar is blue (primary).</a:t>
            </a:r>
            <a:r>
              <a:rPr lang="en-US" sz="2800" dirty="0"/>
              <a:t> </a:t>
            </a:r>
            <a:endParaRPr lang="en-US" sz="2800" b="1" dirty="0">
              <a:solidFill>
                <a:srgbClr val="00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772" y="6209730"/>
            <a:ext cx="778199" cy="593679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>
            <a:solidFill>
              <a:srgbClr val="8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70" y="2390848"/>
            <a:ext cx="9299309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4114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Progress Bar</a:t>
            </a:r>
            <a:endParaRPr lang="en-US" sz="3600" b="1" kern="1200" dirty="0">
              <a:solidFill>
                <a:srgbClr val="860000"/>
              </a:solidFill>
              <a:latin typeface="Marcellu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05780" y="6242918"/>
            <a:ext cx="622363" cy="61508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>
            <a:solidFill>
              <a:srgbClr val="8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34" y="1298014"/>
            <a:ext cx="11169748" cy="4512304"/>
          </a:xfrm>
          <a:prstGeom prst="rect">
            <a:avLst/>
          </a:prstGeom>
          <a:ln w="66675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27519351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Progress Bar</a:t>
            </a:r>
            <a:endParaRPr lang="en-US" sz="3600" b="1" kern="1200" dirty="0">
              <a:solidFill>
                <a:srgbClr val="860000"/>
              </a:solidFill>
              <a:latin typeface="Marcellu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Striped Progress Bars</a:t>
            </a: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kern="120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Use the 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.progress-bar-striped </a:t>
            </a:r>
            <a:r>
              <a:rPr lang="en-US" sz="2800" b="1" kern="120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class to add stripes to the progress bars.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33408" y="68781"/>
            <a:ext cx="746975" cy="660699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>
            <a:solidFill>
              <a:srgbClr val="8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50" y="2467517"/>
            <a:ext cx="10682991" cy="1179510"/>
          </a:xfrm>
          <a:prstGeom prst="rect">
            <a:avLst/>
          </a:prstGeom>
          <a:ln w="44450">
            <a:solidFill>
              <a:srgbClr val="003300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749" y="3933630"/>
            <a:ext cx="10682991" cy="1800225"/>
          </a:xfrm>
          <a:prstGeom prst="rect">
            <a:avLst/>
          </a:prstGeom>
          <a:ln w="44450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20822492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ln w="25400">
            <a:solidFill>
              <a:srgbClr val="86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Progress Bar</a:t>
            </a:r>
            <a:endParaRPr lang="en-US" sz="3600" b="1" dirty="0">
              <a:solidFill>
                <a:srgbClr val="860000"/>
              </a:solidFill>
              <a:latin typeface="Marcellus"/>
            </a:endParaRPr>
          </a:p>
        </p:txBody>
      </p:sp>
      <p:pic>
        <p:nvPicPr>
          <p:cNvPr id="1027" name="Picture 3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194738"/>
            <a:ext cx="586853" cy="66326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818866" y="900332"/>
            <a:ext cx="11136573" cy="5795493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Animated Progress Bar</a:t>
            </a:r>
          </a:p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endParaRPr lang="en-US" sz="28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Progress Bars</a:t>
            </a:r>
          </a:p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endParaRPr lang="en-US" sz="28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612" y="1525503"/>
            <a:ext cx="10167030" cy="1057133"/>
          </a:xfrm>
          <a:prstGeom prst="rect">
            <a:avLst/>
          </a:prstGeom>
          <a:ln w="53975">
            <a:solidFill>
              <a:srgbClr val="0033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348" y="3119874"/>
            <a:ext cx="10202225" cy="1883391"/>
          </a:xfrm>
          <a:prstGeom prst="rect">
            <a:avLst/>
          </a:prstGeom>
          <a:ln w="53975">
            <a:solidFill>
              <a:srgbClr val="003300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203" y="5129877"/>
            <a:ext cx="10214574" cy="1473187"/>
          </a:xfrm>
          <a:prstGeom prst="rect">
            <a:avLst/>
          </a:prstGeom>
          <a:ln w="53975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27562270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ln w="25400">
            <a:solidFill>
              <a:srgbClr val="86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Spacing</a:t>
            </a:r>
            <a:endParaRPr lang="en-US" sz="3600" b="1" dirty="0">
              <a:solidFill>
                <a:srgbClr val="860000"/>
              </a:solidFill>
              <a:latin typeface="Marcellus"/>
            </a:endParaRPr>
          </a:p>
        </p:txBody>
      </p:sp>
      <p:pic>
        <p:nvPicPr>
          <p:cNvPr id="1027" name="Picture 3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194738"/>
            <a:ext cx="586853" cy="66326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just">
              <a:lnSpc>
                <a:spcPct val="200000"/>
              </a:lnSpc>
              <a:spcBef>
                <a:spcPts val="1000"/>
              </a:spcBef>
              <a:buClrTx/>
              <a:defRPr/>
            </a:pPr>
            <a:r>
              <a:rPr lang="en-IN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Spacing</a:t>
            </a:r>
          </a:p>
          <a:p>
            <a:pPr marL="457200" lvl="0" indent="-457200" algn="just">
              <a:lnSpc>
                <a:spcPct val="200000"/>
              </a:lnSpc>
              <a:spcBef>
                <a:spcPts val="1000"/>
              </a:spcBef>
              <a:buClrTx/>
              <a:buFont typeface="Wingdings" pitchFamily="2" charset="2"/>
              <a:buChar char="Ø"/>
              <a:defRPr/>
            </a:pP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Bootstrap includes a wide range of shorthand responsive margin and padding utility classes to modify an element’s appearance.</a:t>
            </a:r>
          </a:p>
          <a:p>
            <a:pPr lvl="0" algn="just">
              <a:lnSpc>
                <a:spcPct val="200000"/>
              </a:lnSpc>
              <a:spcBef>
                <a:spcPts val="1000"/>
              </a:spcBef>
              <a:buClrTx/>
              <a:defRPr/>
            </a:pPr>
            <a:r>
              <a:rPr lang="en-IN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The classes are named using the format :</a:t>
            </a:r>
          </a:p>
          <a:p>
            <a:pPr marL="457200" lvl="0" indent="-457200" algn="just">
              <a:lnSpc>
                <a:spcPct val="200000"/>
              </a:lnSpc>
              <a:spcBef>
                <a:spcPts val="1000"/>
              </a:spcBef>
              <a:buClrTx/>
              <a:buFont typeface="Wingdings" pitchFamily="2" charset="2"/>
              <a:buChar char="Ø"/>
              <a:defRPr/>
            </a:pPr>
            <a:r>
              <a:rPr lang="en-IN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{property}{sides}-{size}</a:t>
            </a:r>
            <a:r>
              <a:rPr lang="en-IN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 for </a:t>
            </a:r>
            <a:r>
              <a:rPr lang="en-IN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xs</a:t>
            </a:r>
            <a:r>
              <a:rPr lang="en-IN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457200" lvl="0" indent="-457200" algn="just">
              <a:lnSpc>
                <a:spcPct val="200000"/>
              </a:lnSpc>
              <a:spcBef>
                <a:spcPts val="1000"/>
              </a:spcBef>
              <a:buClrTx/>
              <a:buFont typeface="Wingdings" pitchFamily="2" charset="2"/>
              <a:buChar char="Ø"/>
              <a:defRPr/>
            </a:pPr>
            <a:r>
              <a:rPr lang="en-IN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{property}{sides}-{breakpoint}-{size}</a:t>
            </a:r>
            <a:r>
              <a:rPr lang="en-IN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 for </a:t>
            </a:r>
            <a:r>
              <a:rPr lang="en-IN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sm</a:t>
            </a:r>
            <a:r>
              <a:rPr lang="en-IN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, md, </a:t>
            </a:r>
            <a:r>
              <a:rPr lang="en-IN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lg</a:t>
            </a:r>
            <a:r>
              <a:rPr lang="en-IN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, xl, and </a:t>
            </a:r>
            <a:r>
              <a:rPr lang="en-IN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xxl</a:t>
            </a:r>
            <a:r>
              <a:rPr lang="en-IN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6732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Spacing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860000"/>
              </a:solidFill>
              <a:effectLst/>
              <a:uLnTx/>
              <a:uFillTx/>
              <a:latin typeface="Marcellus"/>
              <a:ea typeface="+mj-ea"/>
              <a:cs typeface="+mj-c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Where </a:t>
            </a:r>
            <a:r>
              <a:rPr lang="en-US" sz="2800" b="1" i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property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 is one of: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m - for classes that set margin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p - for classes that set padding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Where </a:t>
            </a:r>
            <a:r>
              <a:rPr lang="en-US" sz="2800" b="1" i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sides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 is one of: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t - for classes that set margin-top or padding-top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b - for classes that set margin-bottom or padding-bottom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x - for classes that set both *-left and *-right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y - for classes that set both *-top and *-bottom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91166" y="5915467"/>
            <a:ext cx="1000833" cy="915237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</p:spTree>
    <p:extLst>
      <p:ext uri="{BB962C8B-B14F-4D97-AF65-F5344CB8AC3E}">
        <p14:creationId xmlns:p14="http://schemas.microsoft.com/office/powerpoint/2010/main" val="9105685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</a:t>
            </a:r>
            <a:r>
              <a:rPr lang="en-US" sz="3600" b="1" dirty="0" err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</a:t>
            </a:r>
            <a:endParaRPr lang="en-US" sz="3600" b="1" kern="1200" dirty="0">
              <a:solidFill>
                <a:srgbClr val="860000"/>
              </a:solidFill>
              <a:latin typeface="Marcellu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457200" lvl="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itchFamily="2" charset="2"/>
              <a:buChar char="Ø"/>
              <a:defRPr/>
            </a:pP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A navigation bar is a 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navigation header</a:t>
            </a: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that is placed at the top of the page.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Navbars</a:t>
            </a: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require a wrapping 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navbar</a:t>
            </a: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 with .</a:t>
            </a:r>
            <a:r>
              <a:rPr lang="en-US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navbar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-expand{-</a:t>
            </a:r>
            <a:r>
              <a:rPr lang="en-US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sm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|-md|-</a:t>
            </a:r>
            <a:r>
              <a:rPr lang="en-US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lg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|-xl|-</a:t>
            </a:r>
            <a:r>
              <a:rPr lang="en-US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xxl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 for responsive collapsing and color scheme classes.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Navbars</a:t>
            </a: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 and their contents are fluid by default. Change the container to limit their horizontal width in different ways.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Navbars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are responsive by default</a:t>
            </a: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, but you can easily modify them to change that.</a:t>
            </a: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772" y="6209730"/>
            <a:ext cx="778199" cy="593679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>
            <a:solidFill>
              <a:srgbClr val="8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681" y="5248275"/>
            <a:ext cx="8012112" cy="704850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76634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</a:t>
            </a:r>
            <a:r>
              <a:rPr lang="en-US" sz="3600" b="1" dirty="0" err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</a:t>
            </a:r>
            <a:endParaRPr lang="en-US" sz="3600" b="1" kern="1200" dirty="0">
              <a:solidFill>
                <a:srgbClr val="860000"/>
              </a:solidFill>
              <a:latin typeface="Marcellu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457200" lvl="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itchFamily="2" charset="2"/>
              <a:buChar char="Ø"/>
              <a:defRPr/>
            </a:pP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To add links inside the </a:t>
            </a:r>
            <a:r>
              <a:rPr lang="en-US" sz="2800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navbar</a:t>
            </a: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, use either an 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ul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 element (or a &lt;div&gt;) 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with class="</a:t>
            </a:r>
            <a:r>
              <a:rPr lang="en-US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navbar-nav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". </a:t>
            </a: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Then add 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&lt;li&gt;</a:t>
            </a: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 elements 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with a .</a:t>
            </a:r>
            <a:r>
              <a:rPr lang="en-US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nav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-item class followed by an &lt;a&gt; element with a .</a:t>
            </a:r>
            <a:r>
              <a:rPr lang="en-US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nav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-link class</a:t>
            </a: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05780" y="6242918"/>
            <a:ext cx="622363" cy="61508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>
            <a:solidFill>
              <a:srgbClr val="8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3591687"/>
            <a:ext cx="10708880" cy="1962951"/>
          </a:xfrm>
          <a:prstGeom prst="rect">
            <a:avLst/>
          </a:prstGeom>
          <a:noFill/>
          <a:ln w="44450">
            <a:solidFill>
              <a:srgbClr val="00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36025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</a:t>
            </a:r>
            <a:r>
              <a:rPr lang="en-US" sz="3600" b="1" dirty="0" err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</a:t>
            </a:r>
            <a:endParaRPr lang="en-US" sz="3600" b="1" kern="1200" dirty="0">
              <a:solidFill>
                <a:srgbClr val="860000"/>
              </a:solidFill>
              <a:latin typeface="Marcellu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457200" lvl="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itchFamily="2" charset="2"/>
              <a:buChar char="Ø"/>
              <a:defRPr/>
            </a:pP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Remove the 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navbar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-expand-* class </a:t>
            </a: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to create a navigation bar that will always be 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vertical</a:t>
            </a: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33408" y="68781"/>
            <a:ext cx="746975" cy="660699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>
            <a:solidFill>
              <a:srgbClr val="8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19" y="2070100"/>
            <a:ext cx="5490369" cy="4051300"/>
          </a:xfrm>
          <a:prstGeom prst="rect">
            <a:avLst/>
          </a:prstGeom>
          <a:noFill/>
          <a:ln w="349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588" y="2463800"/>
            <a:ext cx="5775325" cy="2692400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16609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ln w="25400">
            <a:solidFill>
              <a:srgbClr val="86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</a:t>
            </a:r>
            <a:r>
              <a:rPr lang="en-US" sz="3600" b="1" dirty="0" err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</a:t>
            </a:r>
            <a:endParaRPr lang="en-US" sz="3600" b="1" dirty="0">
              <a:solidFill>
                <a:srgbClr val="860000"/>
              </a:solidFill>
              <a:latin typeface="Marcellus"/>
            </a:endParaRPr>
          </a:p>
        </p:txBody>
      </p:sp>
      <p:pic>
        <p:nvPicPr>
          <p:cNvPr id="1027" name="Picture 3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194738"/>
            <a:ext cx="586853" cy="66326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IN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Centered</a:t>
            </a:r>
            <a:r>
              <a:rPr lang="en-IN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Navbar</a:t>
            </a:r>
            <a:endParaRPr lang="en-IN" sz="2800" b="1" dirty="0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itchFamily="2" charset="2"/>
              <a:buChar char="Ø"/>
              <a:defRPr/>
            </a:pP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Add the .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justify-content-center</a:t>
            </a: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 class to center the navigation bar.</a:t>
            </a:r>
          </a:p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endParaRPr lang="en-US" sz="2800" dirty="0">
              <a:solidFill>
                <a:srgbClr val="0033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IN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Colored</a:t>
            </a:r>
            <a:r>
              <a:rPr lang="en-IN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Navbar</a:t>
            </a:r>
            <a:endParaRPr lang="en-IN" sz="2800" b="1" dirty="0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itchFamily="2" charset="2"/>
              <a:buChar char="Ø"/>
              <a:defRPr/>
            </a:pP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Use any of the .</a:t>
            </a:r>
            <a:r>
              <a:rPr lang="en-US" sz="2800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bg</a:t>
            </a: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-color classes to change the background color of the </a:t>
            </a:r>
            <a:r>
              <a:rPr lang="en-US" sz="2800" dirty="0" err="1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navbar</a:t>
            </a: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(.</a:t>
            </a:r>
            <a:r>
              <a:rPr lang="en-US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bg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-primary, .</a:t>
            </a:r>
            <a:r>
              <a:rPr lang="en-US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bg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-success, .</a:t>
            </a:r>
            <a:r>
              <a:rPr lang="en-US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bg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-info, .</a:t>
            </a:r>
            <a:r>
              <a:rPr lang="en-US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bg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-warning </a:t>
            </a:r>
            <a:r>
              <a:rPr lang="en-US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dirty="0">
                <a:solidFill>
                  <a:srgbClr val="0033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en-IN" sz="2800" dirty="0">
              <a:solidFill>
                <a:srgbClr val="0033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2344894"/>
            <a:ext cx="10402887" cy="752475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5442263"/>
            <a:ext cx="10345737" cy="958537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3188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ln w="25400">
            <a:solidFill>
              <a:srgbClr val="86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</a:t>
            </a:r>
            <a:r>
              <a:rPr lang="en-US" sz="3600" b="1" dirty="0" err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</a:t>
            </a:r>
            <a:endParaRPr lang="en-US" sz="3600" b="1" dirty="0">
              <a:solidFill>
                <a:srgbClr val="860000"/>
              </a:solidFill>
              <a:latin typeface="Marcellus"/>
            </a:endParaRPr>
          </a:p>
        </p:txBody>
      </p:sp>
      <p:pic>
        <p:nvPicPr>
          <p:cNvPr id="1027" name="Picture 3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194738"/>
            <a:ext cx="586853" cy="66326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IN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Brand / Logo</a:t>
            </a:r>
          </a:p>
          <a:p>
            <a:pPr marL="457200" lvl="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itchFamily="2" charset="2"/>
              <a:buChar char="Ø"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 .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navbar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-brand class is used to highlight the 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brand/logo/project name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your page.</a:t>
            </a:r>
          </a:p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itchFamily="2" charset="2"/>
              <a:buChar char="Ø"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When using the 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navbar</a:t>
            </a:r>
            <a:r>
              <a:rPr lang="en-US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-brand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class with images, Bootstrap 5 will automatically style the image to fit the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navbar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vertically.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00" y="4589463"/>
            <a:ext cx="9436100" cy="16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30844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</a:t>
            </a:r>
            <a:r>
              <a:rPr lang="en-US" sz="3600" b="1" dirty="0" err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860000"/>
              </a:solidFill>
              <a:effectLst/>
              <a:uLnTx/>
              <a:uFillTx/>
              <a:latin typeface="Marcellus"/>
              <a:ea typeface="+mj-ea"/>
              <a:cs typeface="+mj-c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IN" sz="2800" b="1" dirty="0" err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Navbar</a:t>
            </a:r>
            <a:r>
              <a:rPr lang="en-IN" sz="2800" b="1" dirty="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With Dropdown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91166" y="5915467"/>
            <a:ext cx="1000833" cy="915237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2060028"/>
            <a:ext cx="9867900" cy="2257972"/>
          </a:xfrm>
          <a:prstGeom prst="rect">
            <a:avLst/>
          </a:prstGeom>
          <a:noFill/>
          <a:ln w="349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93" y="4686300"/>
            <a:ext cx="9892507" cy="1509784"/>
          </a:xfrm>
          <a:prstGeom prst="rect">
            <a:avLst/>
          </a:prstGeom>
          <a:noFill/>
          <a:ln w="349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65514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</a:t>
            </a:r>
            <a:r>
              <a:rPr lang="en-US" sz="3600" b="1" dirty="0" err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</a:t>
            </a:r>
            <a:endParaRPr lang="en-US" sz="3600" b="1" kern="1200" dirty="0">
              <a:solidFill>
                <a:srgbClr val="860000"/>
              </a:solidFill>
              <a:latin typeface="Marcellu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Navigation Bar</a:t>
            </a:r>
          </a:p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navigation bar can also be fixed at the top or at the bottom of the page.</a:t>
            </a:r>
          </a:p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.fixed-top </a:t>
            </a: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makes the navigation bar fixed at the top.</a:t>
            </a:r>
          </a:p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US" sz="2800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.fixed-bottom </a:t>
            </a: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to make the </a:t>
            </a:r>
            <a:r>
              <a:rPr lang="en-US" sz="2800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stay at the bottom of the page.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05780" y="6242918"/>
            <a:ext cx="622363" cy="61508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>
            <a:solidFill>
              <a:srgbClr val="8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193" y="1082218"/>
            <a:ext cx="7455587" cy="880636"/>
          </a:xfrm>
          <a:prstGeom prst="rect">
            <a:avLst/>
          </a:prstGeom>
          <a:ln w="44450">
            <a:solidFill>
              <a:srgbClr val="800000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558" y="4127222"/>
            <a:ext cx="9974775" cy="1718922"/>
          </a:xfrm>
          <a:prstGeom prst="rect">
            <a:avLst/>
          </a:prstGeom>
          <a:ln w="47625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22224008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</a:t>
            </a:r>
            <a:r>
              <a:rPr lang="en-US" sz="3600" b="1" dirty="0" err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</a:t>
            </a: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</a:rPr>
              <a:t>/Tabs/Pills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0" y="865320"/>
            <a:ext cx="12012147" cy="5466601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Nav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sz="2800" b="1" kern="1200" dirty="0">
              <a:solidFill>
                <a:srgbClr val="0033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Tab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sz="2800" b="1" kern="1200" dirty="0">
              <a:solidFill>
                <a:srgbClr val="0033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Pill</a:t>
            </a:r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33408" y="68781"/>
            <a:ext cx="746975" cy="660699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>
            <a:solidFill>
              <a:srgbClr val="8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423" y="1177830"/>
            <a:ext cx="10208525" cy="1390650"/>
          </a:xfrm>
          <a:prstGeom prst="rect">
            <a:avLst/>
          </a:prstGeom>
          <a:ln w="73025">
            <a:solidFill>
              <a:srgbClr val="0033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424" y="2862531"/>
            <a:ext cx="10208524" cy="1400175"/>
          </a:xfrm>
          <a:prstGeom prst="rect">
            <a:avLst/>
          </a:prstGeom>
          <a:ln w="73025">
            <a:solidFill>
              <a:srgbClr val="800000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8424" y="4545779"/>
            <a:ext cx="10208524" cy="1533525"/>
          </a:xfrm>
          <a:prstGeom prst="rect">
            <a:avLst/>
          </a:prstGeom>
          <a:ln w="73025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13289820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ln w="25400">
            <a:solidFill>
              <a:srgbClr val="86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</a:t>
            </a:r>
            <a:r>
              <a:rPr lang="en-US" sz="3600" b="1" dirty="0" err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</a:t>
            </a: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</a:rPr>
              <a:t>/Tabs/Pills</a:t>
            </a:r>
            <a:endParaRPr lang="en-US" sz="3600" b="1" dirty="0">
              <a:solidFill>
                <a:srgbClr val="860000"/>
              </a:solidFill>
              <a:latin typeface="Marcellus"/>
            </a:endParaRPr>
          </a:p>
        </p:txBody>
      </p:sp>
      <p:pic>
        <p:nvPicPr>
          <p:cNvPr id="1027" name="Picture 3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194738"/>
            <a:ext cx="586853" cy="66326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457200" lvl="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If you want to create a horizontal menu of the list , add the 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.list-inline class</a:t>
            </a: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to 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&lt;</a:t>
            </a:r>
            <a:r>
              <a:rPr lang="en-US" sz="2800" b="1" kern="1200" dirty="0" err="1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ul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&gt;</a:t>
            </a:r>
            <a:r>
              <a:rPr lang="en-US" sz="2800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026" y="2422904"/>
            <a:ext cx="4728239" cy="3771834"/>
          </a:xfrm>
          <a:prstGeom prst="rect">
            <a:avLst/>
          </a:prstGeom>
          <a:ln w="44450">
            <a:solidFill>
              <a:srgbClr val="800000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302" y="3487946"/>
            <a:ext cx="4996056" cy="1637730"/>
          </a:xfrm>
          <a:prstGeom prst="rect">
            <a:avLst/>
          </a:prstGeom>
          <a:ln w="53975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37496695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ln w="25400">
            <a:solidFill>
              <a:srgbClr val="86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</a:t>
            </a:r>
            <a:r>
              <a:rPr lang="en-US" sz="3600" b="1" dirty="0" err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</a:t>
            </a: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</a:rPr>
              <a:t>/Tabs/Pills</a:t>
            </a:r>
            <a:endParaRPr lang="en-US" sz="3600" b="1" dirty="0">
              <a:solidFill>
                <a:srgbClr val="860000"/>
              </a:solidFill>
              <a:latin typeface="Marcellus"/>
            </a:endParaRPr>
          </a:p>
        </p:txBody>
      </p:sp>
      <p:pic>
        <p:nvPicPr>
          <p:cNvPr id="1027" name="Picture 3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194738"/>
            <a:ext cx="586853" cy="66326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Tabs</a:t>
            </a: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Tabs are created with 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&lt;</a:t>
            </a:r>
            <a:r>
              <a:rPr lang="en-US" sz="2800" b="1" kern="1200" dirty="0" err="1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ul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class="</a:t>
            </a:r>
            <a:r>
              <a:rPr lang="en-US" sz="2800" b="1" kern="1200" dirty="0" err="1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nav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800" b="1" kern="1200" dirty="0" err="1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nav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-tabs"&gt;.</a:t>
            </a: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Note: Also mark the </a:t>
            </a:r>
            <a:r>
              <a:rPr lang="en-US" sz="2800" b="1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current page </a:t>
            </a: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with 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&lt;li class="active"&gt;.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482" y="3302759"/>
            <a:ext cx="5226118" cy="2429514"/>
          </a:xfrm>
          <a:prstGeom prst="rect">
            <a:avLst/>
          </a:prstGeom>
          <a:ln w="66675">
            <a:solidFill>
              <a:srgbClr val="0033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235" y="1020850"/>
            <a:ext cx="9752306" cy="874168"/>
          </a:xfrm>
          <a:prstGeom prst="rect">
            <a:avLst/>
          </a:prstGeom>
          <a:ln w="38100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28839254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</a:t>
            </a:r>
            <a:r>
              <a:rPr lang="en-US" sz="3600" b="1" dirty="0" err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</a:t>
            </a: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</a:rPr>
              <a:t>/Tabs/Pills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860000"/>
              </a:solidFill>
              <a:effectLst/>
              <a:uLnTx/>
              <a:uFillTx/>
              <a:latin typeface="Marcellus"/>
              <a:ea typeface="+mj-ea"/>
              <a:cs typeface="+mj-c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Tabs With Dropdown Menu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91166" y="5915467"/>
            <a:ext cx="1000833" cy="915237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98" y="4633314"/>
            <a:ext cx="3933825" cy="1914525"/>
          </a:xfrm>
          <a:prstGeom prst="rect">
            <a:avLst/>
          </a:prstGeom>
          <a:ln w="53975">
            <a:solidFill>
              <a:srgbClr val="0033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09" y="1655215"/>
            <a:ext cx="8315325" cy="2828925"/>
          </a:xfrm>
          <a:prstGeom prst="rect">
            <a:avLst/>
          </a:prstGeom>
          <a:ln w="47625">
            <a:solidFill>
              <a:srgbClr val="860000"/>
            </a:solidFill>
          </a:ln>
        </p:spPr>
      </p:pic>
    </p:spTree>
    <p:extLst>
      <p:ext uri="{BB962C8B-B14F-4D97-AF65-F5344CB8AC3E}">
        <p14:creationId xmlns:p14="http://schemas.microsoft.com/office/powerpoint/2010/main" val="24443894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</a:t>
            </a:r>
            <a:r>
              <a:rPr lang="en-US" sz="3600" b="1" dirty="0" err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</a:t>
            </a: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</a:rPr>
              <a:t>/Tabs/Pills</a:t>
            </a:r>
            <a:endParaRPr lang="en-US" sz="3600" b="1" kern="1200" dirty="0">
              <a:solidFill>
                <a:srgbClr val="860000"/>
              </a:solidFill>
              <a:latin typeface="Marcellu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Pills</a:t>
            </a:r>
          </a:p>
          <a:p>
            <a:pPr marL="457200" lvl="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Pills are created with 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&lt;</a:t>
            </a:r>
            <a:r>
              <a:rPr lang="en-US" sz="2800" b="1" kern="1200" dirty="0" err="1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ul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class="</a:t>
            </a:r>
            <a:r>
              <a:rPr lang="en-US" sz="2800" b="1" kern="1200" dirty="0" err="1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nav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800" b="1" kern="1200" dirty="0" err="1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nav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-pills"&gt;. </a:t>
            </a: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Also mark the </a:t>
            </a:r>
            <a:r>
              <a:rPr lang="en-US" sz="2800" b="1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current page</a:t>
            </a: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with </a:t>
            </a:r>
            <a:r>
              <a:rPr lang="en-US" sz="2800" b="1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&lt;li class="active"&gt;.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772" y="6209730"/>
            <a:ext cx="778199" cy="593679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>
            <a:solidFill>
              <a:srgbClr val="8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70" y="3249919"/>
            <a:ext cx="4734293" cy="2630375"/>
          </a:xfrm>
          <a:prstGeom prst="rect">
            <a:avLst/>
          </a:prstGeom>
          <a:ln w="60325">
            <a:solidFill>
              <a:srgbClr val="860000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9097" y="3709322"/>
            <a:ext cx="4723506" cy="1115896"/>
          </a:xfrm>
          <a:prstGeom prst="rect">
            <a:avLst/>
          </a:prstGeom>
          <a:ln w="57150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35129777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</a:t>
            </a:r>
            <a:r>
              <a:rPr lang="en-US" sz="3600" b="1" dirty="0" err="1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Navbar</a:t>
            </a: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</a:rPr>
              <a:t>/Tabs/Pills</a:t>
            </a:r>
            <a:endParaRPr lang="en-US" sz="3600" b="1" kern="1200" dirty="0">
              <a:solidFill>
                <a:srgbClr val="860000"/>
              </a:solidFill>
              <a:latin typeface="Marcellu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 Pills</a:t>
            </a:r>
          </a:p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Pills can also be displayed vertically. Just add the </a:t>
            </a: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b="1" dirty="0" err="1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</a:t>
            </a: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-stacked </a:t>
            </a: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05780" y="6242918"/>
            <a:ext cx="622363" cy="61508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>
            <a:solidFill>
              <a:srgbClr val="8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491" y="4096570"/>
            <a:ext cx="6101348" cy="1895475"/>
          </a:xfrm>
          <a:prstGeom prst="rect">
            <a:avLst/>
          </a:prstGeom>
          <a:ln w="63500">
            <a:solidFill>
              <a:srgbClr val="003300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10" y="2494408"/>
            <a:ext cx="4105275" cy="1304925"/>
          </a:xfrm>
          <a:prstGeom prst="rect">
            <a:avLst/>
          </a:prstGeom>
          <a:ln w="63500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1943611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Modal</a:t>
            </a:r>
            <a:endParaRPr lang="en-US" sz="3600" b="1" kern="1200" dirty="0">
              <a:solidFill>
                <a:srgbClr val="860000"/>
              </a:solidFill>
              <a:latin typeface="Marcellu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457200" lvl="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Bootstrap’s JavaScript modal plugin to add dialogs to your site for </a:t>
            </a:r>
            <a:r>
              <a:rPr lang="en-US" sz="2800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lightboxes</a:t>
            </a: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user notifications, or completely custom content.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33408" y="68781"/>
            <a:ext cx="746975" cy="660699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>
            <a:solidFill>
              <a:srgbClr val="8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74" y="2210937"/>
            <a:ext cx="10047383" cy="3821373"/>
          </a:xfrm>
          <a:prstGeom prst="rect">
            <a:avLst/>
          </a:prstGeom>
          <a:solidFill>
            <a:schemeClr val="lt1"/>
          </a:solidFill>
          <a:ln w="57150">
            <a:solidFill>
              <a:srgbClr val="860000"/>
            </a:solidFill>
          </a:ln>
        </p:spPr>
      </p:pic>
    </p:spTree>
    <p:extLst>
      <p:ext uri="{BB962C8B-B14F-4D97-AF65-F5344CB8AC3E}">
        <p14:creationId xmlns:p14="http://schemas.microsoft.com/office/powerpoint/2010/main" val="3314000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ln w="25400">
            <a:solidFill>
              <a:srgbClr val="86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Modal</a:t>
            </a:r>
            <a:endParaRPr lang="en-US" sz="3600" b="1" dirty="0">
              <a:solidFill>
                <a:srgbClr val="860000"/>
              </a:solidFill>
              <a:latin typeface="Marcellus"/>
            </a:endParaRPr>
          </a:p>
        </p:txBody>
      </p:sp>
      <p:pic>
        <p:nvPicPr>
          <p:cNvPr id="1027" name="Picture 3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194738"/>
            <a:ext cx="586853" cy="66326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706" y="3765863"/>
            <a:ext cx="10164854" cy="2428875"/>
          </a:xfrm>
          <a:prstGeom prst="rect">
            <a:avLst/>
          </a:prstGeom>
          <a:ln w="63500">
            <a:solidFill>
              <a:srgbClr val="86000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706" y="1373344"/>
            <a:ext cx="10164854" cy="2101376"/>
          </a:xfrm>
          <a:prstGeom prst="rect">
            <a:avLst/>
          </a:prstGeom>
          <a:ln w="63500">
            <a:solidFill>
              <a:srgbClr val="860000"/>
            </a:solidFill>
          </a:ln>
        </p:spPr>
      </p:pic>
    </p:spTree>
    <p:extLst>
      <p:ext uri="{BB962C8B-B14F-4D97-AF65-F5344CB8AC3E}">
        <p14:creationId xmlns:p14="http://schemas.microsoft.com/office/powerpoint/2010/main" val="16646194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ln w="25400">
            <a:solidFill>
              <a:srgbClr val="86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Modal</a:t>
            </a:r>
            <a:endParaRPr lang="en-US" sz="3600" b="1" dirty="0">
              <a:solidFill>
                <a:srgbClr val="860000"/>
              </a:solidFill>
              <a:latin typeface="Marcellus"/>
            </a:endParaRPr>
          </a:p>
        </p:txBody>
      </p:sp>
      <p:pic>
        <p:nvPicPr>
          <p:cNvPr id="1027" name="Picture 3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194738"/>
            <a:ext cx="586853" cy="66326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 lnSpcReduction="10000"/>
          </a:bodyPr>
          <a:lstStyle/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Add animation</a:t>
            </a:r>
          </a:p>
          <a:p>
            <a:pPr marL="457200" lvl="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Use the .fade class to add a fading effect when opening and closing the modal.</a:t>
            </a:r>
          </a:p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Modal Size</a:t>
            </a:r>
          </a:p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the size class to the &lt;div&gt; element with class </a:t>
            </a:r>
            <a:r>
              <a:rPr lang="en-US" sz="28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.modal-dialog</a:t>
            </a: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.modal-</a:t>
            </a:r>
            <a:r>
              <a:rPr lang="en-US" sz="2800" b="1" kern="1200" dirty="0" err="1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sm</a:t>
            </a:r>
            <a:r>
              <a:rPr lang="en-US" sz="2800" b="1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class for small modals.</a:t>
            </a: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.modal-</a:t>
            </a:r>
            <a:r>
              <a:rPr lang="en-US" sz="2800" b="1" kern="1200" dirty="0" err="1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lg</a:t>
            </a:r>
            <a:r>
              <a:rPr lang="en-US" sz="2800" b="1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class for large modals  </a:t>
            </a: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.modal-xl </a:t>
            </a: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for extra large modals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988" y="2402516"/>
            <a:ext cx="5449452" cy="1482125"/>
          </a:xfrm>
          <a:prstGeom prst="rect">
            <a:avLst/>
          </a:prstGeom>
          <a:ln w="44450">
            <a:solidFill>
              <a:srgbClr val="86000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988" y="4650196"/>
            <a:ext cx="5449452" cy="617956"/>
          </a:xfrm>
          <a:prstGeom prst="rect">
            <a:avLst/>
          </a:prstGeom>
          <a:ln w="57150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35605772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163772" y="204716"/>
            <a:ext cx="10781732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Modal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860000"/>
              </a:solidFill>
              <a:effectLst/>
              <a:uLnTx/>
              <a:uFillTx/>
              <a:latin typeface="Marcellus"/>
              <a:ea typeface="+mj-ea"/>
              <a:cs typeface="+mj-c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163772" y="1017732"/>
            <a:ext cx="10781731" cy="5679281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Screen Modals</a:t>
            </a:r>
          </a:p>
          <a:p>
            <a:pPr marL="457200" lvl="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If you want the modal to span the whole width and height of the page, use the 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.modal-</a:t>
            </a:r>
            <a:r>
              <a:rPr lang="en-US" sz="2800" b="1" kern="1200" dirty="0" err="1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fullscreen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class</a:t>
            </a:r>
          </a:p>
          <a:p>
            <a:pPr marL="22860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 Full Screen Modals- </a:t>
            </a: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modal-</a:t>
            </a:r>
            <a:r>
              <a:rPr lang="en-US" sz="2800" b="1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fullscreen</a:t>
            </a:r>
            <a:r>
              <a:rPr lang="en-US" sz="28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-*-*</a:t>
            </a:r>
          </a:p>
          <a:p>
            <a:pPr marL="228600" lvl="0" indent="-228600" algn="just">
              <a:lnSpc>
                <a:spcPct val="150000"/>
              </a:lnSpc>
              <a:spcBef>
                <a:spcPts val="1000"/>
              </a:spcBef>
              <a:buClrTx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191167" y="0"/>
            <a:ext cx="259311" cy="551369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1450472" y="0"/>
            <a:ext cx="741528" cy="5882183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91166" y="5915467"/>
            <a:ext cx="1000833" cy="915237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941745"/>
              </p:ext>
            </p:extLst>
          </p:nvPr>
        </p:nvGraphicFramePr>
        <p:xfrm>
          <a:off x="1305890" y="3874684"/>
          <a:ext cx="7660689" cy="2560320"/>
        </p:xfrm>
        <a:graphic>
          <a:graphicData uri="http://schemas.openxmlformats.org/drawingml/2006/table">
            <a:tbl>
              <a:tblPr/>
              <a:tblGrid>
                <a:gridCol w="304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38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.modal-</a:t>
                      </a:r>
                      <a:r>
                        <a:rPr lang="en-US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fullscreen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-down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Fullscreen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below 576px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.modal-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fullscreen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-md-down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Fullscreen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below 768px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.modal-fullscreen-lg-down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Fullscreen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below 992px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.modal-fullscreen-xl-down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Fullscreen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below 1200px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.modal-fullscreen-xxl-down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Fullscreen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below 1400px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87585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163772" y="204716"/>
            <a:ext cx="11136574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Form</a:t>
            </a:r>
            <a:endParaRPr lang="en-US" sz="3600" b="1" kern="1200" dirty="0">
              <a:solidFill>
                <a:srgbClr val="860000"/>
              </a:solidFill>
              <a:latin typeface="Marcellu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163772" y="1017733"/>
            <a:ext cx="11122927" cy="5073974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457200" lvl="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 provides several classes for forms.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form-group: </a:t>
            </a:r>
            <a:r>
              <a:rPr lang="en-US" sz="28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and Replaced by the Grid System in BS5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responsible to maintain proper space between elements so that elements will be arranged properly.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form-control: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class is responsible to make width as 100% for elements &lt;input&gt;, &lt;</a:t>
            </a:r>
            <a:r>
              <a:rPr lang="en-US" sz="2800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textarea</a:t>
            </a: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&gt;, and &lt;select&gt;. It is also responsible for border styling. 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477767" y="0"/>
            <a:ext cx="714233" cy="6858000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772" y="6209730"/>
            <a:ext cx="778199" cy="593679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3346973" y="6209731"/>
            <a:ext cx="8144442" cy="648269"/>
          </a:xfrm>
          <a:prstGeom prst="rect">
            <a:avLst/>
          </a:prstGeom>
          <a:solidFill>
            <a:srgbClr val="071D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646389" y="6209730"/>
            <a:ext cx="700584" cy="648270"/>
          </a:xfrm>
          <a:prstGeom prst="rect">
            <a:avLst/>
          </a:prstGeom>
          <a:solidFill>
            <a:srgbClr val="860000"/>
          </a:solidFill>
          <a:ln>
            <a:solidFill>
              <a:srgbClr val="8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640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163771" y="204716"/>
            <a:ext cx="11778019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Form</a:t>
            </a:r>
            <a:endParaRPr lang="en-US" sz="3600" b="1" kern="1200" dirty="0">
              <a:solidFill>
                <a:srgbClr val="860000"/>
              </a:solidFill>
              <a:latin typeface="Marcellu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163772" y="979096"/>
            <a:ext cx="11764371" cy="5225185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05780" y="6242918"/>
            <a:ext cx="622363" cy="61508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53209"/>
            <a:ext cx="11305780" cy="304791"/>
          </a:xfrm>
          <a:prstGeom prst="rect">
            <a:avLst/>
          </a:prstGeom>
          <a:solidFill>
            <a:srgbClr val="071D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" y="6336406"/>
            <a:ext cx="10683416" cy="216803"/>
          </a:xfrm>
          <a:prstGeom prst="rect">
            <a:avLst/>
          </a:prstGeom>
          <a:solidFill>
            <a:srgbClr val="860000"/>
          </a:solidFill>
          <a:ln>
            <a:solidFill>
              <a:srgbClr val="8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09" y="1214344"/>
            <a:ext cx="11068335" cy="4817272"/>
          </a:xfrm>
          <a:prstGeom prst="rect">
            <a:avLst/>
          </a:prstGeom>
          <a:ln w="66675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7816875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 txBox="1">
            <a:spLocks/>
          </p:cNvSpPr>
          <p:nvPr/>
        </p:nvSpPr>
        <p:spPr>
          <a:xfrm>
            <a:off x="68236" y="43974"/>
            <a:ext cx="11123505" cy="660699"/>
          </a:xfrm>
          <a:prstGeom prst="rect">
            <a:avLst/>
          </a:prstGeom>
          <a:ln w="25400">
            <a:solidFill>
              <a:srgbClr val="860000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defRPr/>
            </a:pP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Form</a:t>
            </a:r>
            <a:r>
              <a:rPr lang="en-US" sz="3600" b="1" kern="1200" dirty="0">
                <a:solidFill>
                  <a:srgbClr val="860000"/>
                </a:solidFill>
                <a:latin typeface="Marcellus"/>
                <a:ea typeface="+mj-ea"/>
                <a:cs typeface="+mj-cs"/>
              </a:rPr>
              <a:t> </a:t>
            </a: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</a:rPr>
              <a:t>Validation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68236" y="811369"/>
            <a:ext cx="12012147" cy="5466601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457200" lvl="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The 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.was-validated </a:t>
            </a: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or 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.needs-validation </a:t>
            </a: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to the 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&lt;form&gt; element</a:t>
            </a: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, depending on whether you want to provide validation feedback before or after submitting the form. </a:t>
            </a:r>
          </a:p>
          <a:p>
            <a:pPr marL="457200" lvl="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The input fields will have a 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green (valid) </a:t>
            </a: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or 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red (invalid) </a:t>
            </a: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border to indicate what's missing in the form. </a:t>
            </a:r>
          </a:p>
          <a:p>
            <a:pPr marL="457200" lvl="0" indent="-457200" algn="just">
              <a:lnSpc>
                <a:spcPct val="150000"/>
              </a:lnSpc>
              <a:spcBef>
                <a:spcPts val="1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You can also add a 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.valid-feedback </a:t>
            </a: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or </a:t>
            </a:r>
            <a:r>
              <a:rPr lang="en-US" sz="2800" b="1" kern="1200" dirty="0">
                <a:solidFill>
                  <a:srgbClr val="8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.invalid-feedback </a:t>
            </a:r>
            <a:r>
              <a:rPr lang="en-US" sz="2800" kern="1200" dirty="0">
                <a:solidFill>
                  <a:srgbClr val="0033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message to tell the user explicitly what's missing, or needs to be done before submitting the form.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050" name="Picture 2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33408" y="68781"/>
            <a:ext cx="746975" cy="660699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564573"/>
            <a:ext cx="12192000" cy="293427"/>
          </a:xfrm>
          <a:prstGeom prst="rect">
            <a:avLst/>
          </a:prstGeom>
          <a:solidFill>
            <a:srgbClr val="071D0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" y="6359859"/>
            <a:ext cx="10276764" cy="193350"/>
          </a:xfrm>
          <a:prstGeom prst="rect">
            <a:avLst/>
          </a:prstGeom>
          <a:solidFill>
            <a:srgbClr val="860000"/>
          </a:solidFill>
          <a:ln>
            <a:solidFill>
              <a:srgbClr val="86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8590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8058B23-DDE2-4F62-9A2E-46739C3C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66" y="204716"/>
            <a:ext cx="11133650" cy="660699"/>
          </a:xfrm>
          <a:ln w="25400">
            <a:solidFill>
              <a:srgbClr val="86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Component- Form</a:t>
            </a:r>
            <a:r>
              <a:rPr lang="en-US" sz="3600" b="1" kern="1200" dirty="0">
                <a:solidFill>
                  <a:srgbClr val="860000"/>
                </a:solidFill>
                <a:latin typeface="Marcellus"/>
              </a:rPr>
              <a:t> </a:t>
            </a:r>
            <a:r>
              <a:rPr lang="en-US" sz="3600" b="1" dirty="0">
                <a:solidFill>
                  <a:srgbClr val="600000"/>
                </a:solidFill>
                <a:latin typeface="Times New Roman"/>
                <a:ea typeface="Times New Roman"/>
                <a:cs typeface="Times New Roman"/>
              </a:rPr>
              <a:t>Validation</a:t>
            </a:r>
            <a:endParaRPr lang="en-US" sz="3600" b="1" dirty="0">
              <a:solidFill>
                <a:srgbClr val="860000"/>
              </a:solidFill>
              <a:latin typeface="Marcellus"/>
            </a:endParaRPr>
          </a:p>
        </p:txBody>
      </p:sp>
      <p:pic>
        <p:nvPicPr>
          <p:cNvPr id="1027" name="Picture 3" descr="C:\Users\GANGA\Desktop\downloa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194738"/>
            <a:ext cx="586853" cy="663262"/>
          </a:xfrm>
          <a:prstGeom prst="rect">
            <a:avLst/>
          </a:prstGeom>
          <a:noFill/>
          <a:ln>
            <a:solidFill>
              <a:srgbClr val="860000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587829" cy="6194738"/>
          </a:xfrm>
          <a:prstGeom prst="rect">
            <a:avLst/>
          </a:prstGeom>
          <a:solidFill>
            <a:srgbClr val="071D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586853" y="0"/>
            <a:ext cx="183266" cy="5421086"/>
          </a:xfrm>
          <a:prstGeom prst="rect">
            <a:avLst/>
          </a:prstGeom>
          <a:solidFill>
            <a:srgbClr val="8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/>
          </p:cNvSpPr>
          <p:nvPr/>
        </p:nvSpPr>
        <p:spPr>
          <a:xfrm>
            <a:off x="818866" y="914400"/>
            <a:ext cx="11136573" cy="5795493"/>
          </a:xfrm>
          <a:prstGeom prst="rect">
            <a:avLst/>
          </a:prstGeom>
          <a:noFill/>
          <a:ln w="25400">
            <a:solidFill>
              <a:srgbClr val="860000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" name="Picture 1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156" y="1037229"/>
            <a:ext cx="10654031" cy="5404513"/>
          </a:xfrm>
          <a:prstGeom prst="rect">
            <a:avLst/>
          </a:prstGeom>
          <a:ln w="53975">
            <a:solidFill>
              <a:srgbClr val="003300"/>
            </a:solidFill>
          </a:ln>
        </p:spPr>
      </p:pic>
    </p:spTree>
    <p:extLst>
      <p:ext uri="{BB962C8B-B14F-4D97-AF65-F5344CB8AC3E}">
        <p14:creationId xmlns:p14="http://schemas.microsoft.com/office/powerpoint/2010/main" val="2501275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2259</Words>
  <Application>Microsoft Office PowerPoint</Application>
  <PresentationFormat>Widescreen</PresentationFormat>
  <Paragraphs>276</Paragraphs>
  <Slides>69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6" baseType="lpstr">
      <vt:lpstr>Noto Sans Symbols</vt:lpstr>
      <vt:lpstr>Calibri</vt:lpstr>
      <vt:lpstr>Arial</vt:lpstr>
      <vt:lpstr>Times New Roman</vt:lpstr>
      <vt:lpstr>Marcellus</vt:lpstr>
      <vt:lpstr>Wingdings</vt:lpstr>
      <vt:lpstr>Office Theme</vt:lpstr>
      <vt:lpstr>PowerPoint Presentation</vt:lpstr>
      <vt:lpstr>Introduction of Bootstrap</vt:lpstr>
      <vt:lpstr>Bootstrap 4 VS Bootstrap 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Bootstrap Component - Button</vt:lpstr>
      <vt:lpstr>Bootstrap Component - Button</vt:lpstr>
      <vt:lpstr>PowerPoint Presentation</vt:lpstr>
      <vt:lpstr>PowerPoint Presentation</vt:lpstr>
      <vt:lpstr>PowerPoint Presentation</vt:lpstr>
      <vt:lpstr>PowerPoint Presentation</vt:lpstr>
      <vt:lpstr>Bootstrap Component- Jumbotron</vt:lpstr>
      <vt:lpstr>Bootstrap Component- Jumbotron</vt:lpstr>
      <vt:lpstr>PowerPoint Presentation</vt:lpstr>
      <vt:lpstr>PowerPoint Presentation</vt:lpstr>
      <vt:lpstr>PowerPoint Presentation</vt:lpstr>
      <vt:lpstr>PowerPoint Presentation</vt:lpstr>
      <vt:lpstr>Bootstrap Component- Grid</vt:lpstr>
      <vt:lpstr>Bootstrap Component- Grid</vt:lpstr>
      <vt:lpstr>PowerPoint Presentation</vt:lpstr>
      <vt:lpstr>PowerPoint Presentation</vt:lpstr>
      <vt:lpstr>PowerPoint Presentation</vt:lpstr>
      <vt:lpstr>PowerPoint Presentation</vt:lpstr>
      <vt:lpstr>Bootstrap Component- Table</vt:lpstr>
      <vt:lpstr>Bootstrap Component- Table</vt:lpstr>
      <vt:lpstr>PowerPoint Presentation</vt:lpstr>
      <vt:lpstr>PowerPoint Presentation</vt:lpstr>
      <vt:lpstr>PowerPoint Presentation</vt:lpstr>
      <vt:lpstr>Bootstrap Component- Alert</vt:lpstr>
      <vt:lpstr>PowerPoint Presentation</vt:lpstr>
      <vt:lpstr>PowerPoint Presentation</vt:lpstr>
      <vt:lpstr>PowerPoint Presentation</vt:lpstr>
      <vt:lpstr>PowerPoint Presentation</vt:lpstr>
      <vt:lpstr>Bootstrap Component- Progress Bar</vt:lpstr>
      <vt:lpstr>PowerPoint Presentation</vt:lpstr>
      <vt:lpstr>Bootstrap Component- Progress Bar</vt:lpstr>
      <vt:lpstr>PowerPoint Presentation</vt:lpstr>
      <vt:lpstr>PowerPoint Presentation</vt:lpstr>
      <vt:lpstr>PowerPoint Presentation</vt:lpstr>
      <vt:lpstr>Bootstrap Component- Progress Bar</vt:lpstr>
      <vt:lpstr>Bootstrap Component- Spacing</vt:lpstr>
      <vt:lpstr>PowerPoint Presentation</vt:lpstr>
      <vt:lpstr>PowerPoint Presentation</vt:lpstr>
      <vt:lpstr>PowerPoint Presentation</vt:lpstr>
      <vt:lpstr>PowerPoint Presentation</vt:lpstr>
      <vt:lpstr>Bootstrap Component- Navbar</vt:lpstr>
      <vt:lpstr>Bootstrap Component- Navbar</vt:lpstr>
      <vt:lpstr>PowerPoint Presentation</vt:lpstr>
      <vt:lpstr>PowerPoint Presentation</vt:lpstr>
      <vt:lpstr>PowerPoint Presentation</vt:lpstr>
      <vt:lpstr>Bootstrap Component- Navbar/Tabs/Pills</vt:lpstr>
      <vt:lpstr>Bootstrap Component- Navbar/Tabs/Pills</vt:lpstr>
      <vt:lpstr>PowerPoint Presentation</vt:lpstr>
      <vt:lpstr>PowerPoint Presentation</vt:lpstr>
      <vt:lpstr>PowerPoint Presentation</vt:lpstr>
      <vt:lpstr>PowerPoint Presentation</vt:lpstr>
      <vt:lpstr>Bootstrap Component- Modal</vt:lpstr>
      <vt:lpstr>Bootstrap Component- Modal</vt:lpstr>
      <vt:lpstr>PowerPoint Presentation</vt:lpstr>
      <vt:lpstr>PowerPoint Presentation</vt:lpstr>
      <vt:lpstr>PowerPoint Presentation</vt:lpstr>
      <vt:lpstr>PowerPoint Presentation</vt:lpstr>
      <vt:lpstr>Bootstrap Component- Form Validation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Aditi  Rajani</dc:creator>
  <cp:lastModifiedBy>Anudeep Mekala</cp:lastModifiedBy>
  <cp:revision>127</cp:revision>
  <dcterms:created xsi:type="dcterms:W3CDTF">2020-04-30T07:52:47Z</dcterms:created>
  <dcterms:modified xsi:type="dcterms:W3CDTF">2026-03-10T05:07:24Z</dcterms:modified>
</cp:coreProperties>
</file>