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306" r:id="rId14"/>
    <p:sldId id="267" r:id="rId15"/>
    <p:sldId id="270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278" r:id="rId32"/>
    <p:sldId id="279" r:id="rId33"/>
    <p:sldId id="280" r:id="rId34"/>
    <p:sldId id="281" r:id="rId35"/>
    <p:sldId id="284" r:id="rId36"/>
    <p:sldId id="285" r:id="rId37"/>
    <p:sldId id="286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18F"/>
    <a:srgbClr val="535749"/>
    <a:srgbClr val="41A9DA"/>
    <a:srgbClr val="38485F"/>
    <a:srgbClr val="75BA5A"/>
    <a:srgbClr val="DD1B16"/>
    <a:srgbClr val="FFC800"/>
    <a:srgbClr val="78B743"/>
    <a:srgbClr val="393939"/>
    <a:srgbClr val="5D4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EF6FECD-EDD4-A22E-A2A1-B977FECF9EEB}"/>
              </a:ext>
            </a:extLst>
          </p:cNvPr>
          <p:cNvSpPr/>
          <p:nvPr/>
        </p:nvSpPr>
        <p:spPr>
          <a:xfrm>
            <a:off x="0" y="6482830"/>
            <a:ext cx="12192000" cy="3619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AC64E-C5B4-941B-A037-8093F0FA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2984" y="2115214"/>
            <a:ext cx="6746031" cy="1892916"/>
          </a:xfrm>
        </p:spPr>
        <p:txBody>
          <a:bodyPr anchor="b"/>
          <a:lstStyle>
            <a:lvl1pPr algn="ctr">
              <a:defRPr sz="6000">
                <a:solidFill>
                  <a:srgbClr val="0070C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027BB-3A53-3BCB-35E0-E30731B8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20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E1902-7C2A-86C1-E726-F2BC3E0EC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3264" y="6484159"/>
            <a:ext cx="41148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521E96-5225-9C94-B362-66AA7314F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6695" y="99197"/>
            <a:ext cx="1084968" cy="125374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BEE9A-F4FD-233A-5C35-BF6D76F6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200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C52068-FEA2-C93A-26D8-E54E33499814}"/>
              </a:ext>
            </a:extLst>
          </p:cNvPr>
          <p:cNvSpPr/>
          <p:nvPr/>
        </p:nvSpPr>
        <p:spPr>
          <a:xfrm>
            <a:off x="0" y="0"/>
            <a:ext cx="10851502" cy="125374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B9CD40-15C2-D67E-02C1-27BC61BB97DA}"/>
              </a:ext>
            </a:extLst>
          </p:cNvPr>
          <p:cNvSpPr txBox="1"/>
          <p:nvPr/>
        </p:nvSpPr>
        <p:spPr>
          <a:xfrm>
            <a:off x="510136" y="195816"/>
            <a:ext cx="977543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0" dirty="0">
                <a:solidFill>
                  <a:schemeClr val="bg1"/>
                </a:solidFill>
                <a:latin typeface="Bookman Old Style" panose="02050604050505020204" pitchFamily="18" charset="0"/>
              </a:rPr>
              <a:t>CHAITANYA BHARATHI INSTITUTE OF TECHNOLOGY</a:t>
            </a:r>
          </a:p>
          <a:p>
            <a:pPr algn="ctr"/>
            <a:r>
              <a:rPr lang="en-US" sz="2400" b="0" dirty="0">
                <a:solidFill>
                  <a:schemeClr val="bg1"/>
                </a:solidFill>
                <a:latin typeface="Bookman Old Style" panose="02050604050505020204" pitchFamily="18" charset="0"/>
              </a:rPr>
              <a:t>DEPARTMENT OF INFORMATION TECHNOLOGY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DCD4A-950B-65CF-703B-A7E42563B525}"/>
              </a:ext>
            </a:extLst>
          </p:cNvPr>
          <p:cNvSpPr txBox="1"/>
          <p:nvPr/>
        </p:nvSpPr>
        <p:spPr>
          <a:xfrm>
            <a:off x="3946849" y="4432041"/>
            <a:ext cx="411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972B23"/>
                </a:solidFill>
                <a:latin typeface="Century Schoolbook" panose="02040604050505020304" pitchFamily="18" charset="0"/>
              </a:rPr>
              <a:t>By</a:t>
            </a:r>
          </a:p>
          <a:p>
            <a:pPr algn="ctr"/>
            <a:r>
              <a:rPr lang="en-US" b="1" dirty="0">
                <a:solidFill>
                  <a:srgbClr val="972B23"/>
                </a:solidFill>
                <a:latin typeface="Century Schoolbook" panose="02040604050505020304" pitchFamily="18" charset="0"/>
              </a:rPr>
              <a:t>N. Shiva Kumar</a:t>
            </a:r>
          </a:p>
          <a:p>
            <a:pPr algn="ctr"/>
            <a:r>
              <a:rPr lang="en-US" sz="1800" b="1" dirty="0">
                <a:solidFill>
                  <a:srgbClr val="972B23"/>
                </a:solidFill>
                <a:latin typeface="Century Schoolbook" panose="02040604050505020304" pitchFamily="18" charset="0"/>
              </a:rPr>
              <a:t>Assistant Professor,</a:t>
            </a:r>
          </a:p>
          <a:p>
            <a:pPr algn="ctr"/>
            <a:r>
              <a:rPr lang="en-US" sz="1800" b="1" dirty="0">
                <a:solidFill>
                  <a:srgbClr val="972B23"/>
                </a:solidFill>
                <a:latin typeface="Century Schoolbook" panose="02040604050505020304" pitchFamily="18" charset="0"/>
              </a:rPr>
              <a:t>Department of IT.</a:t>
            </a:r>
          </a:p>
        </p:txBody>
      </p:sp>
    </p:spTree>
    <p:extLst>
      <p:ext uri="{BB962C8B-B14F-4D97-AF65-F5344CB8AC3E}">
        <p14:creationId xmlns:p14="http://schemas.microsoft.com/office/powerpoint/2010/main" val="345435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5876-1A8F-0944-96AD-54C480794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17492"/>
            <a:ext cx="10711543" cy="760743"/>
          </a:xfrm>
          <a:solidFill>
            <a:schemeClr val="accent6"/>
          </a:solidFill>
        </p:spPr>
        <p:txBody>
          <a:bodyPr>
            <a:normAutofit/>
          </a:bodyPr>
          <a:lstStyle>
            <a:lvl1pPr marL="625475" indent="0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9755F-6BD1-6047-1615-0D5897450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3567"/>
            <a:ext cx="10758197" cy="4894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341310-8E04-2904-D16E-A7263D0B0AC6}"/>
              </a:ext>
            </a:extLst>
          </p:cNvPr>
          <p:cNvSpPr/>
          <p:nvPr/>
        </p:nvSpPr>
        <p:spPr>
          <a:xfrm>
            <a:off x="0" y="6482830"/>
            <a:ext cx="12192000" cy="3619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6D631-B6FE-7474-5577-DBF92673ED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79751"/>
            <a:ext cx="2743200" cy="365125"/>
          </a:xfrm>
        </p:spPr>
        <p:txBody>
          <a:bodyPr/>
          <a:lstStyle/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F9617-3CB4-C5D9-8A67-3B7CDC9BA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2792" y="6479751"/>
            <a:ext cx="41148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7A38B-D4D3-D387-354F-69FCBF8DD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53196" y="6482926"/>
            <a:ext cx="2743200" cy="365125"/>
          </a:xfrm>
        </p:spPr>
        <p:txBody>
          <a:bodyPr/>
          <a:lstStyle/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F134E4-A9A8-83CE-3032-25108747E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162" y="412494"/>
            <a:ext cx="840062" cy="97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95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983D3-40CB-D2FB-EF6F-C09F80324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482516"/>
            <a:ext cx="5487955" cy="48828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861891-0AD5-589F-2DBD-0F4DC34B0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130" y="1482517"/>
            <a:ext cx="5393093" cy="48828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30EEA1-67C2-631E-51B9-EF8A78418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162" y="412494"/>
            <a:ext cx="840062" cy="9707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D171D60-A71F-E37C-2B2F-F05BBDB68D25}"/>
              </a:ext>
            </a:extLst>
          </p:cNvPr>
          <p:cNvSpPr/>
          <p:nvPr/>
        </p:nvSpPr>
        <p:spPr>
          <a:xfrm>
            <a:off x="0" y="6482830"/>
            <a:ext cx="12192000" cy="3619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4ED725-A2FA-8EF8-1999-92C76433DB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1333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78764-7A82-7B2B-2112-DF27D61F8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2830"/>
            <a:ext cx="41148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F8BE8-95D5-D7C1-6A5C-379BC771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5701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EAD9DF1-7596-6AFB-F2CE-1CB587025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17492"/>
            <a:ext cx="10711543" cy="760743"/>
          </a:xfrm>
          <a:solidFill>
            <a:schemeClr val="accent6"/>
          </a:solidFill>
        </p:spPr>
        <p:txBody>
          <a:bodyPr>
            <a:normAutofit/>
          </a:bodyPr>
          <a:lstStyle>
            <a:lvl1pPr marL="746125" indent="0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4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F885-1B42-0FD6-38E9-61AC107B4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36B10-5D77-C155-0E13-02E38EED7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E8C14-1C2D-B072-08F3-1AE676C00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4B6DDD-3184-D90A-6CCB-7ADF3A71B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716A0A-2CEF-E979-2D99-640C041B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12EEC-7D9A-A430-4DCC-AC884294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DF2787-A732-0A28-870A-4EBB6B91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CFFC4D-86F1-817D-7531-DE5854B37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2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DCF043-E86D-850B-63E1-F8F0F56AB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162" y="412494"/>
            <a:ext cx="840062" cy="9707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FBF7796-5643-D712-85D1-7756112B51BE}"/>
              </a:ext>
            </a:extLst>
          </p:cNvPr>
          <p:cNvSpPr/>
          <p:nvPr/>
        </p:nvSpPr>
        <p:spPr>
          <a:xfrm>
            <a:off x="0" y="6499952"/>
            <a:ext cx="12192000" cy="40090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24391-ECCF-B9DD-9342-B868AFEA86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8807" y="6511537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C3346-46EE-B007-14C2-7050AF09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9952"/>
            <a:ext cx="41148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9FA70-12B4-2F40-402C-7479C49E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2716" y="6498985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0125AD-5B20-8F93-7CE2-D7B5E6E58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517492"/>
            <a:ext cx="10711543" cy="760743"/>
          </a:xfrm>
          <a:solidFill>
            <a:schemeClr val="accent6"/>
          </a:solidFill>
        </p:spPr>
        <p:txBody>
          <a:bodyPr>
            <a:normAutofit/>
          </a:bodyPr>
          <a:lstStyle>
            <a:lvl1pPr marL="690563" indent="0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63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56492-8CD9-DF57-2F04-B09D0A323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B6ACC-5098-E3AF-66B9-DB2D5F70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F6555-FCF4-CCD7-B8E0-98CDD33A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8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29F3-2180-45FB-5653-E943FD285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9BB8B-8D2F-9C99-14E4-1D4363FA1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3D63CB-1CB2-B193-4FC5-5A3258BF3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A74260-02C2-E003-FBD9-95482873B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2A0337-7C2E-D6E6-6B42-651A0E165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34E7D-9F99-D5E0-1615-6D44175A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C8E5-F119-A2C6-0419-983C566D9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433748-5397-D039-7549-5BB3EC849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E8E0A-D016-74E7-D000-FA0DC7A85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0427A-CCBA-B419-1A7B-11EEB968A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FBD11-162E-4C5E-43F5-C005FB0DB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E66628-EB00-5202-7D88-D614D026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1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4A96-53D0-AC53-62B5-C290BCBE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F44F9-364A-8E2B-D85E-DE15E5F0D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B3E1B-C252-BF8F-0939-3C3624A22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8FD00-3958-AAC0-B7CE-82CFC2366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4DE7-0A63-F977-E0BA-A2675C9C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53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0159A0-8F7B-00FE-151E-111F01510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6E3DE-6248-A4B1-847C-802B2F9B2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F7EE4-0D3A-EE03-0748-3CE6D08E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6FA04-2BE4-A902-F783-A985D8773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93C81-F9D3-65B7-B96E-47FE0D95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44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5089-8FE9-4960-C5BF-FA2C15622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0833A-88B0-74FC-846C-B097BCCCC6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D3046-E0FE-C493-2CF1-9C00A7D15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AAB71-D2F4-928B-37BD-6060F32C8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78122-2F43-CEF5-B679-ACC5FEB6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2C70A2-B461-2813-677E-18181BF5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C85EB-8171-B6FE-96CD-3568F647D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762E1-17BB-6F1C-3704-4AFCC7E87E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36EA3-A0D1-47F0-B638-A567DBDD1D15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DE173-60DB-0B55-02A8-E7F007378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DF7D2-3EBD-0889-9D94-39A5630F6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32C5C-1FFE-4683-AD9E-1137E67C0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70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05127D-699F-83E8-4169-52951C2E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ENTERPRISE 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2473482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386BEC-4C39-D9D2-0256-1AA9C4078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Unit-I, Module-I</a:t>
            </a:r>
            <a:br>
              <a:rPr lang="en-US" dirty="0"/>
            </a:br>
            <a:r>
              <a:rPr lang="en-US" dirty="0"/>
              <a:t>Web Fundamentals</a:t>
            </a:r>
          </a:p>
        </p:txBody>
      </p:sp>
    </p:spTree>
    <p:extLst>
      <p:ext uri="{BB962C8B-B14F-4D97-AF65-F5344CB8AC3E}">
        <p14:creationId xmlns:p14="http://schemas.microsoft.com/office/powerpoint/2010/main" val="3110135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8A45-CECC-AA20-EFA5-0D741912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ENTERPRISE APPLICATION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2C0B1-C7A0-F6F8-AE32-84A838AC3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600" b="1" dirty="0">
                <a:solidFill>
                  <a:srgbClr val="0070C0"/>
                </a:solidFill>
              </a:rPr>
              <a:t>Full Stack Development</a:t>
            </a:r>
            <a:r>
              <a:rPr lang="en-US" sz="2600" dirty="0"/>
              <a:t>: </a:t>
            </a:r>
          </a:p>
          <a:p>
            <a:pPr lvl="1"/>
            <a:r>
              <a:rPr lang="en-US" sz="2200" dirty="0"/>
              <a:t>It refers to the development of both front end(client side) and back end(server side) portions of web application.</a:t>
            </a:r>
          </a:p>
          <a:p>
            <a:pPr lvl="1"/>
            <a:r>
              <a:rPr lang="en-US" sz="2200" dirty="0"/>
              <a:t>The front end consists of the user interface (or UI), and the back end handles the business logic and application workflows that run behind the scenes.</a:t>
            </a:r>
          </a:p>
          <a:p>
            <a:pPr lvl="1"/>
            <a:r>
              <a:rPr lang="en-US" sz="2200" b="1" i="1" dirty="0"/>
              <a:t>Full stack developers </a:t>
            </a:r>
            <a:r>
              <a:rPr lang="en-US" sz="2200" dirty="0"/>
              <a:t>possess the skills and knowledge to work across the entire technology stack, enabling seamless user experiences and developing robust backends.</a:t>
            </a:r>
          </a:p>
          <a:p>
            <a:r>
              <a:rPr lang="en-US" sz="2600" b="1" dirty="0">
                <a:solidFill>
                  <a:srgbClr val="0070C0"/>
                </a:solidFill>
              </a:rPr>
              <a:t>Full Stack Web Developers:</a:t>
            </a:r>
          </a:p>
          <a:p>
            <a:pPr lvl="1"/>
            <a:r>
              <a:rPr lang="en-US" sz="2200" dirty="0">
                <a:solidFill>
                  <a:srgbClr val="071D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full stack developer is one who is comfortable working with both backend and frontend technologies.</a:t>
            </a:r>
          </a:p>
          <a:p>
            <a:pPr lvl="1"/>
            <a:r>
              <a:rPr lang="en-US" sz="2200" dirty="0"/>
              <a:t>Full Stack web developers have the ability to design complete web applications and websites. </a:t>
            </a:r>
          </a:p>
          <a:p>
            <a:pPr lvl="1"/>
            <a:r>
              <a:rPr lang="en-US" sz="2200" dirty="0"/>
              <a:t>They work on the frontend, backend, database, and debugging of web applications or websites.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54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E9BBF-7A51-CAB7-17B2-28B7F44F9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Technology Related to Full Stack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5C224-1771-7B37-8BF0-C9CA8698C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Front-end Development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It is the visible part of website or web application which is responsible for user experience. The user directly interacts with the front end portion of the web application or website.</a:t>
            </a:r>
          </a:p>
          <a:p>
            <a:r>
              <a:rPr lang="en-US" dirty="0">
                <a:solidFill>
                  <a:srgbClr val="0070C0"/>
                </a:solidFill>
              </a:rPr>
              <a:t>Front-end Technologies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HTML</a:t>
            </a:r>
          </a:p>
          <a:p>
            <a:pPr lvl="1"/>
            <a:r>
              <a:rPr lang="en-US" dirty="0"/>
              <a:t>CSS</a:t>
            </a:r>
          </a:p>
          <a:p>
            <a:pPr lvl="1"/>
            <a:r>
              <a:rPr lang="en-US" dirty="0"/>
              <a:t>JavaScript</a:t>
            </a:r>
          </a:p>
          <a:p>
            <a:r>
              <a:rPr lang="en-US" dirty="0">
                <a:solidFill>
                  <a:srgbClr val="0070C0"/>
                </a:solidFill>
              </a:rPr>
              <a:t>Front End Libraries and Frameworks</a:t>
            </a:r>
          </a:p>
          <a:p>
            <a:pPr lvl="1"/>
            <a:r>
              <a:rPr lang="en-US" dirty="0"/>
              <a:t>AngularJS</a:t>
            </a:r>
          </a:p>
          <a:p>
            <a:pPr lvl="1"/>
            <a:r>
              <a:rPr lang="en-US" dirty="0"/>
              <a:t>React.js</a:t>
            </a:r>
          </a:p>
          <a:p>
            <a:pPr lvl="1"/>
            <a:r>
              <a:rPr lang="en-US" dirty="0"/>
              <a:t>Bootstrap</a:t>
            </a:r>
          </a:p>
          <a:p>
            <a:pPr lvl="1"/>
            <a:r>
              <a:rPr lang="en-US" dirty="0"/>
              <a:t>jQuery</a:t>
            </a:r>
          </a:p>
        </p:txBody>
      </p:sp>
    </p:spTree>
    <p:extLst>
      <p:ext uri="{BB962C8B-B14F-4D97-AF65-F5344CB8AC3E}">
        <p14:creationId xmlns:p14="http://schemas.microsoft.com/office/powerpoint/2010/main" val="345588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9576-D2D9-B810-F4AE-067FE59E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Technology Related to Full Stack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AE9E3-90F2-CBCE-E8D5-ADB9FA746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Back-end Technologies</a:t>
            </a:r>
          </a:p>
          <a:p>
            <a:pPr lvl="1"/>
            <a:r>
              <a:rPr lang="en-US" dirty="0"/>
              <a:t>PHP</a:t>
            </a:r>
          </a:p>
          <a:p>
            <a:pPr lvl="1"/>
            <a:r>
              <a:rPr lang="en-US" dirty="0"/>
              <a:t>C++</a:t>
            </a:r>
          </a:p>
          <a:p>
            <a:pPr lvl="1"/>
            <a:r>
              <a:rPr lang="en-US" dirty="0"/>
              <a:t>Java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Node.js</a:t>
            </a:r>
          </a:p>
          <a:p>
            <a:pPr lvl="1"/>
            <a:r>
              <a:rPr lang="en-US" dirty="0"/>
              <a:t>Back End Frameworks (Express, Django, Rails, Laravel, Spring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b="1" dirty="0"/>
              <a:t>Database</a:t>
            </a:r>
          </a:p>
          <a:p>
            <a:pPr lvl="1"/>
            <a:r>
              <a:rPr lang="en-US" dirty="0"/>
              <a:t>Oracle</a:t>
            </a:r>
          </a:p>
          <a:p>
            <a:pPr lvl="1"/>
            <a:r>
              <a:rPr lang="en-US" dirty="0"/>
              <a:t>MongoDB</a:t>
            </a:r>
          </a:p>
          <a:p>
            <a:pPr lvl="1"/>
            <a:r>
              <a:rPr lang="en-US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91578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4CAF5-FDC9-7FCD-2DE7-3E21CE92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42900-27B1-3F04-A886-AD0F2E8FA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UNIT-I</a:t>
            </a:r>
          </a:p>
          <a:p>
            <a:pPr lvl="1"/>
            <a:r>
              <a:rPr lang="en-US" b="1" dirty="0"/>
              <a:t>Introduction to full stack</a:t>
            </a:r>
            <a:r>
              <a:rPr lang="en-US" dirty="0"/>
              <a:t>: MVC pattern, Web Fundamentals. HTML 5.0: Basic tags, HTML DOM, Images, Tables, Lists, Forms, Layout, Graphics, span and div tags.</a:t>
            </a:r>
          </a:p>
          <a:p>
            <a:pPr lvl="1"/>
            <a:r>
              <a:rPr lang="en-US" dirty="0"/>
              <a:t>Introduction to Cascading Style Sheets: Types of CSS, CSS Selectors, CSS BOX Model, Text and Font, Color, CSS Positioning and CSS floating, CSS Grid layout Module, CSS Media Queries.</a:t>
            </a:r>
          </a:p>
          <a:p>
            <a:r>
              <a:rPr lang="en-US" b="1" dirty="0"/>
              <a:t>UNIT-II</a:t>
            </a:r>
          </a:p>
          <a:p>
            <a:pPr lvl="1"/>
            <a:r>
              <a:rPr lang="en-US" b="1" dirty="0"/>
              <a:t>Java Script: </a:t>
            </a:r>
            <a:r>
              <a:rPr lang="en-US" dirty="0"/>
              <a:t>Data Types &amp; Type Conversion, JSON, Events, String and Date Functions, Local Storage, Object Oriented Programming (OOP) in JS, JavaScript Regular Expressions.</a:t>
            </a:r>
          </a:p>
          <a:p>
            <a:pPr lvl="1"/>
            <a:r>
              <a:rPr lang="en-US" b="1" dirty="0"/>
              <a:t>Bootstrap</a:t>
            </a:r>
            <a:r>
              <a:rPr lang="en-US" dirty="0"/>
              <a:t>: Introduction of Bootstrap, Container and Container-fluid, Bootstrap Carousel. </a:t>
            </a:r>
          </a:p>
          <a:p>
            <a:pPr lvl="1"/>
            <a:r>
              <a:rPr lang="en-US" b="1" dirty="0"/>
              <a:t>Bootstrap Component</a:t>
            </a:r>
            <a:r>
              <a:rPr lang="en-US" dirty="0"/>
              <a:t>: Button, Grid, Table, Form, Alert, Image, Tabs/Pill, Navbar, Modals.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191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6010-F3FF-4DC7-9D45-DE66C68EB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D5BB-9029-0B06-B60D-6D925E29A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UNIT-III</a:t>
            </a:r>
          </a:p>
          <a:p>
            <a:pPr lvl="1"/>
            <a:r>
              <a:rPr lang="en-US" b="1" dirty="0"/>
              <a:t>React JS</a:t>
            </a:r>
            <a:r>
              <a:rPr lang="en-US" dirty="0"/>
              <a:t>: Introduction to React, React with JSX, Actual DOM vs React VDOM, Components, Lifecycle, State, Props, Fragments, Events, Router, Forms, Pagination, Tables, Portals, Hook, Signals. React 18 New features.  </a:t>
            </a:r>
          </a:p>
          <a:p>
            <a:pPr lvl="1"/>
            <a:r>
              <a:rPr lang="en-US" b="1" dirty="0"/>
              <a:t>Redux and MUI</a:t>
            </a:r>
            <a:r>
              <a:rPr lang="en-US" dirty="0"/>
              <a:t>: Introduction to Redux, State, Actions, Reducers, Color Reducer, Sort Reducer, Store, Action Creators, Middleware. React Material UI Introduction and Installation, MUI Input Components.  </a:t>
            </a:r>
          </a:p>
          <a:p>
            <a:pPr lvl="1"/>
            <a:r>
              <a:rPr lang="en-US" b="1" dirty="0"/>
              <a:t>Integration of Google MAP API and GPS Location Tracking</a:t>
            </a:r>
            <a:r>
              <a:rPr lang="en-US" dirty="0"/>
              <a:t>: Incorporating Google MAP API and GPS Location Tracking for location-based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557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80F3-A605-6F1F-A3FE-C158EAB7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FBE58-7613-187F-478A-14F381FD1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UNIT-IV</a:t>
            </a:r>
          </a:p>
          <a:p>
            <a:pPr lvl="1"/>
            <a:r>
              <a:rPr lang="en-US" b="1" dirty="0"/>
              <a:t>Node JS: </a:t>
            </a:r>
            <a:r>
              <a:rPr lang="en-US" dirty="0"/>
              <a:t>Modules, Node Package Manager(</a:t>
            </a:r>
            <a:r>
              <a:rPr lang="en-US" dirty="0" err="1"/>
              <a:t>npm</a:t>
            </a:r>
            <a:r>
              <a:rPr lang="en-US" dirty="0"/>
              <a:t>), Creating Web Server, Sending Requests and Handling HTTP requests, Handling User authentication with NodeJS, File System, Writing a file asynchronously and Other I/O Operations. </a:t>
            </a:r>
          </a:p>
          <a:p>
            <a:pPr lvl="1"/>
            <a:r>
              <a:rPr lang="en-US" b="1" dirty="0"/>
              <a:t>Events:</a:t>
            </a:r>
            <a:r>
              <a:rPr lang="en-US" dirty="0"/>
              <a:t> Event Emitter class, Inheriting Events and Returning event emitter.</a:t>
            </a:r>
          </a:p>
          <a:p>
            <a:pPr lvl="1"/>
            <a:r>
              <a:rPr lang="en-US" b="1" dirty="0"/>
              <a:t>Express JS: </a:t>
            </a:r>
            <a:r>
              <a:rPr lang="en-US" dirty="0"/>
              <a:t>Introduction to the Express framework- Server-side rendering with Templating Engines, Routing, Middleware, Custom Middleware, static files. </a:t>
            </a:r>
          </a:p>
          <a:p>
            <a:r>
              <a:rPr lang="en-US" b="1" dirty="0"/>
              <a:t>UNIT-V</a:t>
            </a:r>
          </a:p>
          <a:p>
            <a:pPr lvl="1"/>
            <a:r>
              <a:rPr lang="en-US" b="1" dirty="0"/>
              <a:t>Mongo DB: </a:t>
            </a:r>
            <a:r>
              <a:rPr lang="en-US" dirty="0"/>
              <a:t>Introduction, Importance of NoSQL databases, JSON Vs BSON, Data types and examples. CRUD Operations, Data Modelling &amp; Schema Design, Indexing and Aggregation, MongoDB Replication and Sharding.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533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BF21-7393-F906-8B84-682D2041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A74BE-834D-2CC1-20A0-DE01ED627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Text Books: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err="1"/>
              <a:t>Vasan</a:t>
            </a:r>
            <a:r>
              <a:rPr lang="en-US" dirty="0"/>
              <a:t> Subramanian, "Pro MERN Stack: Full Stack Web App Development with Mongo, Express, React, and Node", Second Edition, </a:t>
            </a:r>
            <a:r>
              <a:rPr lang="en-US" dirty="0" err="1"/>
              <a:t>Apress</a:t>
            </a:r>
            <a:r>
              <a:rPr lang="en-US" dirty="0"/>
              <a:t> Publications, 2019.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David </a:t>
            </a:r>
            <a:r>
              <a:rPr lang="en-US" dirty="0" err="1"/>
              <a:t>Hows</a:t>
            </a:r>
            <a:r>
              <a:rPr lang="en-US" dirty="0"/>
              <a:t>, Peter </a:t>
            </a:r>
            <a:r>
              <a:rPr lang="en-US" dirty="0" err="1"/>
              <a:t>Membrey</a:t>
            </a:r>
            <a:r>
              <a:rPr lang="en-US" dirty="0"/>
              <a:t>, </a:t>
            </a:r>
            <a:r>
              <a:rPr lang="en-US" dirty="0" err="1"/>
              <a:t>EelcoPlugge</a:t>
            </a:r>
            <a:r>
              <a:rPr lang="en-US" dirty="0"/>
              <a:t> – “MongoDB Basics”, </a:t>
            </a:r>
            <a:r>
              <a:rPr lang="en-US" dirty="0" err="1"/>
              <a:t>Apress</a:t>
            </a:r>
            <a:r>
              <a:rPr lang="en-US" dirty="0"/>
              <a:t>, 2014.</a:t>
            </a:r>
          </a:p>
          <a:p>
            <a:r>
              <a:rPr lang="en-US" dirty="0"/>
              <a:t>Suggested Reading:</a:t>
            </a:r>
          </a:p>
          <a:p>
            <a:pPr lvl="1"/>
            <a:r>
              <a:rPr lang="en-US" dirty="0"/>
              <a:t>Ethan Brown, “Web Development with Node and Express”, </a:t>
            </a:r>
            <a:r>
              <a:rPr lang="en-US" dirty="0" err="1"/>
              <a:t>Oreilly</a:t>
            </a:r>
            <a:r>
              <a:rPr lang="en-US" dirty="0"/>
              <a:t> Publishers, First Edition, 2014.</a:t>
            </a:r>
          </a:p>
          <a:p>
            <a:r>
              <a:rPr lang="en-US" dirty="0"/>
              <a:t>Web Resources:</a:t>
            </a:r>
          </a:p>
          <a:p>
            <a:pPr lvl="1"/>
            <a:r>
              <a:rPr lang="en-US" dirty="0"/>
              <a:t>https://web.stanford.edu/class/cs142/index.html</a:t>
            </a:r>
          </a:p>
          <a:p>
            <a:pPr lvl="1"/>
            <a:r>
              <a:rPr lang="en-US" dirty="0"/>
              <a:t>https://nodejs.org/en/docs/</a:t>
            </a:r>
          </a:p>
          <a:p>
            <a:pPr lvl="1"/>
            <a:r>
              <a:rPr lang="en-US" dirty="0"/>
              <a:t>https://www.mongodb.com/</a:t>
            </a:r>
          </a:p>
          <a:p>
            <a:pPr lvl="1"/>
            <a:r>
              <a:rPr lang="en-US" dirty="0"/>
              <a:t>https://reactjs.org/</a:t>
            </a:r>
          </a:p>
          <a:p>
            <a:pPr lvl="1"/>
            <a:r>
              <a:rPr lang="en-US" dirty="0"/>
              <a:t>https://getbootstrap.com/docs/5.0/utilities/api/</a:t>
            </a:r>
          </a:p>
          <a:p>
            <a:pPr lvl="1"/>
            <a:r>
              <a:rPr lang="en-US" dirty="0"/>
              <a:t>https://edu.anarcho-copy.org/Programming%20Languages/Node/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11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3B96E-5454-AFED-7788-D5B6B5A2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1FCC9-77BB-1C02-E403-4D5984CA3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course aims to: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Provide knowledge about web pages design and development.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Understand how the HTML, CSS and JavaScript components of Bootstrap work.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Explore the basic architecture of a React application and develop applications in agile mode.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Gain the basics of frond-end and back-end application development using Nodejs.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Understand the basics of MongoDB and its Data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476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BC85F-3BA5-E5C9-DA8D-C225F7270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Outcomes: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A6774-060B-3308-2C18-8F1DB2E6E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Upon successful completion of this course, students will be able to:</a:t>
            </a:r>
          </a:p>
          <a:p>
            <a:pPr lvl="1"/>
            <a:r>
              <a:rPr lang="en-US" dirty="0"/>
              <a:t>Create web pages with good aesthetic sense of design using HTML and CSS.</a:t>
            </a:r>
          </a:p>
          <a:p>
            <a:pPr lvl="1"/>
            <a:r>
              <a:rPr lang="en-US" dirty="0"/>
              <a:t>Create real-world React web applications and related tools.</a:t>
            </a:r>
          </a:p>
          <a:p>
            <a:pPr lvl="1"/>
            <a:r>
              <a:rPr lang="en-US" dirty="0"/>
              <a:t>Become an agile practitioner with the ability to quickly complete projects.</a:t>
            </a:r>
          </a:p>
          <a:p>
            <a:pPr lvl="1"/>
            <a:r>
              <a:rPr lang="en-US" dirty="0"/>
              <a:t>Build an end-to-end application from scratch using NODE JS.</a:t>
            </a:r>
          </a:p>
          <a:p>
            <a:pPr lvl="1"/>
            <a:r>
              <a:rPr lang="en-US" dirty="0"/>
              <a:t>Understand and build logical relationships between documents using MongoDB.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800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0F027-538C-2076-9F76-35564804F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POPULAR TECH STACKS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DD2BB-EE60-2218-4D47-6C34D86FB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MERN STACK</a:t>
            </a:r>
          </a:p>
          <a:p>
            <a:pPr marL="0" indent="0">
              <a:buNone/>
            </a:pPr>
            <a:r>
              <a:rPr lang="en-US" b="1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MEAN STACK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EE7D9-394C-DEF4-0F67-088980091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942" y="1854131"/>
            <a:ext cx="7566710" cy="19552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AFBF02-E168-1F78-03C0-532CAB4C59EB}"/>
              </a:ext>
            </a:extLst>
          </p:cNvPr>
          <p:cNvSpPr txBox="1"/>
          <p:nvPr/>
        </p:nvSpPr>
        <p:spPr>
          <a:xfrm>
            <a:off x="2650013" y="3640741"/>
            <a:ext cx="1997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5D4037"/>
                </a:solidFill>
              </a:rPr>
              <a:t>MongoDB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13F03-3E4E-FC07-B593-BD525CB22CAD}"/>
              </a:ext>
            </a:extLst>
          </p:cNvPr>
          <p:cNvSpPr txBox="1"/>
          <p:nvPr/>
        </p:nvSpPr>
        <p:spPr>
          <a:xfrm>
            <a:off x="7988809" y="3693983"/>
            <a:ext cx="1997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8B743"/>
                </a:solidFill>
              </a:rPr>
              <a:t>NodeJS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25548-2C71-2A35-A18D-FE4D1DA14F91}"/>
              </a:ext>
            </a:extLst>
          </p:cNvPr>
          <p:cNvSpPr txBox="1"/>
          <p:nvPr/>
        </p:nvSpPr>
        <p:spPr>
          <a:xfrm>
            <a:off x="6217297" y="3668423"/>
            <a:ext cx="1997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24618F"/>
                </a:solidFill>
              </a:rPr>
              <a:t>ReactJS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C6E18-2B2E-CCF8-93B9-9866F8EC585E}"/>
              </a:ext>
            </a:extLst>
          </p:cNvPr>
          <p:cNvSpPr txBox="1"/>
          <p:nvPr/>
        </p:nvSpPr>
        <p:spPr>
          <a:xfrm>
            <a:off x="4539266" y="3640741"/>
            <a:ext cx="1997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393939"/>
                </a:solidFill>
              </a:rPr>
              <a:t>ExpressJS</a:t>
            </a:r>
            <a:endParaRPr lang="en-US" sz="2000" b="1" dirty="0">
              <a:solidFill>
                <a:srgbClr val="393939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6BEBBA-21BE-10A5-963F-DE094D3B1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341" y="4466470"/>
            <a:ext cx="7729379" cy="11295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22657E-BF45-09FA-C8DB-797D5F94713A}"/>
              </a:ext>
            </a:extLst>
          </p:cNvPr>
          <p:cNvSpPr txBox="1"/>
          <p:nvPr/>
        </p:nvSpPr>
        <p:spPr>
          <a:xfrm>
            <a:off x="2650012" y="5906995"/>
            <a:ext cx="1997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5D4037"/>
                </a:solidFill>
              </a:rPr>
              <a:t>MongoDB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E4993-6F80-190B-5EEF-AC964504FF1A}"/>
              </a:ext>
            </a:extLst>
          </p:cNvPr>
          <p:cNvSpPr txBox="1"/>
          <p:nvPr/>
        </p:nvSpPr>
        <p:spPr>
          <a:xfrm>
            <a:off x="4356887" y="5919775"/>
            <a:ext cx="1997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FFC800"/>
                </a:solidFill>
              </a:rPr>
              <a:t>ExpressJS</a:t>
            </a:r>
            <a:endParaRPr lang="en-US" sz="2000" b="1" dirty="0">
              <a:solidFill>
                <a:srgbClr val="FFC8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926066-49FA-5B4A-021B-7E8B3A99B673}"/>
              </a:ext>
            </a:extLst>
          </p:cNvPr>
          <p:cNvSpPr txBox="1"/>
          <p:nvPr/>
        </p:nvSpPr>
        <p:spPr>
          <a:xfrm>
            <a:off x="6354652" y="5919775"/>
            <a:ext cx="1997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DD1B16"/>
                </a:solidFill>
                <a:latin typeface="Times New Roman" pitchFamily="18" charset="0"/>
                <a:cs typeface="Times New Roman" pitchFamily="18" charset="0"/>
              </a:rPr>
              <a:t>AngularJS</a:t>
            </a:r>
            <a:endParaRPr lang="en-US" sz="2000" b="1" dirty="0">
              <a:solidFill>
                <a:srgbClr val="DD1B16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21EF51-5683-9D7B-34FE-43CCD364550E}"/>
              </a:ext>
            </a:extLst>
          </p:cNvPr>
          <p:cNvSpPr txBox="1"/>
          <p:nvPr/>
        </p:nvSpPr>
        <p:spPr>
          <a:xfrm>
            <a:off x="8352417" y="5852970"/>
            <a:ext cx="1997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8B743"/>
                </a:solidFill>
              </a:rPr>
              <a:t>NodeJS</a:t>
            </a:r>
            <a:endParaRPr lang="en-US" sz="2000" b="1" dirty="0">
              <a:solidFill>
                <a:srgbClr val="75BA5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959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CF6A1-37A0-D76C-5F0A-6B2A34EB3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49C36-2E5D-9490-1C1F-ED394FC48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MEVN STACK</a:t>
            </a:r>
          </a:p>
          <a:p>
            <a:endParaRPr lang="en-US" dirty="0"/>
          </a:p>
        </p:txBody>
      </p:sp>
      <p:pic>
        <p:nvPicPr>
          <p:cNvPr id="1026" name="Picture 2" descr="What is MEVN Tech Stack [Comprehensive Guide] | by Empiric Infotech LLP |  Medium">
            <a:extLst>
              <a:ext uri="{FF2B5EF4-FFF2-40B4-BE49-F238E27FC236}">
                <a16:creationId xmlns:a16="http://schemas.microsoft.com/office/drawing/2014/main" id="{1CE22D9A-3F05-CAE0-42C6-1840E4E50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296" y="2284606"/>
            <a:ext cx="5334000" cy="300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531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4ED5-6F08-9445-A7DC-A9387E26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between MEAN and MERN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AE102-B0E5-7E39-DEBC-3E3C49B2D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200" dirty="0"/>
              <a:t>The front-end framework is the primary difference between MEAN and MERN technology. </a:t>
            </a:r>
          </a:p>
          <a:p>
            <a:r>
              <a:rPr lang="en-US" sz="2200" dirty="0"/>
              <a:t>MEAN stack uses Angular, while the MERN stack uses React. </a:t>
            </a:r>
          </a:p>
          <a:p>
            <a:r>
              <a:rPr lang="en-US" sz="2200" dirty="0"/>
              <a:t>Additionally, the MEAN stack uses MongoDB as its database, while the MERN stack uses MongoDB or any other NoSQL database. Both stacks use Node.js as the back-end framework.</a:t>
            </a:r>
          </a:p>
          <a:p>
            <a:r>
              <a:rPr lang="en-US" sz="2200" b="1" dirty="0"/>
              <a:t>Mongo DB : </a:t>
            </a:r>
            <a:r>
              <a:rPr lang="en-US" sz="2200" dirty="0"/>
              <a:t>Its a database which is using BSON format to store data.</a:t>
            </a:r>
          </a:p>
          <a:p>
            <a:r>
              <a:rPr lang="en-US" sz="2200" b="1" dirty="0"/>
              <a:t>Express JS : </a:t>
            </a:r>
            <a:r>
              <a:rPr lang="en-US" sz="2200" dirty="0"/>
              <a:t>Its a framework of JavaScript which enables developer to establish server.</a:t>
            </a:r>
          </a:p>
          <a:p>
            <a:r>
              <a:rPr lang="en-US" sz="2200" b="1" dirty="0"/>
              <a:t>React JS : </a:t>
            </a:r>
            <a:r>
              <a:rPr lang="en-US" sz="2200" dirty="0"/>
              <a:t>React JS is </a:t>
            </a:r>
            <a:r>
              <a:rPr lang="en-US" sz="2200" dirty="0">
                <a:solidFill>
                  <a:srgbClr val="0070C0"/>
                </a:solidFill>
              </a:rPr>
              <a:t>client side library </a:t>
            </a:r>
            <a:r>
              <a:rPr lang="en-US" sz="2200" dirty="0"/>
              <a:t>of JavaScript which is used to develop User Interface.</a:t>
            </a:r>
          </a:p>
          <a:p>
            <a:r>
              <a:rPr lang="en-US" sz="2200" b="1" dirty="0"/>
              <a:t>Node JS :</a:t>
            </a:r>
            <a:r>
              <a:rPr lang="en-US" sz="2200" dirty="0"/>
              <a:t>Node JS is a run time environment of JavaScript which allows developer to execute JS code directly in console</a:t>
            </a:r>
          </a:p>
          <a:p>
            <a:r>
              <a:rPr lang="en-US" sz="2200" b="1" dirty="0"/>
              <a:t>Angular : </a:t>
            </a:r>
            <a:r>
              <a:rPr lang="en-US" sz="2200" dirty="0"/>
              <a:t>Angular is </a:t>
            </a:r>
            <a:r>
              <a:rPr lang="en-US" sz="2200" dirty="0">
                <a:solidFill>
                  <a:srgbClr val="0070C0"/>
                </a:solidFill>
              </a:rPr>
              <a:t>client side framework </a:t>
            </a:r>
            <a:r>
              <a:rPr lang="en-US" sz="2200" dirty="0"/>
              <a:t>which is used to develop User Interface.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67645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E5D92-4CBE-3112-1500-B1902FADC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Stages in Full Stack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4EA0-06E1-F005-62FE-A3EF2FC9C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9063" indent="0">
              <a:buNone/>
            </a:pPr>
            <a:endParaRPr lang="en-US" b="1" dirty="0"/>
          </a:p>
          <a:p>
            <a:pPr marL="119063" indent="0">
              <a:lnSpc>
                <a:spcPct val="100000"/>
              </a:lnSpc>
              <a:buNone/>
            </a:pPr>
            <a:r>
              <a:rPr lang="en-US" b="1" dirty="0"/>
              <a:t>Stage 1:</a:t>
            </a:r>
            <a:r>
              <a:rPr lang="en-US" dirty="0"/>
              <a:t> HTML</a:t>
            </a:r>
          </a:p>
          <a:p>
            <a:pPr marL="119063" indent="0">
              <a:lnSpc>
                <a:spcPct val="100000"/>
              </a:lnSpc>
              <a:buNone/>
            </a:pPr>
            <a:r>
              <a:rPr lang="en-US" dirty="0"/>
              <a:t>	</a:t>
            </a:r>
            <a:r>
              <a:rPr lang="en-US" b="1" dirty="0"/>
              <a:t>Stage 2:</a:t>
            </a:r>
            <a:r>
              <a:rPr lang="en-US" dirty="0"/>
              <a:t> CSS</a:t>
            </a:r>
          </a:p>
          <a:p>
            <a:pPr marL="119063" indent="0">
              <a:lnSpc>
                <a:spcPct val="100000"/>
              </a:lnSpc>
              <a:buNone/>
            </a:pPr>
            <a:r>
              <a:rPr lang="en-US" dirty="0"/>
              <a:t>		</a:t>
            </a:r>
            <a:r>
              <a:rPr lang="en-US" b="1" dirty="0"/>
              <a:t>Stage 3:</a:t>
            </a:r>
            <a:r>
              <a:rPr lang="en-US" dirty="0"/>
              <a:t> JavaScript</a:t>
            </a:r>
          </a:p>
          <a:p>
            <a:pPr marL="119063" indent="0">
              <a:lnSpc>
                <a:spcPct val="100000"/>
              </a:lnSpc>
              <a:buNone/>
            </a:pPr>
            <a:r>
              <a:rPr lang="en-US" dirty="0"/>
              <a:t>				</a:t>
            </a:r>
            <a:r>
              <a:rPr lang="en-US" b="1" dirty="0"/>
              <a:t>Stage 4:</a:t>
            </a:r>
            <a:r>
              <a:rPr lang="en-US" dirty="0"/>
              <a:t> </a:t>
            </a:r>
            <a:r>
              <a:rPr lang="en-US" dirty="0" err="1"/>
              <a:t>ReactJs</a:t>
            </a:r>
            <a:endParaRPr lang="en-US" dirty="0"/>
          </a:p>
          <a:p>
            <a:pPr marL="119063" indent="0">
              <a:lnSpc>
                <a:spcPct val="100000"/>
              </a:lnSpc>
              <a:buNone/>
            </a:pPr>
            <a:r>
              <a:rPr lang="en-US" dirty="0"/>
              <a:t>					</a:t>
            </a:r>
            <a:r>
              <a:rPr lang="en-US" b="1" dirty="0"/>
              <a:t>Stage 5:</a:t>
            </a:r>
            <a:r>
              <a:rPr lang="en-US" dirty="0"/>
              <a:t> </a:t>
            </a:r>
            <a:r>
              <a:rPr lang="en-US" dirty="0" err="1"/>
              <a:t>NodeJs</a:t>
            </a:r>
            <a:endParaRPr lang="en-US" dirty="0"/>
          </a:p>
          <a:p>
            <a:pPr marL="119063" indent="0">
              <a:lnSpc>
                <a:spcPct val="100000"/>
              </a:lnSpc>
              <a:buNone/>
            </a:pPr>
            <a:r>
              <a:rPr lang="en-US" dirty="0"/>
              <a:t>						</a:t>
            </a:r>
            <a:r>
              <a:rPr lang="en-US" b="1" dirty="0"/>
              <a:t>Stage 6:</a:t>
            </a:r>
            <a:r>
              <a:rPr lang="en-US" dirty="0"/>
              <a:t> </a:t>
            </a:r>
            <a:r>
              <a:rPr lang="en-US" dirty="0" err="1"/>
              <a:t>ExpressJS</a:t>
            </a:r>
            <a:endParaRPr lang="en-US" dirty="0"/>
          </a:p>
          <a:p>
            <a:pPr marL="119063" indent="0">
              <a:lnSpc>
                <a:spcPct val="100000"/>
              </a:lnSpc>
              <a:buNone/>
            </a:pPr>
            <a:r>
              <a:rPr lang="en-US" dirty="0"/>
              <a:t>							</a:t>
            </a:r>
            <a:r>
              <a:rPr lang="en-US" b="1" dirty="0"/>
              <a:t>Stage 7:</a:t>
            </a:r>
            <a:r>
              <a:rPr lang="en-US" dirty="0"/>
              <a:t> MongoDB</a:t>
            </a:r>
          </a:p>
          <a:p>
            <a:pPr marL="11906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5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A69B3-58E7-0721-33FD-02879DEB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3- Tier Architecture of MERN Stack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407B05-BAF9-E962-CE9C-52F1E2B8B1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6248" y="2554357"/>
            <a:ext cx="8779504" cy="245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6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0B41E-6D62-5B62-0EE0-D8CCF4A8E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IDE’S Required for FSD-VS Code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5DE8E9-FC92-A145-AE7B-0F2E46C47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4775" y="1484313"/>
            <a:ext cx="9065338" cy="48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07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A8BE-D077-A968-4850-436FDB9A2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IDE’S Required for FSD-MongoDB Compass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4C0702-4494-8FED-98DD-CCA1461B7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288" y="1484313"/>
            <a:ext cx="9420312" cy="48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682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8346F-71A6-0EDE-DF82-D119B1121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IDE’S Required for FSD-Postman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296A4D-38EF-EFE8-EAD8-146D07FCA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0820" y="1484313"/>
            <a:ext cx="9113247" cy="48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43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54A69-952F-93B6-3A7A-FDB6F3CB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7 Chakras of MERN Stack Developer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5E2510-858C-CA0E-5CFD-D3180C773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5840" y="1922945"/>
            <a:ext cx="4505325" cy="3829050"/>
          </a:xfrm>
          <a:prstGeom prst="rect">
            <a:avLst/>
          </a:prstGeom>
          <a:effectLst>
            <a:glow rad="101600">
              <a:srgbClr val="051D17">
                <a:alpha val="40000"/>
              </a:srgbClr>
            </a:glow>
          </a:effectLst>
        </p:spPr>
      </p:pic>
      <p:pic>
        <p:nvPicPr>
          <p:cNvPr id="1026" name="Picture 2" descr="7 Chakra Points in body and their significance unblock them">
            <a:extLst>
              <a:ext uri="{FF2B5EF4-FFF2-40B4-BE49-F238E27FC236}">
                <a16:creationId xmlns:a16="http://schemas.microsoft.com/office/drawing/2014/main" id="{3F355971-EA04-983F-817B-07BA5303F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391" y="1958007"/>
            <a:ext cx="5723247" cy="34985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6190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86D36-0DAE-D2F5-3072-15366B28B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40E35-EF56-5DE4-4A52-72B49E5F7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the last few years, websites have shifted from simple HTML pages with a bit of CSS to incredibly complex applications with thousands of developers working on them at the same time. </a:t>
            </a:r>
          </a:p>
          <a:p>
            <a:r>
              <a:rPr lang="en-US" dirty="0"/>
              <a:t>To work with these complex web applications developers, use different design patterns to lay out their projects, to make the code less complex and easier to work with. </a:t>
            </a:r>
          </a:p>
          <a:p>
            <a:r>
              <a:rPr lang="en-US" dirty="0"/>
              <a:t>The most popular of these patterns is MVC also known as </a:t>
            </a:r>
            <a:r>
              <a:rPr lang="en-US" b="1" dirty="0">
                <a:solidFill>
                  <a:srgbClr val="0070C0"/>
                </a:solidFill>
              </a:rPr>
              <a:t>Model View Controller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75598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2001-475B-556D-D6AB-29264B45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073C4-BAFA-3C8A-10E3-F42D51CCB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Model-View-Controller (MVC) framework is an architectural/design pattern that separates an application into three main logical components Model, View, and Controller. </a:t>
            </a:r>
          </a:p>
          <a:p>
            <a:r>
              <a:rPr lang="en-US" dirty="0"/>
              <a:t>Each architectural component is built to handle specific development aspects of an application. </a:t>
            </a:r>
          </a:p>
          <a:p>
            <a:r>
              <a:rPr lang="en-US" dirty="0"/>
              <a:t>It isolates the business logic and presentation layer from each other. </a:t>
            </a:r>
          </a:p>
          <a:p>
            <a:r>
              <a:rPr lang="en-US" dirty="0"/>
              <a:t>It was traditionally used for desktop graphical user interfaces (GUIs). </a:t>
            </a:r>
          </a:p>
          <a:p>
            <a:r>
              <a:rPr lang="en-US" dirty="0"/>
              <a:t>MVC is one of the most frequently used industry-standard web development frameworks to create scalable and extensible projects. It is also used for designing mobile apps.</a:t>
            </a:r>
          </a:p>
          <a:p>
            <a:r>
              <a:rPr lang="en-US" dirty="0"/>
              <a:t>MVC was created by Trygve </a:t>
            </a:r>
            <a:r>
              <a:rPr lang="en-US" dirty="0" err="1"/>
              <a:t>Reenskaug</a:t>
            </a:r>
            <a:r>
              <a:rPr lang="en-US" dirty="0"/>
              <a:t>. </a:t>
            </a:r>
          </a:p>
          <a:p>
            <a:r>
              <a:rPr lang="en-US" dirty="0"/>
              <a:t>The main goal of this design pattern was to solve the problem of users controlling a large and complex data set by splitting a large application into specific sections that all have their own purpose.</a:t>
            </a:r>
          </a:p>
        </p:txBody>
      </p:sp>
    </p:spTree>
    <p:extLst>
      <p:ext uri="{BB962C8B-B14F-4D97-AF65-F5344CB8AC3E}">
        <p14:creationId xmlns:p14="http://schemas.microsoft.com/office/powerpoint/2010/main" val="27406303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CCB04-F691-814B-6FD8-2BE900F6C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3783780-CE19-D108-8497-C82FEF0EF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111"/>
          <a:stretch/>
        </p:blipFill>
        <p:spPr>
          <a:xfrm>
            <a:off x="1699669" y="1484313"/>
            <a:ext cx="8935201" cy="48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80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71957-A77B-A6D0-F856-AB1CBCAF7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4FB2CB-93A6-1566-1B82-1C1628785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8290" y="1383754"/>
            <a:ext cx="2509857" cy="4837547"/>
          </a:xfrm>
        </p:spPr>
      </p:pic>
    </p:spTree>
    <p:extLst>
      <p:ext uri="{BB962C8B-B14F-4D97-AF65-F5344CB8AC3E}">
        <p14:creationId xmlns:p14="http://schemas.microsoft.com/office/powerpoint/2010/main" val="3973016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B20CB-D8A0-7FA3-4AB4-F26AF7B0C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(M in MVC)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C7343-1ECD-F62C-B1B0-251AEA8A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Mongoose model to represent a Task.</a:t>
            </a:r>
          </a:p>
          <a:p>
            <a:r>
              <a:rPr lang="en-US" dirty="0">
                <a:solidFill>
                  <a:srgbClr val="FF0000"/>
                </a:solidFill>
              </a:rPr>
              <a:t>backend/models/task.js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B6AD7-00CC-D119-88A7-EDC067617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14" y="2422851"/>
            <a:ext cx="4781177" cy="391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07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51FB-FF8F-F82B-C16C-4DD79B93C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(C in MVC)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35FA-1A73-5ADE-4EF0-424E8B3AA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the logic for handling requests.</a:t>
            </a:r>
          </a:p>
          <a:p>
            <a:r>
              <a:rPr lang="en-US" dirty="0">
                <a:solidFill>
                  <a:srgbClr val="FF0000"/>
                </a:solidFill>
              </a:rPr>
              <a:t>backend/controllers/taskController.js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03EEAC-2CC8-BA21-DE87-6EE673BCC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558552"/>
            <a:ext cx="5440827" cy="3563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209E5A-8A84-6661-CE15-B62F3533F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572" y="2457992"/>
            <a:ext cx="5020608" cy="356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02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B843D-583D-AFFA-9924-7B3301F9D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A3AF8-012C-8F39-DF0C-ED24DDDE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Wire controller functions to HTTP endpoints.</a:t>
            </a:r>
          </a:p>
          <a:p>
            <a:r>
              <a:rPr lang="en-US" dirty="0">
                <a:solidFill>
                  <a:srgbClr val="FF0000"/>
                </a:solidFill>
              </a:rPr>
              <a:t>backend/routes/taskRoutes.js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DF7EA-BB7F-CA4B-CEEE-7F389F92E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38" y="2673868"/>
            <a:ext cx="7781401" cy="315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922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AA21F-B26F-D4C4-E24F-919EC75A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server.js (Express app):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D48E2-9755-E8DF-5557-DFD403B61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setup to use routes and connect to MongoDB.</a:t>
            </a:r>
          </a:p>
          <a:p>
            <a:r>
              <a:rPr lang="en-US" dirty="0">
                <a:solidFill>
                  <a:srgbClr val="FF0000"/>
                </a:solidFill>
              </a:rPr>
              <a:t>backend/server.js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D3804D-019D-2AAC-98EB-15AF5AB96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680" y="2547227"/>
            <a:ext cx="6682390" cy="379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96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C3E61-D23E-EBCF-7DE1-2BF268764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(V in MVC):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5F9F1-A663-E27C-2E01-552BDBF8F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MERN, the frontend (React) is the View.</a:t>
            </a:r>
          </a:p>
          <a:p>
            <a:r>
              <a:rPr lang="en-US" dirty="0">
                <a:solidFill>
                  <a:srgbClr val="FF0000"/>
                </a:solidFill>
              </a:rPr>
              <a:t>frontend/</a:t>
            </a:r>
            <a:r>
              <a:rPr lang="en-US" dirty="0" err="1">
                <a:solidFill>
                  <a:srgbClr val="FF0000"/>
                </a:solidFill>
              </a:rPr>
              <a:t>src</a:t>
            </a:r>
            <a:r>
              <a:rPr lang="en-US" dirty="0">
                <a:solidFill>
                  <a:srgbClr val="FF0000"/>
                </a:solidFill>
              </a:rPr>
              <a:t>/components/TaskList.js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68767-F9CB-911D-877F-248E131B2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568491"/>
            <a:ext cx="5265441" cy="3524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47A8AB-5B4A-92C6-4B6E-0D75E8A03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296" y="2568491"/>
            <a:ext cx="5172943" cy="352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360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A7991-F429-6666-D048-07BBD34B3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796B7-BE90-0982-B8AE-C5D057C39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Model</a:t>
            </a:r>
            <a:r>
              <a:rPr lang="en-US" dirty="0"/>
              <a:t> handles data &amp; schema (MongoDB/Mongoose)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Controller</a:t>
            </a:r>
            <a:r>
              <a:rPr lang="en-US" dirty="0"/>
              <a:t> handles business logic (Node.js / Express)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View</a:t>
            </a:r>
            <a:r>
              <a:rPr lang="en-US" dirty="0"/>
              <a:t> is the React frontend</a:t>
            </a:r>
          </a:p>
        </p:txBody>
      </p:sp>
    </p:spTree>
    <p:extLst>
      <p:ext uri="{BB962C8B-B14F-4D97-AF65-F5344CB8AC3E}">
        <p14:creationId xmlns:p14="http://schemas.microsoft.com/office/powerpoint/2010/main" val="36032868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8774-FA65-76EA-9F56-539664C12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Web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DA652-95A4-DA7D-3527-5CCFFAF97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U.S. Department of Defense(DoD) interested in developing a new large-scale computer network in the 1960’s, which led to ARPAnet (Advanced Research Projects Agency net).</a:t>
            </a:r>
          </a:p>
          <a:p>
            <a:r>
              <a:rPr lang="en-US" dirty="0"/>
              <a:t>Later in 1970’s and 1980’s BITNET(Because It’s Time Network) and CSNET(Computer Science Network) were developed for servicing the institutions of the Universities. </a:t>
            </a:r>
          </a:p>
          <a:p>
            <a:r>
              <a:rPr lang="en-US" dirty="0"/>
              <a:t>In 1986 </a:t>
            </a:r>
            <a:r>
              <a:rPr lang="en-US" dirty="0" err="1"/>
              <a:t>NSFnet</a:t>
            </a:r>
            <a:r>
              <a:rPr lang="en-US" dirty="0"/>
              <a:t> (National Science Foundation) was created and replaced ARPAnet for non-military uses.</a:t>
            </a:r>
          </a:p>
          <a:p>
            <a:r>
              <a:rPr lang="en-US" dirty="0"/>
              <a:t>By 1992, a wide variety of organizations had established nodes on this network and had connected more than 1 million computers around the world.</a:t>
            </a:r>
          </a:p>
          <a:p>
            <a:r>
              <a:rPr lang="en-US" dirty="0"/>
              <a:t>In 1995 a small part of </a:t>
            </a:r>
            <a:r>
              <a:rPr lang="en-US" dirty="0" err="1"/>
              <a:t>NSFnet</a:t>
            </a:r>
            <a:r>
              <a:rPr lang="en-US" dirty="0"/>
              <a:t> returned to being a research network and the rest became as Internet.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9199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5AA62-6426-10DC-92AC-8347A1D3D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The Internet  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7D994-0E76-A3F8-005D-489360726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internet is a huge collection of computers connected in a communication network.</a:t>
            </a:r>
          </a:p>
          <a:p>
            <a:r>
              <a:rPr lang="en-US" dirty="0"/>
              <a:t>Transmission Control Protocol/Internet Protocol (TCP/IP), became the standard for computer network connections in 1982. </a:t>
            </a:r>
          </a:p>
          <a:p>
            <a:r>
              <a:rPr lang="en-US" dirty="0"/>
              <a:t>It can be used directly to allow a program on one computer to communicate with a program on another computer via the Internet.</a:t>
            </a:r>
          </a:p>
          <a:p>
            <a:r>
              <a:rPr lang="en-US" dirty="0"/>
              <a:t>Rather than connecting every computer on the Internet directly to every other computer on the Internet, normally the individual computers in an organization are connected to each other in a local network. (LAN)</a:t>
            </a:r>
          </a:p>
          <a:p>
            <a:r>
              <a:rPr lang="en-US" dirty="0"/>
              <a:t>One node on this local network is physically connected to the Internet. So, the Internet is actually a network of networks rather than a network of computers.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129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6A58-B79C-F065-B05F-0D8D1B9B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Internet-Based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67B43-14F5-9F70-978F-44A4E215C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Email</a:t>
            </a:r>
            <a:r>
              <a:rPr lang="en-US" dirty="0"/>
              <a:t> − A fast, easy, and inexpensive way to communicate with other Internet users around the world.</a:t>
            </a:r>
          </a:p>
          <a:p>
            <a:r>
              <a:rPr lang="en-US" b="1" dirty="0"/>
              <a:t>Telnet</a:t>
            </a:r>
            <a:r>
              <a:rPr lang="en-US" dirty="0"/>
              <a:t> − Allows a user to log into a remote computer as though it were a local system.</a:t>
            </a:r>
          </a:p>
          <a:p>
            <a:r>
              <a:rPr lang="en-US" b="1" dirty="0"/>
              <a:t>FTP</a:t>
            </a:r>
            <a:r>
              <a:rPr lang="en-US" dirty="0"/>
              <a:t> − Allows a user to transfer virtually every kind of file that can be stored on a computer from one Internet-connected computer to another.</a:t>
            </a:r>
          </a:p>
          <a:p>
            <a:r>
              <a:rPr lang="en-US" b="1" dirty="0"/>
              <a:t>UseNet news </a:t>
            </a:r>
            <a:r>
              <a:rPr lang="en-US" dirty="0"/>
              <a:t>− A distributed bulletin board that offers a combination news and discussion service on thousands of topics.</a:t>
            </a:r>
          </a:p>
          <a:p>
            <a:r>
              <a:rPr lang="en-US" b="1" dirty="0"/>
              <a:t>World Wide Web (WWW) </a:t>
            </a:r>
            <a:r>
              <a:rPr lang="en-US" dirty="0"/>
              <a:t>− A hypertext interface to Internet information resources</a:t>
            </a:r>
          </a:p>
        </p:txBody>
      </p:sp>
    </p:spTree>
    <p:extLst>
      <p:ext uri="{BB962C8B-B14F-4D97-AF65-F5344CB8AC3E}">
        <p14:creationId xmlns:p14="http://schemas.microsoft.com/office/powerpoint/2010/main" val="834573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3FF7-CBBF-6746-1517-D743F310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Protocol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7147C-6925-896A-C0A5-9CD92A4A2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Internet nodes are identified by numeric addresses.</a:t>
            </a:r>
          </a:p>
          <a:p>
            <a:r>
              <a:rPr lang="en-US" dirty="0"/>
              <a:t>The Internet Protocol (IP) address of a machine connected to the Internet is a unique 32-bit number. </a:t>
            </a:r>
          </a:p>
          <a:p>
            <a:r>
              <a:rPr lang="en-US" dirty="0"/>
              <a:t>IP addresses usually are written (and thought of) as four 8-bit numbers, separated by periods. </a:t>
            </a:r>
          </a:p>
          <a:p>
            <a:r>
              <a:rPr lang="en-US" dirty="0"/>
              <a:t>The four parts are separately used by Internet-routing computers to decide where a message must go next to get to its destination.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3318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80780-E845-5437-4AB7-942048FC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Internet Protocol Address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DD4674-FA8B-D2E4-F5D8-31B30876A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755861"/>
              </p:ext>
            </p:extLst>
          </p:nvPr>
        </p:nvGraphicFramePr>
        <p:xfrm>
          <a:off x="686271" y="1304140"/>
          <a:ext cx="10025271" cy="514161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5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5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9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909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Class</a:t>
                      </a:r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Address Range</a:t>
                      </a:r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/>
                        <a:t>Supports</a:t>
                      </a:r>
                    </a:p>
                  </a:txBody>
                  <a:tcPr marL="88596" marR="88596" marT="44298" marB="4429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541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Class A</a:t>
                      </a:r>
                      <a:endParaRPr lang="en-US" sz="1700" dirty="0"/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0</a:t>
                      </a:r>
                      <a:r>
                        <a:rPr lang="en-US" sz="1700" dirty="0"/>
                        <a:t>.0.0.0</a:t>
                      </a:r>
                      <a:r>
                        <a:rPr lang="en-US" sz="1700" baseline="0" dirty="0"/>
                        <a:t> </a:t>
                      </a:r>
                      <a:r>
                        <a:rPr lang="en-US" sz="1700" dirty="0"/>
                        <a:t>to </a:t>
                      </a:r>
                      <a:r>
                        <a:rPr lang="en-US" sz="1700" b="1" dirty="0"/>
                        <a:t>127</a:t>
                      </a:r>
                      <a:r>
                        <a:rPr lang="en-US" sz="1700" dirty="0"/>
                        <a:t>.255.255.254</a:t>
                      </a:r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Supports 16 million hosts on each of 127 networks.</a:t>
                      </a:r>
                    </a:p>
                  </a:txBody>
                  <a:tcPr marL="88596" marR="88596" marT="44298" marB="4429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1541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Class B</a:t>
                      </a:r>
                      <a:endParaRPr lang="en-US" sz="1700" dirty="0"/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128</a:t>
                      </a:r>
                      <a:r>
                        <a:rPr lang="en-US" sz="1700" dirty="0"/>
                        <a:t>.1.0.1 to </a:t>
                      </a:r>
                      <a:r>
                        <a:rPr lang="en-US" sz="1700" b="1" dirty="0"/>
                        <a:t>191</a:t>
                      </a:r>
                      <a:r>
                        <a:rPr lang="en-US" sz="1700" dirty="0"/>
                        <a:t>.255.255.254</a:t>
                      </a:r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Supports 65,000 hosts on each of 16,000 networks.</a:t>
                      </a:r>
                    </a:p>
                  </a:txBody>
                  <a:tcPr marL="88596" marR="88596" marT="44298" marB="4429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1541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Class C</a:t>
                      </a:r>
                      <a:endParaRPr lang="en-US" sz="1700" dirty="0"/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192</a:t>
                      </a:r>
                      <a:r>
                        <a:rPr lang="en-US" sz="1700" dirty="0"/>
                        <a:t>.0.1.1 to </a:t>
                      </a:r>
                      <a:r>
                        <a:rPr lang="en-US" sz="1700" b="1" dirty="0"/>
                        <a:t>223</a:t>
                      </a:r>
                      <a:r>
                        <a:rPr lang="en-US" sz="1700" dirty="0"/>
                        <a:t>.255.254.254</a:t>
                      </a:r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Supports 254 hosts on each of 2 million networks.</a:t>
                      </a:r>
                    </a:p>
                  </a:txBody>
                  <a:tcPr marL="88596" marR="88596" marT="44298" marB="4429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1541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Class D</a:t>
                      </a:r>
                      <a:endParaRPr lang="en-US" sz="1700" dirty="0"/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224</a:t>
                      </a:r>
                      <a:r>
                        <a:rPr lang="en-US" sz="1700" dirty="0"/>
                        <a:t>.0.0.0 to </a:t>
                      </a:r>
                      <a:r>
                        <a:rPr lang="en-US" sz="1700" b="1" dirty="0"/>
                        <a:t>239</a:t>
                      </a:r>
                      <a:r>
                        <a:rPr lang="en-US" sz="1700" dirty="0"/>
                        <a:t>.255.255.255</a:t>
                      </a:r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Reserved for Multicast Groups.</a:t>
                      </a:r>
                    </a:p>
                  </a:txBody>
                  <a:tcPr marL="88596" marR="88596" marT="44298" marB="4429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1541"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Class E</a:t>
                      </a:r>
                      <a:endParaRPr lang="en-US" sz="1700" dirty="0"/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b="1" dirty="0"/>
                        <a:t>240</a:t>
                      </a:r>
                      <a:r>
                        <a:rPr lang="en-US" sz="1700" dirty="0"/>
                        <a:t>.0.0.0 to </a:t>
                      </a:r>
                      <a:r>
                        <a:rPr lang="en-US" sz="1700" b="1" dirty="0"/>
                        <a:t>254</a:t>
                      </a:r>
                      <a:r>
                        <a:rPr lang="en-US" sz="1700" dirty="0"/>
                        <a:t>.255.255.254</a:t>
                      </a:r>
                    </a:p>
                  </a:txBody>
                  <a:tcPr marL="88596" marR="88596" marT="44298" marB="44298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Reserved for future use, or Research and Development Purposes.</a:t>
                      </a:r>
                    </a:p>
                  </a:txBody>
                  <a:tcPr marL="88596" marR="88596" marT="44298" marB="4429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6410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E3967-25DF-CB3D-A87E-2DF7F3C98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Submarine Cable World Map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01944E-A5F9-E1A0-E89F-6D501B1CD8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3030" y="1484313"/>
            <a:ext cx="9148827" cy="48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764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1EE1-A7EF-9F33-F95D-8DE5688C8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Domain Names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D9CEDE5-3115-42FB-90A3-0727B8EEECC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484313"/>
            <a:ext cx="10758488" cy="4892675"/>
          </a:xfrm>
          <a:prstGeom prst="rect">
            <a:avLst/>
          </a:prstGeom>
          <a:noFill/>
          <a:ln w="25400"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people have difficulty dealing with and remembering numbers, machines on the Internet also have textual names.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6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600" b="1" dirty="0">
                <a:solidFill>
                  <a:srgbClr val="6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https://www.cbit.ac.in/department-of-information-technology</a:t>
            </a:r>
            <a:r>
              <a:rPr lang="en-US" sz="2400" b="1" dirty="0">
                <a:solidFill>
                  <a:srgbClr val="6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6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12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          Subdomains  Domain Name    Top Level Domain		File Path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host name along with the domain names are together called a </a:t>
            </a:r>
            <a:r>
              <a:rPr lang="en-US" sz="2800" i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fully qualified domain name</a:t>
            </a: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domain names are converted into IP addresses by </a:t>
            </a:r>
            <a:r>
              <a:rPr lang="en-US" sz="2800" i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Name System</a:t>
            </a:r>
            <a:r>
              <a:rPr lang="en-US" sz="28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(DNS)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6F70338-0235-D61A-4789-47B2ABD45B33}"/>
              </a:ext>
            </a:extLst>
          </p:cNvPr>
          <p:cNvCxnSpPr/>
          <p:nvPr/>
        </p:nvCxnSpPr>
        <p:spPr>
          <a:xfrm>
            <a:off x="3561316" y="3170133"/>
            <a:ext cx="0" cy="311728"/>
          </a:xfrm>
          <a:prstGeom prst="straightConnector1">
            <a:avLst/>
          </a:prstGeom>
          <a:ln>
            <a:solidFill>
              <a:srgbClr val="6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4982A51-735B-2335-A083-329097555117}"/>
              </a:ext>
            </a:extLst>
          </p:cNvPr>
          <p:cNvCxnSpPr/>
          <p:nvPr/>
        </p:nvCxnSpPr>
        <p:spPr>
          <a:xfrm>
            <a:off x="4483999" y="3117272"/>
            <a:ext cx="0" cy="311728"/>
          </a:xfrm>
          <a:prstGeom prst="straightConnector1">
            <a:avLst/>
          </a:prstGeom>
          <a:ln>
            <a:solidFill>
              <a:srgbClr val="6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A64063F-370C-C21B-91EF-B09C9541DE46}"/>
              </a:ext>
            </a:extLst>
          </p:cNvPr>
          <p:cNvCxnSpPr/>
          <p:nvPr/>
        </p:nvCxnSpPr>
        <p:spPr>
          <a:xfrm>
            <a:off x="5189375" y="3117272"/>
            <a:ext cx="0" cy="311728"/>
          </a:xfrm>
          <a:prstGeom prst="straightConnector1">
            <a:avLst/>
          </a:prstGeom>
          <a:ln>
            <a:solidFill>
              <a:srgbClr val="6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D0C04F-5C46-43D9-472D-D3BA9D8D4566}"/>
              </a:ext>
            </a:extLst>
          </p:cNvPr>
          <p:cNvCxnSpPr/>
          <p:nvPr/>
        </p:nvCxnSpPr>
        <p:spPr>
          <a:xfrm>
            <a:off x="5668864" y="3170133"/>
            <a:ext cx="0" cy="311728"/>
          </a:xfrm>
          <a:prstGeom prst="straightConnector1">
            <a:avLst/>
          </a:prstGeom>
          <a:ln>
            <a:solidFill>
              <a:srgbClr val="6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Brace 7">
            <a:extLst>
              <a:ext uri="{FF2B5EF4-FFF2-40B4-BE49-F238E27FC236}">
                <a16:creationId xmlns:a16="http://schemas.microsoft.com/office/drawing/2014/main" id="{31547F8D-CB8F-DD38-5445-E62F53B8E690}"/>
              </a:ext>
            </a:extLst>
          </p:cNvPr>
          <p:cNvSpPr/>
          <p:nvPr/>
        </p:nvSpPr>
        <p:spPr>
          <a:xfrm rot="5400000">
            <a:off x="8578645" y="769047"/>
            <a:ext cx="374069" cy="5176242"/>
          </a:xfrm>
          <a:prstGeom prst="rightBrace">
            <a:avLst/>
          </a:prstGeom>
          <a:ln>
            <a:solidFill>
              <a:srgbClr val="6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5125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82B67-420B-11B7-6CF0-09C17A90E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Name System (DNS)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A280E-8EC1-3C97-988B-2CA617810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IP addresses are the addresses used internally by the Internet, But FQDN which is given by a browser user, must be converted to an IP address before the message can be transmitted over the Internet to the destination. </a:t>
            </a:r>
          </a:p>
          <a:p>
            <a:r>
              <a:rPr lang="en-US" dirty="0"/>
              <a:t>These conversions are done by software systems called name servers, which implement the Domain Name System (DNS). </a:t>
            </a:r>
          </a:p>
          <a:p>
            <a:r>
              <a:rPr lang="en-US" dirty="0"/>
              <a:t>Name servers serve a collection of machines on the Internet and are operated by organizations that are responsible for the part of the Internet to which those machines are connected. </a:t>
            </a:r>
          </a:p>
          <a:p>
            <a:r>
              <a:rPr lang="en-US" dirty="0"/>
              <a:t>All document requests from browsers are routed to the nearest name server. </a:t>
            </a:r>
          </a:p>
          <a:p>
            <a:r>
              <a:rPr lang="en-US" dirty="0"/>
              <a:t>If the name server can convert the fully qualified domain name to an IP address, it does so.</a:t>
            </a:r>
          </a:p>
          <a:p>
            <a:r>
              <a:rPr lang="en-US" dirty="0"/>
              <a:t> If it cannot, the name server sends the fully qualified domain name to another name server for conversion. </a:t>
            </a:r>
          </a:p>
          <a:p>
            <a:r>
              <a:rPr lang="en-US" dirty="0"/>
              <a:t>Like IP addresses, fully qualified domain names must be unique.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8237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DF1A7-C196-7048-491C-2A46AC6D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Domain Name Conversion</a:t>
            </a:r>
          </a:p>
        </p:txBody>
      </p:sp>
      <p:pic>
        <p:nvPicPr>
          <p:cNvPr id="4" name="Picture 4" descr="fig01_01">
            <a:extLst>
              <a:ext uri="{FF2B5EF4-FFF2-40B4-BE49-F238E27FC236}">
                <a16:creationId xmlns:a16="http://schemas.microsoft.com/office/drawing/2014/main" id="{6ACFC0EA-DC97-8CAF-B384-6E926FE48C6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45469" y="2482850"/>
            <a:ext cx="8743950" cy="2895600"/>
          </a:xfrm>
          <a:prstGeom prst="rect">
            <a:avLst/>
          </a:prstGeom>
          <a:noFill/>
          <a:ln w="50800">
            <a:solidFill>
              <a:srgbClr val="071D01"/>
            </a:solidFill>
          </a:ln>
        </p:spPr>
      </p:pic>
    </p:spTree>
    <p:extLst>
      <p:ext uri="{BB962C8B-B14F-4D97-AF65-F5344CB8AC3E}">
        <p14:creationId xmlns:p14="http://schemas.microsoft.com/office/powerpoint/2010/main" val="19740993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C643-ACAD-370D-9FB5-12A69FEA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World Wide Web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C87BD-73D6-DDD5-3973-EA6AB89F5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1989, a small group of people led by Tim Berners-Lee at </a:t>
            </a:r>
            <a:r>
              <a:rPr lang="en-US" dirty="0">
                <a:solidFill>
                  <a:srgbClr val="0070C0"/>
                </a:solidFill>
              </a:rPr>
              <a:t>CERN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Conseil </a:t>
            </a:r>
            <a:r>
              <a:rPr lang="en-US" i="1" dirty="0" err="1">
                <a:solidFill>
                  <a:srgbClr val="0070C0"/>
                </a:solidFill>
              </a:rPr>
              <a:t>Européen</a:t>
            </a:r>
            <a:r>
              <a:rPr lang="en-US" i="1" dirty="0">
                <a:solidFill>
                  <a:srgbClr val="0070C0"/>
                </a:solidFill>
              </a:rPr>
              <a:t> pour la Recherche </a:t>
            </a:r>
            <a:r>
              <a:rPr lang="en-US" i="1" dirty="0" err="1">
                <a:solidFill>
                  <a:srgbClr val="0070C0"/>
                </a:solidFill>
              </a:rPr>
              <a:t>Nucléaire</a:t>
            </a:r>
            <a:r>
              <a:rPr lang="en-US" i="1" dirty="0">
                <a:solidFill>
                  <a:srgbClr val="0070C0"/>
                </a:solidFill>
              </a:rPr>
              <a:t>, or European Organization for Particle Physics</a:t>
            </a:r>
            <a:r>
              <a:rPr lang="en-US" dirty="0"/>
              <a:t>),proposed a new protocol for the Internet, as well as a system of document access to use it.</a:t>
            </a:r>
          </a:p>
          <a:p>
            <a:r>
              <a:rPr lang="en-US" dirty="0"/>
              <a:t>The intent of this new system, which the group named the </a:t>
            </a:r>
            <a:r>
              <a:rPr lang="en-US" i="1" dirty="0">
                <a:solidFill>
                  <a:srgbClr val="0070C0"/>
                </a:solidFill>
              </a:rPr>
              <a:t>World Wide Web</a:t>
            </a:r>
            <a:r>
              <a:rPr lang="en-US" dirty="0"/>
              <a:t>, was to allow scientists around the world to use the Internet to exchange documents describing their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7208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7A7B-BE28-B3CE-AA88-2F6F8A35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or Internet?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1F1E7-4AFD-1A95-22A0-79FFCC3B1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Internet is a </a:t>
            </a:r>
            <a:r>
              <a:rPr lang="en-US" i="1" dirty="0">
                <a:solidFill>
                  <a:srgbClr val="0070C0"/>
                </a:solidFill>
              </a:rPr>
              <a:t>collection of computers </a:t>
            </a:r>
            <a:r>
              <a:rPr lang="en-US" dirty="0"/>
              <a:t>and other devices connected by equipment that allows them to communicate with each other. </a:t>
            </a:r>
          </a:p>
          <a:p>
            <a:r>
              <a:rPr lang="en-US" dirty="0"/>
              <a:t>The </a:t>
            </a:r>
            <a:r>
              <a:rPr lang="en-US" i="1" dirty="0">
                <a:solidFill>
                  <a:srgbClr val="0070C0"/>
                </a:solidFill>
              </a:rPr>
              <a:t>World Wide Web</a:t>
            </a:r>
            <a:r>
              <a:rPr lang="en-US" dirty="0"/>
              <a:t> -- also known as the web, WWW or W3 -- refers to all the public </a:t>
            </a:r>
            <a:r>
              <a:rPr lang="en-US" i="1" dirty="0">
                <a:solidFill>
                  <a:srgbClr val="0070C0"/>
                </a:solidFill>
              </a:rPr>
              <a:t>websites or pages</a:t>
            </a:r>
            <a:r>
              <a:rPr lang="en-US" dirty="0"/>
              <a:t> that users can access on their local computers and other devices through the </a:t>
            </a:r>
            <a:r>
              <a:rPr lang="en-US" i="1" dirty="0">
                <a:solidFill>
                  <a:srgbClr val="0070C0"/>
                </a:solidFill>
              </a:rPr>
              <a:t>internet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316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EF70-7862-0079-1ECD-083A2EBAD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Browser and Web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8902E-796A-8485-C3FD-21C7F71A4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i="1" dirty="0">
                <a:solidFill>
                  <a:srgbClr val="0070C0"/>
                </a:solidFill>
              </a:rPr>
              <a:t>browser is a client </a:t>
            </a:r>
            <a:r>
              <a:rPr lang="en-US" dirty="0"/>
              <a:t>on the Web because it initiates the communication with a server, which waits for a request from the client.</a:t>
            </a:r>
          </a:p>
          <a:p>
            <a:r>
              <a:rPr lang="en-US" i="1" dirty="0">
                <a:solidFill>
                  <a:srgbClr val="0070C0"/>
                </a:solidFill>
              </a:rPr>
              <a:t>Web servers are programs </a:t>
            </a:r>
            <a:r>
              <a:rPr lang="en-US" dirty="0"/>
              <a:t>that provide documents to requesting browsers. </a:t>
            </a:r>
          </a:p>
          <a:p>
            <a:r>
              <a:rPr lang="en-US" i="1" dirty="0">
                <a:solidFill>
                  <a:srgbClr val="0070C0"/>
                </a:solidFill>
              </a:rPr>
              <a:t>Servers are slave programs</a:t>
            </a:r>
            <a:r>
              <a:rPr lang="en-US" dirty="0"/>
              <a:t>: They act only when requests are made to them by browsers running on other computers on the Internet.</a:t>
            </a:r>
          </a:p>
          <a:p>
            <a:r>
              <a:rPr lang="en-US" dirty="0"/>
              <a:t>The most </a:t>
            </a:r>
            <a:r>
              <a:rPr lang="en-US" i="1" dirty="0">
                <a:solidFill>
                  <a:srgbClr val="0070C0"/>
                </a:solidFill>
              </a:rPr>
              <a:t>commonly used Web servers are Apache</a:t>
            </a:r>
            <a:r>
              <a:rPr lang="en-US" dirty="0"/>
              <a:t>, which has been implemented for a variety of computer platforms, and Microsoft’s Internet Information Server(IIS), which runs under Windows operating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1406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EFB2-301A-3513-821B-37819C28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Server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CB21C-FA61-965B-7381-C5533B2A5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browsers initiate network communications with servers by sending them URLs</a:t>
            </a:r>
          </a:p>
          <a:p>
            <a:r>
              <a:rPr lang="en-US" dirty="0"/>
              <a:t>A URL can specify one of two different things: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address of a data file stored on the server that is to be sent to the client.												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program stored on the server that the client wants executed, with the output of the program returned to the client.</a:t>
            </a:r>
          </a:p>
          <a:p>
            <a:r>
              <a:rPr lang="en-US" dirty="0"/>
              <a:t>All the communications between a Web client and a Web server use the standard Web protocol, Hypertext Transfer Protocol (HTTP).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112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66BB-63E5-9844-A671-887DBDE4B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Server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4CDBE-D489-B51E-E0D1-DFBEBEEB0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primary task of a Web server is to monitor a communications port on its host machine, accept HTTP commands through that port, and perform the operations specified by the commands. </a:t>
            </a:r>
          </a:p>
          <a:p>
            <a:r>
              <a:rPr lang="en-US" dirty="0"/>
              <a:t>All HTTP commands include a URL, which includes the specification of a host server machine. </a:t>
            </a:r>
          </a:p>
          <a:p>
            <a:r>
              <a:rPr lang="en-US" dirty="0"/>
              <a:t>When the URL is received, it is translated into either a file name (in which case the file is returned to the requesting client) or a program name (in which case the program is run and its output is sent to the requesting client).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099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8923A-BD71-D9DD-867B-4D68CCB7F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Uniform Resource Locators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F411-A611-6FB7-E9F1-E2A4D001D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Uniform (or universal) resource locators (URLs) are used to identify documents (resources) on the Internet.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0070C0"/>
                </a:solidFill>
              </a:rPr>
              <a:t>scheme:object-address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In the case of HTTP, the form of the object address of a URL is as follows: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</a:rPr>
              <a:t>//fully-qualified-domain-name/path-to-document</a:t>
            </a:r>
          </a:p>
          <a:p>
            <a:r>
              <a:rPr lang="en-US" dirty="0"/>
              <a:t>When file is the protocol, the fully qualified domain name is omitted, making the form of such URLs as follows: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</a:rPr>
              <a:t>file://path-to-document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8620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BB2D6-29B7-18A0-85BC-768C8A581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Hyper Text Transfer Protocol(HTTP)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83A54-711E-15D3-2762-A0CB248D8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Web communications transactions use the same protocol: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70C0"/>
                </a:solidFill>
              </a:rPr>
              <a:t> Hypertext Transfer Protocol (HTTP) formally defined as RFC 2616</a:t>
            </a:r>
          </a:p>
          <a:p>
            <a:r>
              <a:rPr lang="en-US" dirty="0"/>
              <a:t>HTTP consists of two phases: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0070C0"/>
                </a:solidFill>
              </a:rPr>
              <a:t>Request and Response. </a:t>
            </a:r>
          </a:p>
          <a:p>
            <a:r>
              <a:rPr lang="en-US" dirty="0"/>
              <a:t>Each HTTP communication (request or response) between a </a:t>
            </a:r>
            <a:r>
              <a:rPr lang="en-US" dirty="0">
                <a:solidFill>
                  <a:srgbClr val="0070C0"/>
                </a:solidFill>
              </a:rPr>
              <a:t>browser and a Web server </a:t>
            </a:r>
            <a:r>
              <a:rPr lang="en-US" dirty="0"/>
              <a:t>consists of two parts: 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0070C0"/>
                </a:solidFill>
              </a:rPr>
              <a:t>Header and a Body. </a:t>
            </a:r>
          </a:p>
          <a:p>
            <a:r>
              <a:rPr lang="en-US" dirty="0"/>
              <a:t>The header contains information about the communication; the body contains the data of the communication if there is any.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7337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4B3E-B7C7-25E9-A32F-8F3B5987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3698E-EBB1-B01D-0E19-72A23534C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are four categories of header fields: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General:</a:t>
            </a:r>
            <a:r>
              <a:rPr lang="en-US" dirty="0"/>
              <a:t> For general information, such as the date.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Request:</a:t>
            </a:r>
            <a:r>
              <a:rPr lang="en-US" dirty="0"/>
              <a:t> Included in request headers.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Response:</a:t>
            </a:r>
            <a:r>
              <a:rPr lang="en-US" dirty="0"/>
              <a:t> For response headers.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Entity:</a:t>
            </a:r>
            <a:r>
              <a:rPr lang="en-US" dirty="0"/>
              <a:t> Used in both request and response headers.</a:t>
            </a:r>
          </a:p>
          <a:p>
            <a:endParaRPr lang="en-US" dirty="0"/>
          </a:p>
        </p:txBody>
      </p:sp>
      <p:pic>
        <p:nvPicPr>
          <p:cNvPr id="5" name="Picture 4" descr="tbl01_02">
            <a:extLst>
              <a:ext uri="{FF2B5EF4-FFF2-40B4-BE49-F238E27FC236}">
                <a16:creationId xmlns:a16="http://schemas.microsoft.com/office/drawing/2014/main" id="{329E1304-3E51-CFD8-28BA-28E146F9D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4875" y="1492170"/>
            <a:ext cx="10382250" cy="2438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8477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1D7AD-59B7-46C9-A821-39CA310CD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Response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EA6CE-CDD4-0B97-3960-D882190B2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general form of an HTTP response is as follows: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Status line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Response header fields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Blank line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Response body</a:t>
            </a:r>
          </a:p>
          <a:p>
            <a:r>
              <a:rPr lang="en-US" dirty="0"/>
              <a:t>The status line includes the HTTP version used, a three-digit status code for the response, and a short textual explanation of the status code. 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</a:rPr>
              <a:t>HTTP/1.1 200 OK</a:t>
            </a:r>
          </a:p>
          <a:p>
            <a:r>
              <a:rPr lang="en-US" dirty="0"/>
              <a:t>The status codes begin with 1, 2, 3, 4, or 5. </a:t>
            </a:r>
          </a:p>
          <a:p>
            <a:endParaRPr lang="en-US" dirty="0"/>
          </a:p>
        </p:txBody>
      </p:sp>
      <p:pic>
        <p:nvPicPr>
          <p:cNvPr id="4" name="Picture 3" descr="tbl01_01">
            <a:extLst>
              <a:ext uri="{FF2B5EF4-FFF2-40B4-BE49-F238E27FC236}">
                <a16:creationId xmlns:a16="http://schemas.microsoft.com/office/drawing/2014/main" id="{6A1B034A-ACB8-AA8F-AB25-A33B81257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b="11786"/>
          <a:stretch>
            <a:fillRect/>
          </a:stretch>
        </p:blipFill>
        <p:spPr bwMode="auto">
          <a:xfrm>
            <a:off x="6632179" y="1908763"/>
            <a:ext cx="4860770" cy="17090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8397737"/>
      </p:ext>
    </p:extLst>
  </p:cSld>
  <p:clrMapOvr>
    <a:masterClrMapping/>
  </p:clrMapOvr>
</p:sld>
</file>

<file path=ppt/theme/theme1.xml><?xml version="1.0" encoding="utf-8"?>
<a:theme xmlns:a="http://schemas.openxmlformats.org/drawingml/2006/main" name="CBIT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Century Schoolbook"/>
        <a:ea typeface=""/>
        <a:cs typeface=""/>
      </a:majorFont>
      <a:minorFont>
        <a:latin typeface="Century School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B10CE23C-0A38-4C5E-9A1F-7B210ECA75A3}" vid="{2539FAF1-33B0-4E85-89AE-0BC5696126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Presentation3</Template>
  <TotalTime>4988</TotalTime>
  <Words>3025</Words>
  <Application>Microsoft Office PowerPoint</Application>
  <PresentationFormat>Widescreen</PresentationFormat>
  <Paragraphs>271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Bookman Old Style</vt:lpstr>
      <vt:lpstr>Century Schoolbook</vt:lpstr>
      <vt:lpstr>Times New Roman</vt:lpstr>
      <vt:lpstr>Wingdings</vt:lpstr>
      <vt:lpstr>CBIT template</vt:lpstr>
      <vt:lpstr>ENTERPRISE APPLICATION DEVELOPMENT</vt:lpstr>
      <vt:lpstr>Unit-I, Module-I Web Fundamentals</vt:lpstr>
      <vt:lpstr>ENTERPRISE APPLICATION DEVELOPMENT</vt:lpstr>
      <vt:lpstr>Technology Related to Full Stack Development</vt:lpstr>
      <vt:lpstr>Technology Related to Full Stack Development</vt:lpstr>
      <vt:lpstr>Syllabus</vt:lpstr>
      <vt:lpstr>Cont..</vt:lpstr>
      <vt:lpstr>Cont..</vt:lpstr>
      <vt:lpstr>Cont..</vt:lpstr>
      <vt:lpstr>Course Objectives:</vt:lpstr>
      <vt:lpstr>Course Outcomes:</vt:lpstr>
      <vt:lpstr>POPULAR TECH STACKS</vt:lpstr>
      <vt:lpstr>Cont..</vt:lpstr>
      <vt:lpstr>Difference between MEAN and MERN</vt:lpstr>
      <vt:lpstr>Stages in Full Stack Developer</vt:lpstr>
      <vt:lpstr>3- Tier Architecture of MERN Stack</vt:lpstr>
      <vt:lpstr>IDE’S Required for FSD-VS Code</vt:lpstr>
      <vt:lpstr>IDE’S Required for FSD-MongoDB Compass</vt:lpstr>
      <vt:lpstr>IDE’S Required for FSD-Postman </vt:lpstr>
      <vt:lpstr>7 Chakras of MERN Stack Developer</vt:lpstr>
      <vt:lpstr>MVC pattern</vt:lpstr>
      <vt:lpstr>MVC pattern</vt:lpstr>
      <vt:lpstr>MVC</vt:lpstr>
      <vt:lpstr>Example structure</vt:lpstr>
      <vt:lpstr>Model (M in MVC)</vt:lpstr>
      <vt:lpstr>Controller (C in MVC)</vt:lpstr>
      <vt:lpstr>Routes</vt:lpstr>
      <vt:lpstr>server.js (Express app):</vt:lpstr>
      <vt:lpstr>View (V in MVC):</vt:lpstr>
      <vt:lpstr>Overall Conclusion</vt:lpstr>
      <vt:lpstr>Introduction: Web Fundamentals</vt:lpstr>
      <vt:lpstr>What The Internet  Is?</vt:lpstr>
      <vt:lpstr>Internet-Based Services</vt:lpstr>
      <vt:lpstr>Internet Protocol Address</vt:lpstr>
      <vt:lpstr>Internet Protocol Address</vt:lpstr>
      <vt:lpstr>Submarine Cable World Map</vt:lpstr>
      <vt:lpstr>Domain Names</vt:lpstr>
      <vt:lpstr>Domain Name System (DNS)</vt:lpstr>
      <vt:lpstr>Domain Name Conversion</vt:lpstr>
      <vt:lpstr>World Wide Web</vt:lpstr>
      <vt:lpstr>Web or Internet?</vt:lpstr>
      <vt:lpstr>Web Browser and Web Server</vt:lpstr>
      <vt:lpstr>Web Server Operation</vt:lpstr>
      <vt:lpstr>Web Server Operation</vt:lpstr>
      <vt:lpstr>Uniform Resource Locators</vt:lpstr>
      <vt:lpstr>Hyper Text Transfer Protocol(HTTP)</vt:lpstr>
      <vt:lpstr>HTTP Request methods</vt:lpstr>
      <vt:lpstr>The Response Phase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shivakumar chary</dc:creator>
  <cp:lastModifiedBy>shivakumar chary</cp:lastModifiedBy>
  <cp:revision>19</cp:revision>
  <dcterms:created xsi:type="dcterms:W3CDTF">2024-07-30T04:26:06Z</dcterms:created>
  <dcterms:modified xsi:type="dcterms:W3CDTF">2026-01-22T04:43:00Z</dcterms:modified>
</cp:coreProperties>
</file>