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0" r:id="rId17"/>
    <p:sldId id="271" r:id="rId18"/>
    <p:sldId id="272" r:id="rId19"/>
    <p:sldId id="285" r:id="rId20"/>
    <p:sldId id="273" r:id="rId21"/>
    <p:sldId id="274" r:id="rId22"/>
    <p:sldId id="286" r:id="rId23"/>
    <p:sldId id="279" r:id="rId24"/>
    <p:sldId id="280" r:id="rId25"/>
    <p:sldId id="275" r:id="rId26"/>
    <p:sldId id="308" r:id="rId27"/>
    <p:sldId id="276" r:id="rId28"/>
    <p:sldId id="277" r:id="rId29"/>
    <p:sldId id="281" r:id="rId30"/>
    <p:sldId id="282" r:id="rId31"/>
    <p:sldId id="283" r:id="rId32"/>
    <p:sldId id="284" r:id="rId33"/>
    <p:sldId id="287" r:id="rId34"/>
    <p:sldId id="288" r:id="rId35"/>
    <p:sldId id="289" r:id="rId36"/>
    <p:sldId id="290" r:id="rId37"/>
    <p:sldId id="291" r:id="rId38"/>
    <p:sldId id="294" r:id="rId39"/>
    <p:sldId id="295" r:id="rId40"/>
    <p:sldId id="292" r:id="rId41"/>
    <p:sldId id="293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12" r:id="rId55"/>
    <p:sldId id="309" r:id="rId56"/>
    <p:sldId id="310" r:id="rId57"/>
    <p:sldId id="311" r:id="rId58"/>
    <p:sldId id="313" r:id="rId59"/>
    <p:sldId id="314" r:id="rId60"/>
    <p:sldId id="316" r:id="rId61"/>
    <p:sldId id="317" r:id="rId62"/>
    <p:sldId id="319" r:id="rId63"/>
    <p:sldId id="315" r:id="rId64"/>
    <p:sldId id="318" r:id="rId65"/>
    <p:sldId id="320" r:id="rId66"/>
    <p:sldId id="321" r:id="rId67"/>
    <p:sldId id="322" r:id="rId68"/>
    <p:sldId id="323" r:id="rId69"/>
    <p:sldId id="324" r:id="rId70"/>
    <p:sldId id="325" r:id="rId71"/>
    <p:sldId id="330" r:id="rId72"/>
    <p:sldId id="331" r:id="rId73"/>
    <p:sldId id="326" r:id="rId74"/>
    <p:sldId id="327" r:id="rId75"/>
    <p:sldId id="328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7" r:id="rId91"/>
    <p:sldId id="348" r:id="rId92"/>
    <p:sldId id="349" r:id="rId93"/>
    <p:sldId id="346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70" r:id="rId113"/>
    <p:sldId id="368" r:id="rId114"/>
    <p:sldId id="369" r:id="rId115"/>
    <p:sldId id="371" r:id="rId116"/>
    <p:sldId id="386" r:id="rId117"/>
    <p:sldId id="387" r:id="rId118"/>
    <p:sldId id="388" r:id="rId119"/>
    <p:sldId id="390" r:id="rId120"/>
    <p:sldId id="389" r:id="rId121"/>
    <p:sldId id="391" r:id="rId122"/>
    <p:sldId id="392" r:id="rId123"/>
    <p:sldId id="393" r:id="rId124"/>
    <p:sldId id="394" r:id="rId125"/>
    <p:sldId id="395" r:id="rId126"/>
    <p:sldId id="396" r:id="rId127"/>
    <p:sldId id="397" r:id="rId128"/>
    <p:sldId id="398" r:id="rId129"/>
    <p:sldId id="399" r:id="rId130"/>
    <p:sldId id="402" r:id="rId131"/>
    <p:sldId id="403" r:id="rId132"/>
    <p:sldId id="404" r:id="rId133"/>
    <p:sldId id="400" r:id="rId134"/>
    <p:sldId id="401" r:id="rId135"/>
    <p:sldId id="405" r:id="rId136"/>
    <p:sldId id="406" r:id="rId137"/>
    <p:sldId id="407" r:id="rId138"/>
    <p:sldId id="408" r:id="rId139"/>
    <p:sldId id="409" r:id="rId140"/>
    <p:sldId id="410" r:id="rId141"/>
    <p:sldId id="414" r:id="rId142"/>
    <p:sldId id="415" r:id="rId143"/>
    <p:sldId id="411" r:id="rId144"/>
    <p:sldId id="412" r:id="rId145"/>
    <p:sldId id="413" r:id="rId146"/>
    <p:sldId id="416" r:id="rId147"/>
    <p:sldId id="417" r:id="rId148"/>
    <p:sldId id="418" r:id="rId149"/>
    <p:sldId id="419" r:id="rId150"/>
    <p:sldId id="420" r:id="rId151"/>
    <p:sldId id="421" r:id="rId152"/>
    <p:sldId id="422" r:id="rId153"/>
    <p:sldId id="423" r:id="rId154"/>
    <p:sldId id="372" r:id="rId155"/>
    <p:sldId id="373" r:id="rId156"/>
    <p:sldId id="374" r:id="rId157"/>
    <p:sldId id="375" r:id="rId158"/>
    <p:sldId id="376" r:id="rId159"/>
    <p:sldId id="377" r:id="rId160"/>
    <p:sldId id="378" r:id="rId161"/>
    <p:sldId id="379" r:id="rId162"/>
    <p:sldId id="380" r:id="rId163"/>
    <p:sldId id="381" r:id="rId164"/>
    <p:sldId id="382" r:id="rId165"/>
    <p:sldId id="383" r:id="rId166"/>
    <p:sldId id="384" r:id="rId167"/>
    <p:sldId id="385" r:id="rId1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8C8E8-C87E-4BB7-ACD6-CE706D5B910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CD35D-2546-480F-9ACD-892430333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98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CD35D-2546-480F-9ACD-892430333A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90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CD35D-2546-480F-9ACD-892430333ABC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90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C64E-C5B4-941B-A037-8093F0FA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984" y="2115214"/>
            <a:ext cx="6746031" cy="1892916"/>
          </a:xfrm>
        </p:spPr>
        <p:txBody>
          <a:bodyPr anchor="b"/>
          <a:lstStyle>
            <a:lvl1pPr algn="ctr"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027BB-3A53-3BCB-35E0-E30731B8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20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E1902-7C2A-86C1-E726-F2BC3E0EC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3264" y="6484159"/>
            <a:ext cx="41148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521E96-5225-9C94-B362-66AA7314F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8826" y="20869"/>
            <a:ext cx="1212980" cy="140166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BEE9A-F4FD-233A-5C35-BF6D76F6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20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52068-FEA2-C93A-26D8-E54E33499814}"/>
              </a:ext>
            </a:extLst>
          </p:cNvPr>
          <p:cNvSpPr/>
          <p:nvPr/>
        </p:nvSpPr>
        <p:spPr>
          <a:xfrm>
            <a:off x="0" y="0"/>
            <a:ext cx="10851502" cy="125374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B9CD40-15C2-D67E-02C1-27BC61BB97DA}"/>
              </a:ext>
            </a:extLst>
          </p:cNvPr>
          <p:cNvSpPr txBox="1"/>
          <p:nvPr/>
        </p:nvSpPr>
        <p:spPr>
          <a:xfrm>
            <a:off x="510136" y="195816"/>
            <a:ext cx="977543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0" dirty="0">
                <a:solidFill>
                  <a:schemeClr val="bg1"/>
                </a:solidFill>
                <a:latin typeface="Bookman Old Style" panose="02050604050505020204" pitchFamily="18" charset="0"/>
              </a:rPr>
              <a:t>CHAITANYA BHARATHI INSTITUTE OF TECHNOLOGY</a:t>
            </a:r>
          </a:p>
          <a:p>
            <a:pPr algn="ctr"/>
            <a:r>
              <a:rPr lang="en-US" sz="2400" b="0" dirty="0">
                <a:solidFill>
                  <a:schemeClr val="bg1"/>
                </a:solidFill>
                <a:latin typeface="Bookman Old Style" panose="02050604050505020204" pitchFamily="18" charset="0"/>
              </a:rPr>
              <a:t>DEPARTMENT OF INFORMATION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DCD4A-950B-65CF-703B-A7E42563B525}"/>
              </a:ext>
            </a:extLst>
          </p:cNvPr>
          <p:cNvSpPr txBox="1"/>
          <p:nvPr/>
        </p:nvSpPr>
        <p:spPr>
          <a:xfrm>
            <a:off x="3918857" y="4432041"/>
            <a:ext cx="411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entury Schoolbook" panose="02040604050505020304" pitchFamily="18" charset="0"/>
              </a:rPr>
              <a:t>By</a:t>
            </a:r>
          </a:p>
          <a:p>
            <a:pPr algn="ctr"/>
            <a:r>
              <a:rPr lang="en-US" b="1" dirty="0">
                <a:solidFill>
                  <a:srgbClr val="972B23"/>
                </a:solidFill>
                <a:latin typeface="Century Schoolbook" panose="02040604050505020304" pitchFamily="18" charset="0"/>
              </a:rPr>
              <a:t>N. Shiva Kumar</a:t>
            </a:r>
          </a:p>
          <a:p>
            <a:pPr algn="ctr"/>
            <a:r>
              <a:rPr lang="en-US" sz="1800" b="1" dirty="0">
                <a:solidFill>
                  <a:srgbClr val="972B23"/>
                </a:solidFill>
                <a:latin typeface="Century Schoolbook" panose="02040604050505020304" pitchFamily="18" charset="0"/>
              </a:rPr>
              <a:t>Assistant Professor,</a:t>
            </a:r>
          </a:p>
          <a:p>
            <a:pPr algn="ctr"/>
            <a:r>
              <a:rPr lang="en-US" sz="1800" b="1" dirty="0">
                <a:solidFill>
                  <a:srgbClr val="972B23"/>
                </a:solidFill>
                <a:latin typeface="Century Schoolbook" panose="02040604050505020304" pitchFamily="18" charset="0"/>
              </a:rPr>
              <a:t>Department of IT.</a:t>
            </a:r>
          </a:p>
          <a:p>
            <a:pPr algn="ctr"/>
            <a:endParaRPr lang="en-US" b="1" dirty="0">
              <a:solidFill>
                <a:srgbClr val="C000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075E4B-1ABF-41BB-6612-8F7BDB66E7A1}"/>
              </a:ext>
            </a:extLst>
          </p:cNvPr>
          <p:cNvSpPr txBox="1">
            <a:spLocks/>
          </p:cNvSpPr>
          <p:nvPr/>
        </p:nvSpPr>
        <p:spPr>
          <a:xfrm>
            <a:off x="2722983" y="4800178"/>
            <a:ext cx="6746031" cy="7227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73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5876-1A8F-0944-96AD-54C480794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17492"/>
            <a:ext cx="10711543" cy="760743"/>
          </a:xfrm>
          <a:solidFill>
            <a:schemeClr val="accent6"/>
          </a:solidFill>
        </p:spPr>
        <p:txBody>
          <a:bodyPr>
            <a:normAutofit/>
          </a:bodyPr>
          <a:lstStyle>
            <a:lvl1pPr marL="625475" indent="0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755F-6BD1-6047-1615-0D5897450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3567"/>
            <a:ext cx="10758197" cy="4894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6D631-B6FE-7474-5577-DBF92673ED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9751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F9617-3CB4-C5D9-8A67-3B7CDC9B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2792" y="6479751"/>
            <a:ext cx="41148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7A38B-D4D3-D387-354F-69FCBF8DD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53196" y="648292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0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983D3-40CB-D2FB-EF6F-C09F80324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482516"/>
            <a:ext cx="5487955" cy="48828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61891-0AD5-589F-2DBD-0F4DC34B0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130" y="1482517"/>
            <a:ext cx="5393093" cy="48828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ED725-A2FA-8EF8-1999-92C76433DB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13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78764-7A82-7B2B-2112-DF27D61F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2830"/>
            <a:ext cx="41148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F8BE8-95D5-D7C1-6A5C-379BC771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5701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EAD9DF1-7596-6AFB-F2CE-1CB587025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17492"/>
            <a:ext cx="10711543" cy="760743"/>
          </a:xfrm>
          <a:solidFill>
            <a:schemeClr val="accent6"/>
          </a:solidFill>
        </p:spPr>
        <p:txBody>
          <a:bodyPr>
            <a:normAutofit/>
          </a:bodyPr>
          <a:lstStyle>
            <a:lvl1pPr marL="625475" indent="0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43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F885-1B42-0FD6-38E9-61AC107B4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36B10-5D77-C155-0E13-02E38EED7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E8C14-1C2D-B072-08F3-1AE676C00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4B6DDD-3184-D90A-6CCB-7ADF3A71B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716A0A-2CEF-E979-2D99-640C041B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12EEC-7D9A-A430-4DCC-AC884294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DF2787-A732-0A28-870A-4EBB6B91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98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FFC4D-86F1-817D-7531-DE5854B37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6984"/>
            <a:ext cx="2743200" cy="365125"/>
          </a:xfrm>
        </p:spPr>
        <p:txBody>
          <a:bodyPr/>
          <a:lstStyle/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1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24391-ECCF-B9DD-9342-B868AFEA86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8807" y="65115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C3346-46EE-B007-14C2-7050AF09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9952"/>
            <a:ext cx="41148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9FA70-12B4-2F40-402C-7479C49E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716" y="649898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0125AD-5B20-8F93-7CE2-D7B5E6E58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17492"/>
            <a:ext cx="10711543" cy="760743"/>
          </a:xfrm>
          <a:solidFill>
            <a:schemeClr val="accent6"/>
          </a:solidFill>
        </p:spPr>
        <p:txBody>
          <a:bodyPr>
            <a:normAutofit/>
          </a:bodyPr>
          <a:lstStyle>
            <a:lvl1pPr marL="690563" indent="0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35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56492-8CD9-DF57-2F04-B09D0A323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B6ACC-5098-E3AF-66B9-DB2D5F70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F6555-FCF4-CCD7-B8E0-98CDD33A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48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29F3-2180-45FB-5653-E943FD28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9BB8B-8D2F-9C99-14E4-1D4363FA1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D63CB-1CB2-B193-4FC5-5A3258BF3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74260-02C2-E003-FBD9-95482873B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A0337-7C2E-D6E6-6B42-651A0E165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34E7D-9F99-D5E0-1615-6D44175A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8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C8E5-F119-A2C6-0419-983C566D9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433748-5397-D039-7549-5BB3EC849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E8E0A-D016-74E7-D000-FA0DC7A85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0427A-CCBA-B419-1A7B-11EEB968A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FBD11-162E-4C5E-43F5-C005FB0DB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66628-EB00-5202-7D88-D614D026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4A96-53D0-AC53-62B5-C290BCBE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F44F9-364A-8E2B-D85E-DE15E5F0D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B3E1B-C252-BF8F-0939-3C3624A22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8FD00-3958-AAC0-B7CE-82CFC236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4DE7-0A63-F977-E0BA-A2675C9C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8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0159A0-8F7B-00FE-151E-111F01510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6E3DE-6248-A4B1-847C-802B2F9B2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F7EE4-0D3A-EE03-0748-3CE6D08E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6FA04-2BE4-A902-F783-A985D8773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93C81-F9D3-65B7-B96E-47FE0D95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3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5775-B2FA-EC37-3FF8-47931B21B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3FE3A-EAAE-2EA9-2D56-8114E1249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6E85B-CF8E-8380-BE48-EB57D358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A5745-D870-B6D5-3F3A-8E7E09AB9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03331-4FD7-D817-E742-DFC69480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8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02DEFF-EE9E-AFAA-F152-FBDDD218A3A3}"/>
              </a:ext>
            </a:extLst>
          </p:cNvPr>
          <p:cNvSpPr/>
          <p:nvPr/>
        </p:nvSpPr>
        <p:spPr>
          <a:xfrm>
            <a:off x="0" y="6496050"/>
            <a:ext cx="12192000" cy="3619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2C70A2-B461-2813-677E-18181BF5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C85EB-8171-B6FE-96CD-3568F647D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762E1-17BB-6F1C-3704-4AFCC7E87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5465ACA-03F4-41DE-AE58-B7B72948A5B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DE173-60DB-0B55-02A8-E7F007378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DF7D2-3EBD-0889-9D94-39A5630F6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14F54D3-3451-4500-9B59-A671EE1585EB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9ECFC8-FDF2-FA84-B4AE-E247B51E91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7141" y="403163"/>
            <a:ext cx="840062" cy="97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34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_jRdgWhv2VxWW0U6w2Q1i7-9CyyroLtc?usp=drive_link" TargetMode="Externa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CUXz2yMn2IG1To9ah85nYFhiLUOntbUy?usp=sharing" TargetMode="External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6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r3IgHE-e7k92ZKJcRWjp8mrC-ZCzHu-y?usp=sharing" TargetMode="Externa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49dvD3blO2jdtrROhlnyey7AcO2E7lh7?usp=sharing" TargetMode="External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Jb8ug6hr4z6VSJjrg4yw3dXQLXxvlJRZ/edit?usp=sharing&amp;ouid=114436048065902357982&amp;rtpof=true&amp;sd=true" TargetMode="Externa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E9EAD9-83E6-56BF-C7B8-5DE7EF02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Unit-3, Module-I</a:t>
            </a:r>
            <a:br>
              <a:rPr lang="en-US" dirty="0"/>
            </a:br>
            <a:r>
              <a:rPr lang="en-US" dirty="0"/>
              <a:t>React JS</a:t>
            </a:r>
          </a:p>
        </p:txBody>
      </p:sp>
    </p:spTree>
    <p:extLst>
      <p:ext uri="{BB962C8B-B14F-4D97-AF65-F5344CB8AC3E}">
        <p14:creationId xmlns:p14="http://schemas.microsoft.com/office/powerpoint/2010/main" val="2262337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5ACD-91B1-C73C-1310-7BB341293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React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B2C35-BC9A-95B2-8061-7D2F6F7EE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ReactJS, a JavaScript library </a:t>
            </a:r>
            <a:r>
              <a:rPr lang="en-US" dirty="0"/>
              <a:t>for creating user interfaces, makes the development of UI components easy and modular.</a:t>
            </a:r>
          </a:p>
          <a:p>
            <a:r>
              <a:rPr lang="en-US" dirty="0"/>
              <a:t>React JS was created by </a:t>
            </a:r>
            <a:r>
              <a:rPr lang="en-US" dirty="0">
                <a:solidFill>
                  <a:srgbClr val="C00000"/>
                </a:solidFill>
              </a:rPr>
              <a:t>Jordan Walke</a:t>
            </a:r>
            <a:r>
              <a:rPr lang="en-US" dirty="0"/>
              <a:t>, a software engineer at </a:t>
            </a:r>
            <a:r>
              <a:rPr lang="en-US" dirty="0">
                <a:solidFill>
                  <a:srgbClr val="C00000"/>
                </a:solidFill>
              </a:rPr>
              <a:t>Facebook and open sourced </a:t>
            </a:r>
            <a:r>
              <a:rPr lang="en-US" dirty="0"/>
              <a:t>to the world by </a:t>
            </a:r>
            <a:r>
              <a:rPr lang="en-US" dirty="0">
                <a:solidFill>
                  <a:srgbClr val="0070C0"/>
                </a:solidFill>
              </a:rPr>
              <a:t>Facebook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Instagram</a:t>
            </a:r>
            <a:r>
              <a:rPr lang="en-US" dirty="0"/>
              <a:t>.</a:t>
            </a:r>
          </a:p>
          <a:p>
            <a:r>
              <a:rPr lang="en-US" dirty="0"/>
              <a:t>It focuses only on the </a:t>
            </a:r>
            <a:r>
              <a:rPr lang="en-US" dirty="0">
                <a:solidFill>
                  <a:srgbClr val="C00000"/>
                </a:solidFill>
              </a:rPr>
              <a:t>view layer </a:t>
            </a:r>
            <a:r>
              <a:rPr lang="en-US" dirty="0"/>
              <a:t>of an application (the UI).</a:t>
            </a:r>
          </a:p>
          <a:p>
            <a:r>
              <a:rPr lang="en-US" dirty="0"/>
              <a:t>Official tagline: “</a:t>
            </a:r>
            <a:r>
              <a:rPr lang="en-US" i="1" dirty="0">
                <a:solidFill>
                  <a:srgbClr val="0070C0"/>
                </a:solidFill>
              </a:rPr>
              <a:t>A JavaScript library for building user interfaces</a:t>
            </a:r>
            <a:r>
              <a:rPr lang="en-US" dirty="0"/>
              <a:t>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BA3C9-B3AD-252A-5EA1-434EA0B5C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647" y="1483567"/>
            <a:ext cx="3824910" cy="128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3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F8DCD-3EF6-6E47-32D3-014ACC46E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did Facebook build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C5425-253A-EEB7-128A-67E2D3D31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Back in 2011, Facebook had huge problems:</a:t>
            </a:r>
          </a:p>
          <a:p>
            <a:pPr lvl="1"/>
            <a:r>
              <a:rPr lang="en-US" dirty="0"/>
              <a:t>Their UI was becoming too complex.</a:t>
            </a:r>
          </a:p>
          <a:p>
            <a:pPr lvl="1"/>
            <a:r>
              <a:rPr lang="en-US" dirty="0"/>
              <a:t>Every time a </a:t>
            </a:r>
            <a:r>
              <a:rPr lang="en-US" dirty="0">
                <a:solidFill>
                  <a:srgbClr val="0070C0"/>
                </a:solidFill>
              </a:rPr>
              <a:t>user liked a post, wrote a comment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or received a notification</a:t>
            </a:r>
            <a:r>
              <a:rPr lang="en-US" dirty="0"/>
              <a:t> → the </a:t>
            </a:r>
            <a:r>
              <a:rPr lang="en-US" dirty="0">
                <a:solidFill>
                  <a:srgbClr val="C00000"/>
                </a:solidFill>
              </a:rPr>
              <a:t>entire page had to reload</a:t>
            </a:r>
            <a:r>
              <a:rPr lang="en-US" dirty="0"/>
              <a:t>.</a:t>
            </a:r>
          </a:p>
          <a:p>
            <a:r>
              <a:rPr lang="en-US" dirty="0"/>
              <a:t>Facebook engineers wanted a faster way to update only what </a:t>
            </a:r>
            <a:r>
              <a:rPr lang="en-US" dirty="0">
                <a:solidFill>
                  <a:srgbClr val="0070C0"/>
                </a:solidFill>
              </a:rPr>
              <a:t>changed without reloading everything </a:t>
            </a:r>
            <a:r>
              <a:rPr lang="en-US" dirty="0"/>
              <a:t>→ </a:t>
            </a:r>
            <a:r>
              <a:rPr lang="en-US" dirty="0">
                <a:solidFill>
                  <a:srgbClr val="C00000"/>
                </a:solidFill>
              </a:rPr>
              <a:t>React was born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Break the UI into </a:t>
            </a:r>
            <a:r>
              <a:rPr lang="en-US" dirty="0">
                <a:solidFill>
                  <a:srgbClr val="C00000"/>
                </a:solidFill>
              </a:rPr>
              <a:t>components</a:t>
            </a:r>
            <a:r>
              <a:rPr lang="en-US" dirty="0"/>
              <a:t> (small reusable pieces).</a:t>
            </a:r>
          </a:p>
          <a:p>
            <a:r>
              <a:rPr lang="en-US" dirty="0"/>
              <a:t>Use a </a:t>
            </a:r>
            <a:r>
              <a:rPr lang="en-US" dirty="0">
                <a:solidFill>
                  <a:srgbClr val="C00000"/>
                </a:solidFill>
              </a:rPr>
              <a:t>Virtual DOM </a:t>
            </a:r>
            <a:r>
              <a:rPr lang="en-US" dirty="0"/>
              <a:t>to efficiently update only the changed parts.</a:t>
            </a:r>
          </a:p>
          <a:p>
            <a:r>
              <a:rPr lang="en-US" dirty="0"/>
              <a:t>Make apps faster, scalable, and easier to maintain.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D5BE4C-8611-C2B8-1289-094234CAC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103" y="1278235"/>
            <a:ext cx="2264115" cy="7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73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066DB4-4CBD-5888-B79D-9AF443C7E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039" y="4230157"/>
            <a:ext cx="2211462" cy="7607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1DEEED-2A64-5756-BF1D-456597DC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Popularity &amp;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779A4-34AE-52CA-7AF6-2463AE432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is one of the most </a:t>
            </a:r>
            <a:r>
              <a:rPr lang="en-US" dirty="0">
                <a:solidFill>
                  <a:srgbClr val="C00000"/>
                </a:solidFill>
              </a:rPr>
              <a:t>popular front-end frameworks / libraries</a:t>
            </a:r>
            <a:r>
              <a:rPr lang="en-US" dirty="0"/>
              <a:t>.</a:t>
            </a:r>
          </a:p>
          <a:p>
            <a:r>
              <a:rPr lang="en-US" dirty="0"/>
              <a:t>Used by companies like </a:t>
            </a:r>
            <a:r>
              <a:rPr lang="en-US" b="1" i="1" dirty="0">
                <a:solidFill>
                  <a:srgbClr val="0070C0"/>
                </a:solidFill>
              </a:rPr>
              <a:t>Meta</a:t>
            </a:r>
            <a:r>
              <a:rPr lang="en-US" dirty="0"/>
              <a:t> (Facebook, Instagram, WhatsApp Web), </a:t>
            </a:r>
            <a:r>
              <a:rPr lang="en-US" b="1" i="1" dirty="0">
                <a:solidFill>
                  <a:srgbClr val="0070C0"/>
                </a:solidFill>
              </a:rPr>
              <a:t>Netflix, Airbnb, Uber, Flipkart, Swiggy</a:t>
            </a:r>
            <a:r>
              <a:rPr lang="en-US" dirty="0"/>
              <a:t>.</a:t>
            </a:r>
          </a:p>
          <a:p>
            <a:r>
              <a:rPr lang="en-US" dirty="0"/>
              <a:t>Huge community support, thousands of </a:t>
            </a:r>
            <a:r>
              <a:rPr lang="en-US" dirty="0">
                <a:solidFill>
                  <a:srgbClr val="C00000"/>
                </a:solidFill>
              </a:rPr>
              <a:t>free packages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634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3711-373F-3A0A-207A-4E348FAD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Learning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D11D0-5686-4BCE-4485-C15646962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Industry Demand </a:t>
            </a:r>
            <a:r>
              <a:rPr lang="en-US" dirty="0"/>
              <a:t>→ React developers are highly in demand.</a:t>
            </a:r>
          </a:p>
          <a:p>
            <a:r>
              <a:rPr lang="en-US" dirty="0">
                <a:solidFill>
                  <a:srgbClr val="C00000"/>
                </a:solidFill>
              </a:rPr>
              <a:t>Reusable Components </a:t>
            </a:r>
            <a:r>
              <a:rPr lang="en-US" dirty="0"/>
              <a:t>→ build once, use everywhere.</a:t>
            </a:r>
          </a:p>
          <a:p>
            <a:r>
              <a:rPr lang="en-US" dirty="0">
                <a:solidFill>
                  <a:srgbClr val="C00000"/>
                </a:solidFill>
              </a:rPr>
              <a:t>Cross-platform</a:t>
            </a:r>
            <a:r>
              <a:rPr lang="en-US" dirty="0"/>
              <a:t> → not just websites:</a:t>
            </a:r>
          </a:p>
          <a:p>
            <a:pPr lvl="1"/>
            <a:r>
              <a:rPr lang="en-US" dirty="0"/>
              <a:t>React Native → mobile apps (Android/iOS).</a:t>
            </a:r>
          </a:p>
          <a:p>
            <a:pPr lvl="1"/>
            <a:r>
              <a:rPr lang="en-US" dirty="0"/>
              <a:t>Next.js → server-side rendering + full-stack apps.</a:t>
            </a:r>
          </a:p>
          <a:p>
            <a:r>
              <a:rPr lang="en-US" dirty="0">
                <a:solidFill>
                  <a:srgbClr val="C00000"/>
                </a:solidFill>
              </a:rPr>
              <a:t>Strong Ecosystem </a:t>
            </a:r>
            <a:r>
              <a:rPr lang="en-US" dirty="0"/>
              <a:t>→ Router, State management (Redux, Context API), UI libraries, etc.</a:t>
            </a:r>
          </a:p>
        </p:txBody>
      </p:sp>
    </p:spTree>
    <p:extLst>
      <p:ext uri="{BB962C8B-B14F-4D97-AF65-F5344CB8AC3E}">
        <p14:creationId xmlns:p14="http://schemas.microsoft.com/office/powerpoint/2010/main" val="1840957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504CA-6916-EFCF-3753-53FA8194B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React 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0BC47-2065-F898-5A2C-624479AC3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Let's have a look at the below post on Facebook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49ABB-AE3F-2AD0-7F11-446F62B296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032" y="2180237"/>
            <a:ext cx="3448473" cy="4160271"/>
          </a:xfrm>
          <a:prstGeom prst="rect">
            <a:avLst/>
          </a:prstGeom>
          <a:ln w="57150">
            <a:solidFill>
              <a:srgbClr val="0033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B60CBE-D8BF-5505-67A7-401045C15A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323" y="2180237"/>
            <a:ext cx="3451884" cy="4160271"/>
          </a:xfrm>
          <a:prstGeom prst="rect">
            <a:avLst/>
          </a:prstGeom>
          <a:ln w="63500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056279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CEE5-AD22-0BC9-84BD-A664DBEE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React 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7AD09-6278-4A49-E8EE-1EF57F157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Facebook application has to do the changes by </a:t>
            </a:r>
            <a:r>
              <a:rPr lang="en-US" dirty="0">
                <a:solidFill>
                  <a:srgbClr val="C00000"/>
                </a:solidFill>
              </a:rPr>
              <a:t>updating DOM tree</a:t>
            </a:r>
            <a:r>
              <a:rPr lang="en-US" dirty="0"/>
              <a:t> of the page and </a:t>
            </a:r>
            <a:r>
              <a:rPr lang="en-US" dirty="0">
                <a:solidFill>
                  <a:srgbClr val="C00000"/>
                </a:solidFill>
              </a:rPr>
              <a:t>re-rendering the page </a:t>
            </a:r>
            <a:r>
              <a:rPr lang="en-US" dirty="0"/>
              <a:t>in browser. </a:t>
            </a:r>
          </a:p>
          <a:p>
            <a:r>
              <a:rPr lang="en-US" dirty="0"/>
              <a:t>Considering the application </a:t>
            </a:r>
            <a:r>
              <a:rPr lang="en-US" dirty="0">
                <a:solidFill>
                  <a:srgbClr val="C00000"/>
                </a:solidFill>
              </a:rPr>
              <a:t>size of Facebook </a:t>
            </a:r>
            <a:r>
              <a:rPr lang="en-US" dirty="0"/>
              <a:t>which has more than </a:t>
            </a:r>
            <a:r>
              <a:rPr lang="en-US" dirty="0">
                <a:solidFill>
                  <a:srgbClr val="C00000"/>
                </a:solidFill>
              </a:rPr>
              <a:t>1.6 billion daily users and 500,000 “likes” </a:t>
            </a:r>
            <a:r>
              <a:rPr lang="en-US" dirty="0"/>
              <a:t>every minutes, this was a challenge to the engineers of Facebook.</a:t>
            </a:r>
          </a:p>
          <a:p>
            <a:r>
              <a:rPr lang="en-US" dirty="0">
                <a:solidFill>
                  <a:srgbClr val="C00000"/>
                </a:solidFill>
              </a:rPr>
              <a:t>React JS library </a:t>
            </a:r>
            <a:r>
              <a:rPr lang="en-US" dirty="0"/>
              <a:t>which optimizes DOM manipulation by writing very simple 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253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35D51-A45C-336E-B38E-B10C2F7DB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React 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99CB-A1DD-D513-AD13-84AF0C45F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 plain JS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DOM manipulation is manual → </a:t>
            </a:r>
            <a:r>
              <a:rPr lang="en-US" dirty="0" err="1">
                <a:latin typeface="Consolas" panose="020B0609020204030204" pitchFamily="49" charset="0"/>
              </a:rPr>
              <a:t>document.getElementById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everywhere.</a:t>
            </a:r>
          </a:p>
          <a:p>
            <a:pPr lvl="1"/>
            <a:r>
              <a:rPr lang="en-US" dirty="0"/>
              <a:t>Updating UI requires selecting nodes &amp; rewriting HTML.</a:t>
            </a:r>
          </a:p>
          <a:p>
            <a:r>
              <a:rPr lang="en-US" dirty="0">
                <a:solidFill>
                  <a:srgbClr val="C00000"/>
                </a:solidFill>
              </a:rPr>
              <a:t>In jQuery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Easier than plain JS but still directly manipulates DOM → leads to slow performance in big apps.</a:t>
            </a:r>
          </a:p>
          <a:p>
            <a:pPr lvl="1"/>
            <a:r>
              <a:rPr lang="en-US" dirty="0"/>
              <a:t>Not scalable for large, dynamic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920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FE43-E34C-A5F4-D1F9-2D5DB382C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React JS?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981896-C4D5-337C-8B99-E5F48CA51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249" y="1530504"/>
            <a:ext cx="7246775" cy="47311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3E4C01-0FE5-CE20-CFF5-75E252236C91}"/>
              </a:ext>
            </a:extLst>
          </p:cNvPr>
          <p:cNvSpPr txBox="1"/>
          <p:nvPr/>
        </p:nvSpPr>
        <p:spPr>
          <a:xfrm>
            <a:off x="6096000" y="5724147"/>
            <a:ext cx="5478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Every update re-writes entire DOM → inefficient.</a:t>
            </a:r>
          </a:p>
        </p:txBody>
      </p:sp>
    </p:spTree>
    <p:extLst>
      <p:ext uri="{BB962C8B-B14F-4D97-AF65-F5344CB8AC3E}">
        <p14:creationId xmlns:p14="http://schemas.microsoft.com/office/powerpoint/2010/main" val="4026320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14379-C2BC-679F-4B97-C60D87E4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Page Application (SPA)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30CA1-3E69-39EB-FBAA-7C27D0FCD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Traditional websites </a:t>
            </a:r>
            <a:r>
              <a:rPr lang="en-US" dirty="0"/>
              <a:t>→ every click reloads full page.</a:t>
            </a:r>
          </a:p>
          <a:p>
            <a:r>
              <a:rPr lang="en-US" dirty="0">
                <a:solidFill>
                  <a:srgbClr val="C00000"/>
                </a:solidFill>
              </a:rPr>
              <a:t>SPA</a:t>
            </a:r>
            <a:r>
              <a:rPr lang="en-US" dirty="0"/>
              <a:t> → loads once, then dynamically updates content using JS.</a:t>
            </a:r>
          </a:p>
          <a:p>
            <a:r>
              <a:rPr lang="en-US" dirty="0">
                <a:solidFill>
                  <a:srgbClr val="C00000"/>
                </a:solidFill>
              </a:rPr>
              <a:t>React</a:t>
            </a:r>
            <a:r>
              <a:rPr lang="en-US" dirty="0"/>
              <a:t> helps in building </a:t>
            </a:r>
            <a:r>
              <a:rPr lang="en-US" dirty="0">
                <a:solidFill>
                  <a:srgbClr val="C00000"/>
                </a:solidFill>
              </a:rPr>
              <a:t>SPAs easily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Normal site</a:t>
            </a:r>
            <a:r>
              <a:rPr lang="en-US" dirty="0"/>
              <a:t>: Home → About → reloads whole HTML.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SPA</a:t>
            </a:r>
            <a:r>
              <a:rPr lang="en-US" dirty="0"/>
              <a:t>: Only content changes; header/footer stay same.</a:t>
            </a:r>
          </a:p>
        </p:txBody>
      </p:sp>
    </p:spTree>
    <p:extLst>
      <p:ext uri="{BB962C8B-B14F-4D97-AF65-F5344CB8AC3E}">
        <p14:creationId xmlns:p14="http://schemas.microsoft.com/office/powerpoint/2010/main" val="2942272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0D4D-9409-780C-9AA5-2F0D5AD6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18221-76E6-1A71-BFEA-0700F3E0C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Component-based</a:t>
            </a:r>
            <a:r>
              <a:rPr lang="en-US" dirty="0"/>
              <a:t> → Build small reusable parts (button, navbar, form).</a:t>
            </a:r>
          </a:p>
          <a:p>
            <a:r>
              <a:rPr lang="en-US" dirty="0">
                <a:solidFill>
                  <a:srgbClr val="C00000"/>
                </a:solidFill>
              </a:rPr>
              <a:t>Virtual DOM </a:t>
            </a:r>
            <a:r>
              <a:rPr lang="en-US" dirty="0"/>
              <a:t>→ Fast updates without touching actual DOM much.</a:t>
            </a:r>
          </a:p>
          <a:p>
            <a:r>
              <a:rPr lang="en-US" dirty="0">
                <a:solidFill>
                  <a:srgbClr val="C00000"/>
                </a:solidFill>
              </a:rPr>
              <a:t>Reusable UI </a:t>
            </a:r>
            <a:r>
              <a:rPr lang="en-US" dirty="0"/>
              <a:t>→ Same component used multiple times.</a:t>
            </a:r>
          </a:p>
          <a:p>
            <a:r>
              <a:rPr lang="en-US" dirty="0">
                <a:solidFill>
                  <a:srgbClr val="C00000"/>
                </a:solidFill>
              </a:rPr>
              <a:t>Fast UI updates </a:t>
            </a:r>
            <a:r>
              <a:rPr lang="en-US" dirty="0"/>
              <a:t>→ Only changes are updated, not whole page.</a:t>
            </a:r>
          </a:p>
          <a:p>
            <a:r>
              <a:rPr lang="en-US" dirty="0">
                <a:solidFill>
                  <a:srgbClr val="C00000"/>
                </a:solidFill>
              </a:rPr>
              <a:t>JSX </a:t>
            </a:r>
            <a:r>
              <a:rPr lang="en-US" dirty="0"/>
              <a:t>→ Write HTML-like code inside JavaScript for clear component structure</a:t>
            </a:r>
            <a:r>
              <a:rPr lang="en-US" dirty="0">
                <a:solidFill>
                  <a:srgbClr val="C00000"/>
                </a:solidFill>
              </a:rPr>
              <a:t>. </a:t>
            </a:r>
          </a:p>
          <a:p>
            <a:r>
              <a:rPr lang="en-US" dirty="0">
                <a:solidFill>
                  <a:srgbClr val="C00000"/>
                </a:solidFill>
              </a:rPr>
              <a:t>One-Way Data Binding </a:t>
            </a:r>
            <a:r>
              <a:rPr lang="en-US" dirty="0"/>
              <a:t>→ Data flows in one direction → easier to debug.</a:t>
            </a:r>
          </a:p>
          <a:p>
            <a:r>
              <a:rPr lang="en-US" dirty="0">
                <a:solidFill>
                  <a:srgbClr val="C00000"/>
                </a:solidFill>
              </a:rPr>
              <a:t>Declarative Style </a:t>
            </a:r>
            <a:r>
              <a:rPr lang="en-US" dirty="0"/>
              <a:t>→ Describe what UI looks like, not how to build it.</a:t>
            </a:r>
          </a:p>
          <a:p>
            <a:r>
              <a:rPr lang="en-US" dirty="0">
                <a:solidFill>
                  <a:srgbClr val="C00000"/>
                </a:solidFill>
              </a:rPr>
              <a:t>Community &amp; Ecosystem </a:t>
            </a:r>
            <a:r>
              <a:rPr lang="en-US" dirty="0"/>
              <a:t>→ Huge support, libraries, and resources.</a:t>
            </a:r>
          </a:p>
        </p:txBody>
      </p:sp>
    </p:spTree>
    <p:extLst>
      <p:ext uri="{BB962C8B-B14F-4D97-AF65-F5344CB8AC3E}">
        <p14:creationId xmlns:p14="http://schemas.microsoft.com/office/powerpoint/2010/main" val="1023604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52B3-E40E-DB09-FBD9-EDD938C3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8B2C6-0432-005B-9691-216955CDE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To install create-react-app, follow the below steps:</a:t>
            </a:r>
          </a:p>
          <a:p>
            <a:r>
              <a:rPr lang="en-US" dirty="0">
                <a:solidFill>
                  <a:srgbClr val="C00000"/>
                </a:solidFill>
              </a:rPr>
              <a:t>Install node.js </a:t>
            </a:r>
            <a:r>
              <a:rPr lang="en-US" dirty="0"/>
              <a:t>with version </a:t>
            </a:r>
            <a:r>
              <a:rPr lang="en-US" dirty="0">
                <a:solidFill>
                  <a:srgbClr val="C00000"/>
                </a:solidFill>
              </a:rPr>
              <a:t>v20.X.X</a:t>
            </a:r>
            <a:r>
              <a:rPr lang="en-US" dirty="0"/>
              <a:t> from Node.js official site or from Software House.</a:t>
            </a:r>
          </a:p>
          <a:p>
            <a:pPr lvl="1"/>
            <a:r>
              <a:rPr lang="en-US" dirty="0"/>
              <a:t>Download from </a:t>
            </a:r>
            <a:r>
              <a:rPr lang="en-US" dirty="0">
                <a:hlinkClick r:id="rId2"/>
              </a:rPr>
              <a:t>https://nodejs.org</a:t>
            </a:r>
            <a:endParaRPr lang="en-US" dirty="0"/>
          </a:p>
          <a:p>
            <a:pPr lvl="1"/>
            <a:r>
              <a:rPr lang="en-US" dirty="0"/>
              <a:t>Check versions: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node -v</a:t>
            </a:r>
          </a:p>
          <a:p>
            <a:pPr lvl="2"/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-v</a:t>
            </a:r>
          </a:p>
          <a:p>
            <a:r>
              <a:rPr lang="en-US" dirty="0"/>
              <a:t>Create React App : </a:t>
            </a:r>
            <a:r>
              <a:rPr lang="en-US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create-react-app by running the of following command (3 methods)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&gt;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install -g create-react-app</a:t>
            </a:r>
          </a:p>
          <a:p>
            <a:r>
              <a:rPr lang="en-US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the installation is done, create a React app using the below command: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&gt;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create-react-app my-app</a:t>
            </a:r>
          </a:p>
        </p:txBody>
      </p:sp>
    </p:spTree>
    <p:extLst>
      <p:ext uri="{BB962C8B-B14F-4D97-AF65-F5344CB8AC3E}">
        <p14:creationId xmlns:p14="http://schemas.microsoft.com/office/powerpoint/2010/main" val="927469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0ADC-EC7A-A2BF-5703-F0D5915D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89F1-B510-2409-969F-34194E58E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Method</a:t>
            </a:r>
          </a:p>
          <a:p>
            <a:r>
              <a:rPr lang="en-US" dirty="0"/>
              <a:t>If you </a:t>
            </a:r>
            <a:r>
              <a:rPr lang="en-US" dirty="0">
                <a:solidFill>
                  <a:srgbClr val="C00000"/>
                </a:solidFill>
              </a:rPr>
              <a:t>do not want to install create-react-app </a:t>
            </a:r>
            <a:r>
              <a:rPr lang="en-US" dirty="0"/>
              <a:t>then you can use the below command to create a React application.</a:t>
            </a:r>
          </a:p>
          <a:p>
            <a:pPr lvl="1"/>
            <a:r>
              <a:rPr lang="en-US" dirty="0"/>
              <a:t>&gt;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npx create-react-app my-app</a:t>
            </a:r>
          </a:p>
          <a:p>
            <a:r>
              <a:rPr lang="en-US" dirty="0"/>
              <a:t>Next go to the project folder and Run the application</a:t>
            </a:r>
          </a:p>
          <a:p>
            <a:pPr lvl="1"/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cd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myapp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start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Method</a:t>
            </a:r>
          </a:p>
          <a:p>
            <a:r>
              <a:rPr lang="en-US" dirty="0">
                <a:solidFill>
                  <a:srgbClr val="C00000"/>
                </a:solidFill>
              </a:rPr>
              <a:t>Vite Setup </a:t>
            </a:r>
            <a:r>
              <a:rPr lang="en-US" dirty="0"/>
              <a:t>(faster alternative)</a:t>
            </a:r>
          </a:p>
          <a:p>
            <a:pPr lvl="1"/>
            <a:r>
              <a:rPr lang="en-US" dirty="0"/>
              <a:t>&gt;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create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vite@latest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myapp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/>
              <a:t>&gt;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cd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myapp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/>
              <a:t>&gt;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install</a:t>
            </a:r>
          </a:p>
          <a:p>
            <a:pPr lvl="1"/>
            <a:r>
              <a:rPr lang="en-US" dirty="0"/>
              <a:t>&gt;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run dev</a:t>
            </a:r>
          </a:p>
        </p:txBody>
      </p:sp>
    </p:spTree>
    <p:extLst>
      <p:ext uri="{BB962C8B-B14F-4D97-AF65-F5344CB8AC3E}">
        <p14:creationId xmlns:p14="http://schemas.microsoft.com/office/powerpoint/2010/main" val="3208030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036E-D27D-15AD-C9A9-CC6D71693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npx</a:t>
            </a:r>
            <a:r>
              <a:rPr lang="en-US" dirty="0"/>
              <a:t> VS Vite Setup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F5855F-F6E4-EE5B-716D-8B5C83C99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9497890"/>
              </p:ext>
            </p:extLst>
          </p:nvPr>
        </p:nvGraphicFramePr>
        <p:xfrm>
          <a:off x="838200" y="1847408"/>
          <a:ext cx="10515600" cy="256032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461591">
                  <a:extLst>
                    <a:ext uri="{9D8B030D-6E8A-4147-A177-3AD203B41FA5}">
                      <a16:colId xmlns:a16="http://schemas.microsoft.com/office/drawing/2014/main" val="3627958241"/>
                    </a:ext>
                  </a:extLst>
                </a:gridCol>
                <a:gridCol w="4548809">
                  <a:extLst>
                    <a:ext uri="{9D8B030D-6E8A-4147-A177-3AD203B41FA5}">
                      <a16:colId xmlns:a16="http://schemas.microsoft.com/office/drawing/2014/main" val="17095212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6586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npx</a:t>
                      </a:r>
                      <a:r>
                        <a:rPr lang="en-US" b="1" dirty="0"/>
                        <a:t> create-react-app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Vite Setup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966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npx create-react-app myapp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npm create vite@latest myapp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736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Bundler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Webpack (older)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Vite (ESBuild + Rollup)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635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 Server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http://localhost:3000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http://localhost:5173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523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Slower (heavier)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Much faster (modern)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238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Project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665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Legacy, less preferred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Recommended by React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7945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232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E00F-9182-50D1-BA3F-B20F1A0C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Structure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8EEFA-769E-F271-1616-F824C7FFD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Key folders/files (after setup):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344159-47EF-F2D3-AEB0-B666509A6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106070"/>
              </p:ext>
            </p:extLst>
          </p:nvPr>
        </p:nvGraphicFramePr>
        <p:xfrm>
          <a:off x="1026437" y="2032636"/>
          <a:ext cx="7943038" cy="3056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1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1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826"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Files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826">
                <a:tc>
                  <a:txBody>
                    <a:bodyPr/>
                    <a:lstStyle/>
                    <a:p>
                      <a:pPr algn="just"/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node_modules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the node module dependencies are created in this folder.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26">
                <a:tc>
                  <a:txBody>
                    <a:bodyPr/>
                    <a:lstStyle/>
                    <a:p>
                      <a:pPr algn="just"/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folder contains the public static assets of the application.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247">
                <a:tc>
                  <a:txBody>
                    <a:bodyPr/>
                    <a:lstStyle/>
                    <a:p>
                      <a:pPr algn="just"/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public/index.html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is the first page that gets loaded when you run the application.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826">
                <a:tc>
                  <a:txBody>
                    <a:bodyPr/>
                    <a:lstStyle/>
                    <a:p>
                      <a:pPr algn="just"/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application related files/folders are created in this folder.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826">
                <a:tc>
                  <a:txBody>
                    <a:bodyPr/>
                    <a:lstStyle/>
                    <a:p>
                      <a:pPr algn="just"/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src/index.js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is the entry point of the application.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826">
                <a:tc>
                  <a:txBody>
                    <a:bodyPr/>
                    <a:lstStyle/>
                    <a:p>
                      <a:pPr algn="just"/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package.json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Contains the dependencies of the React application.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D0CEE24-E331-51B6-4416-44D352226F0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37521" y="1402508"/>
            <a:ext cx="2548042" cy="4975066"/>
          </a:xfrm>
          <a:prstGeom prst="rect">
            <a:avLst/>
          </a:prstGeom>
          <a:ln w="4127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1756594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365CD-C9FA-F250-D1A8-4E631C09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React System Configuration - Internal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72FAA-7BEF-6382-DDD1-66F4AB903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Observe the file </a:t>
            </a:r>
            <a:r>
              <a:rPr lang="en-US" dirty="0" err="1"/>
              <a:t>src</a:t>
            </a:r>
            <a:r>
              <a:rPr lang="en-US" dirty="0"/>
              <a:t>/index.js :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ReactDOM.render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(&lt;h1&gt;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HelloReact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!&lt;/h1&gt;, 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('root'));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600" dirty="0" err="1">
                <a:latin typeface="Consolas" panose="020B0609020204030204" pitchFamily="49" charset="0"/>
              </a:rPr>
              <a:t>ReactDOM.render</a:t>
            </a:r>
            <a:r>
              <a:rPr lang="en-US" sz="2600" dirty="0">
                <a:latin typeface="Consolas" panose="020B0609020204030204" pitchFamily="49" charset="0"/>
              </a:rPr>
              <a:t> </a:t>
            </a:r>
            <a:r>
              <a:rPr lang="en-US" sz="2600" dirty="0"/>
              <a:t>is used to render an element or component to the virtual DOM.</a:t>
            </a:r>
          </a:p>
          <a:p>
            <a:pPr lvl="1"/>
            <a:r>
              <a:rPr lang="en-US" dirty="0"/>
              <a:t>The first argument specifies what needs to be rendered.</a:t>
            </a:r>
          </a:p>
          <a:p>
            <a:pPr lvl="1"/>
            <a:r>
              <a:rPr lang="en-US" dirty="0"/>
              <a:t>The second argument specifies where to render.</a:t>
            </a:r>
          </a:p>
          <a:p>
            <a:r>
              <a:rPr lang="en-US" dirty="0"/>
              <a:t>The root element is present inside index.html:</a:t>
            </a:r>
          </a:p>
          <a:p>
            <a:pPr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&lt;body&gt;</a:t>
            </a:r>
          </a:p>
          <a:p>
            <a:pPr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   &lt;</a:t>
            </a:r>
            <a:r>
              <a:rPr lang="en-US" sz="2200" dirty="0" err="1">
                <a:latin typeface="Consolas" panose="020B0609020204030204" pitchFamily="49" charset="0"/>
              </a:rPr>
              <a:t>noscript</a:t>
            </a:r>
            <a:r>
              <a:rPr lang="en-US" sz="2200" dirty="0">
                <a:latin typeface="Consolas" panose="020B0609020204030204" pitchFamily="49" charset="0"/>
              </a:rPr>
              <a:t>&gt;You need to enable JavaScript to run this app.&lt;/</a:t>
            </a:r>
            <a:r>
              <a:rPr lang="en-US" sz="2200" dirty="0" err="1">
                <a:latin typeface="Consolas" panose="020B0609020204030204" pitchFamily="49" charset="0"/>
              </a:rPr>
              <a:t>noscript</a:t>
            </a:r>
            <a:r>
              <a:rPr lang="en-US" sz="2200" dirty="0">
                <a:latin typeface="Consolas" panose="020B0609020204030204" pitchFamily="49" charset="0"/>
              </a:rPr>
              <a:t>&gt;</a:t>
            </a:r>
          </a:p>
          <a:p>
            <a:pPr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   &lt;div id="root"&gt;&lt;/div&gt;</a:t>
            </a:r>
          </a:p>
          <a:p>
            <a:pPr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&lt;/body&gt;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455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832B-B6B0-FF16-F820-CD90AE93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[Document Object Model]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C549C-FE54-ADBC-28DE-7C7913135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</a:t>
            </a:r>
            <a:r>
              <a:rPr lang="en-US" dirty="0">
                <a:solidFill>
                  <a:srgbClr val="C00000"/>
                </a:solidFill>
              </a:rPr>
              <a:t>structured representation </a:t>
            </a:r>
            <a:r>
              <a:rPr lang="en-US" dirty="0"/>
              <a:t>of the HTML elements that are present in a </a:t>
            </a:r>
            <a:r>
              <a:rPr lang="en-US" dirty="0">
                <a:solidFill>
                  <a:srgbClr val="C00000"/>
                </a:solidFill>
              </a:rPr>
              <a:t>webpage or web-app</a:t>
            </a:r>
            <a:r>
              <a:rPr lang="en-US" dirty="0"/>
              <a:t>. </a:t>
            </a:r>
          </a:p>
          <a:p>
            <a:r>
              <a:rPr lang="en-US" dirty="0"/>
              <a:t>DOM represents the entire </a:t>
            </a:r>
            <a:r>
              <a:rPr lang="en-US" dirty="0">
                <a:solidFill>
                  <a:srgbClr val="C00000"/>
                </a:solidFill>
              </a:rPr>
              <a:t>UI of your application</a:t>
            </a:r>
            <a:r>
              <a:rPr lang="en-US" dirty="0"/>
              <a:t>.</a:t>
            </a:r>
          </a:p>
          <a:p>
            <a:r>
              <a:rPr lang="en-US" dirty="0"/>
              <a:t>The DOM is represented as a </a:t>
            </a:r>
            <a:r>
              <a:rPr lang="en-US" dirty="0">
                <a:solidFill>
                  <a:srgbClr val="C00000"/>
                </a:solidFill>
              </a:rPr>
              <a:t>tree data structure</a:t>
            </a:r>
            <a:r>
              <a:rPr lang="en-US" dirty="0"/>
              <a:t>. </a:t>
            </a:r>
          </a:p>
          <a:p>
            <a:r>
              <a:rPr lang="en-US" dirty="0"/>
              <a:t>Simple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getElementById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method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document.getElementById</a:t>
            </a:r>
            <a:r>
              <a:rPr lang="en-US" dirty="0">
                <a:latin typeface="Consolas" panose="020B0609020204030204" pitchFamily="49" charset="0"/>
              </a:rPr>
              <a:t>('some-id').</a:t>
            </a:r>
            <a:r>
              <a:rPr lang="en-US" dirty="0" err="1">
                <a:latin typeface="Consolas" panose="020B0609020204030204" pitchFamily="49" charset="0"/>
              </a:rPr>
              <a:t>innerValue</a:t>
            </a:r>
            <a:r>
              <a:rPr lang="en-US" dirty="0">
                <a:latin typeface="Consolas" panose="020B0609020204030204" pitchFamily="49" charset="0"/>
              </a:rPr>
              <a:t> = 'updated value';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678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D408-A7F5-F8A0-9457-536F8937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[Document Object Model]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164F8-090D-7351-C92A-F27A17DF2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writing the above code in the console or in the JavaScript file: </a:t>
            </a:r>
          </a:p>
          <a:p>
            <a:r>
              <a:rPr lang="en-US" dirty="0"/>
              <a:t>The browser parses the HTML to find the node with this id.</a:t>
            </a:r>
          </a:p>
          <a:p>
            <a:r>
              <a:rPr lang="en-US" dirty="0"/>
              <a:t>It removes the child element of this specific element.</a:t>
            </a:r>
          </a:p>
          <a:p>
            <a:r>
              <a:rPr lang="en-US" dirty="0"/>
              <a:t>Updates the element(DOM) with the ‘updated value’.</a:t>
            </a:r>
          </a:p>
          <a:p>
            <a:r>
              <a:rPr lang="en-US" dirty="0"/>
              <a:t>Recalculates the CSS for the parent and child nodes.</a:t>
            </a:r>
          </a:p>
          <a:p>
            <a:r>
              <a:rPr lang="en-US" dirty="0"/>
              <a:t>Update the layout.</a:t>
            </a:r>
          </a:p>
          <a:p>
            <a:r>
              <a:rPr lang="en-US" dirty="0"/>
              <a:t>Finally, traverse the tree and paint it on the screen(browser) display.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952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53E58-9267-BE27-86DA-85D11906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DOM (VDOM)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073A5-A236-5215-73F1-9B1E7D15D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lightweight copy </a:t>
            </a:r>
            <a:r>
              <a:rPr lang="en-US" dirty="0"/>
              <a:t>of the real DOM (stored in memory).</a:t>
            </a:r>
          </a:p>
          <a:p>
            <a:r>
              <a:rPr lang="en-US" dirty="0"/>
              <a:t>React uses it to </a:t>
            </a:r>
            <a:r>
              <a:rPr lang="en-US" dirty="0">
                <a:solidFill>
                  <a:srgbClr val="C00000"/>
                </a:solidFill>
              </a:rPr>
              <a:t>compare changes </a:t>
            </a:r>
            <a:r>
              <a:rPr lang="en-US" dirty="0"/>
              <a:t>(diffing).</a:t>
            </a:r>
          </a:p>
          <a:p>
            <a:r>
              <a:rPr lang="en-US" dirty="0"/>
              <a:t>Instead of updating the </a:t>
            </a:r>
            <a:r>
              <a:rPr lang="en-US" dirty="0">
                <a:solidFill>
                  <a:srgbClr val="C00000"/>
                </a:solidFill>
              </a:rPr>
              <a:t>whole DOM</a:t>
            </a:r>
            <a:r>
              <a:rPr lang="en-US" dirty="0"/>
              <a:t>, React only updates the </a:t>
            </a:r>
            <a:r>
              <a:rPr lang="en-US" dirty="0">
                <a:solidFill>
                  <a:srgbClr val="C00000"/>
                </a:solidFill>
              </a:rPr>
              <a:t>changed parts</a:t>
            </a:r>
            <a:r>
              <a:rPr lang="en-US" dirty="0"/>
              <a:t>.</a:t>
            </a:r>
          </a:p>
          <a:p>
            <a:r>
              <a:rPr lang="en-US" dirty="0"/>
              <a:t>Makes apps </a:t>
            </a:r>
            <a:r>
              <a:rPr lang="en-US" dirty="0">
                <a:solidFill>
                  <a:srgbClr val="C00000"/>
                </a:solidFill>
              </a:rPr>
              <a:t>fast and efficient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6059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C3B6-3BF0-7D8F-D3AF-104FB566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Actual DOM VS React VDOM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3A46-62A9-499B-AEF2-F8C56042CFD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2323" y="1591791"/>
            <a:ext cx="4649343" cy="4419600"/>
          </a:xfrm>
          <a:prstGeom prst="rect">
            <a:avLst/>
          </a:prstGeom>
          <a:ln w="12700">
            <a:solidFill>
              <a:srgbClr val="0033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CF8EBD-5A37-2AFF-EFEB-ED6A9185734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26636" y="1591792"/>
            <a:ext cx="4938842" cy="4419600"/>
          </a:xfrm>
          <a:prstGeom prst="rect">
            <a:avLst/>
          </a:prstGeom>
          <a:ln w="12700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4125754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0108-D586-CCD0-6EBE-837ADF71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Actual DOM VS React VDOM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31E05D-97EE-7A24-16A3-5F9B720CDE7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88205" y="1654865"/>
            <a:ext cx="5068545" cy="4416136"/>
          </a:xfrm>
          <a:prstGeom prst="rect">
            <a:avLst/>
          </a:prstGeom>
          <a:ln w="9525">
            <a:solidFill>
              <a:srgbClr val="0033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FBAC50-C51D-140D-14FC-CE8B98C12A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54" y="1654864"/>
            <a:ext cx="4928556" cy="4416137"/>
          </a:xfrm>
          <a:prstGeom prst="rect">
            <a:avLst/>
          </a:prstGeom>
          <a:ln w="952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3370853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1C4C-55B5-1A00-617B-D5502CCF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VS VDOM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41998D-D1EA-B7A2-F26D-A15ABF2471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9359936"/>
              </p:ext>
            </p:extLst>
          </p:nvPr>
        </p:nvGraphicFramePr>
        <p:xfrm>
          <a:off x="581957" y="2113776"/>
          <a:ext cx="10897739" cy="316390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394288">
                  <a:extLst>
                    <a:ext uri="{9D8B030D-6E8A-4147-A177-3AD203B41FA5}">
                      <a16:colId xmlns:a16="http://schemas.microsoft.com/office/drawing/2014/main" val="1019303999"/>
                    </a:ext>
                  </a:extLst>
                </a:gridCol>
                <a:gridCol w="4429138">
                  <a:extLst>
                    <a:ext uri="{9D8B030D-6E8A-4147-A177-3AD203B41FA5}">
                      <a16:colId xmlns:a16="http://schemas.microsoft.com/office/drawing/2014/main" val="3575194449"/>
                    </a:ext>
                  </a:extLst>
                </a:gridCol>
                <a:gridCol w="4074313">
                  <a:extLst>
                    <a:ext uri="{9D8B030D-6E8A-4147-A177-3AD203B41FA5}">
                      <a16:colId xmlns:a16="http://schemas.microsoft.com/office/drawing/2014/main" val="1097661383"/>
                    </a:ext>
                  </a:extLst>
                </a:gridCol>
              </a:tblGrid>
              <a:tr h="527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DOM (Actual DOM)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VDOM (Virtual DOM in React)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193129"/>
                  </a:ext>
                </a:extLst>
              </a:tr>
              <a:tr h="527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Browser’s tree representation of 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In-memory lightweight copy of DOM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55809"/>
                  </a:ext>
                </a:extLst>
              </a:tr>
              <a:tr h="527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Update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Updates entire tree/node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Updates only what changed (diffing)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435619"/>
                  </a:ext>
                </a:extLst>
              </a:tr>
              <a:tr h="527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Slower for large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Much faster and 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5702830"/>
                  </a:ext>
                </a:extLst>
              </a:tr>
              <a:tr h="527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Memory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Heavy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Lightweight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807754"/>
                  </a:ext>
                </a:extLst>
              </a:tr>
              <a:tr h="527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 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Rewrite &lt;div&gt; content 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Change only text node inside &lt;div&gt;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116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955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257C-4312-9489-5D1D-C78410A0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JSX? Why do we need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1E21D-49AE-E91F-23D9-BA8BAA2B5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JSX (JavaScript XML) → A syntax extension that lets us write HTML-like code inside JavaScript.</a:t>
            </a:r>
          </a:p>
          <a:p>
            <a:r>
              <a:rPr lang="en-US" dirty="0"/>
              <a:t>Without JSX, UI must be written using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React.createElement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→ verbose and hard to read.</a:t>
            </a:r>
          </a:p>
          <a:p>
            <a:r>
              <a:rPr lang="en-US" dirty="0"/>
              <a:t>JSX makes components more </a:t>
            </a:r>
            <a:r>
              <a:rPr lang="en-US" dirty="0">
                <a:solidFill>
                  <a:srgbClr val="C00000"/>
                </a:solidFill>
              </a:rPr>
              <a:t>readable and intuitive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4708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B8C4-67B5-0A54-4ABB-D4183693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5B12D-A983-7C40-A593-DF9265F81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(without JSX):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(with JSX):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06D3F-7918-3201-FE9D-1C55F529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352" y="2006793"/>
            <a:ext cx="4193649" cy="23614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DC3DB9-11BD-ABD1-4E12-A17A8721D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52" y="5121195"/>
            <a:ext cx="7060002" cy="5034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56C022-59CB-64A3-1196-30CBC8DB9890}"/>
              </a:ext>
            </a:extLst>
          </p:cNvPr>
          <p:cNvSpPr txBox="1"/>
          <p:nvPr/>
        </p:nvSpPr>
        <p:spPr>
          <a:xfrm>
            <a:off x="1226352" y="5829976"/>
            <a:ext cx="743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Both produce the same output, but JSX is much simpler</a:t>
            </a:r>
          </a:p>
        </p:txBody>
      </p:sp>
    </p:spTree>
    <p:extLst>
      <p:ext uri="{BB962C8B-B14F-4D97-AF65-F5344CB8AC3E}">
        <p14:creationId xmlns:p14="http://schemas.microsoft.com/office/powerpoint/2010/main" val="814061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E9C4-B53C-03E4-C110-7CF606248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(JS Code)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82E087-F405-6C8A-7C34-0FE91D8FD3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640" b="50153"/>
          <a:stretch>
            <a:fillRect/>
          </a:stretch>
        </p:blipFill>
        <p:spPr>
          <a:xfrm>
            <a:off x="489033" y="1508548"/>
            <a:ext cx="4909952" cy="3840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AECA38-DBB0-19B8-A0C2-FA18601D62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40"/>
          <a:stretch>
            <a:fillRect/>
          </a:stretch>
        </p:blipFill>
        <p:spPr>
          <a:xfrm>
            <a:off x="5814935" y="1838738"/>
            <a:ext cx="5888032" cy="341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01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AB2C0-2A74-9C60-3B1E-3BA94DB4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(Equivalent JSX code)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40E9AF-17C4-0CE4-269A-4C22B1082E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303" y="1450185"/>
            <a:ext cx="6198562" cy="48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51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5268-09B9-9F50-D34D-D713F0CD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JSX in React JS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51D63-0E8F-F433-2133-076AB5DF4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JSX is a special syntax introduced in ReactJS to write elements of components. </a:t>
            </a:r>
          </a:p>
          <a:p>
            <a:r>
              <a:rPr lang="en-US" sz="2400" dirty="0"/>
              <a:t>It is syntactically identical to HTML and hence it can be easily read and written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 browser does not understand JSX code, this gets converted to JavaScript using the plugins of the babel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53EDB-43A6-44CB-5ADC-9FA5A2EC80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1174" y="2968902"/>
            <a:ext cx="10385412" cy="1508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6B9979-EDD2-0290-3DE3-FAC9651238A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199" y="5167899"/>
            <a:ext cx="10988387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236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39E8-3AB6-2B5C-E369-2DB2708D1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JSX in React JS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A69E8-7F38-092A-6428-243B1EA9C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working with React components, you may need to render multiple React elements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As per the JSX syntax, all the adjacent elements must be wrapped in an enclosing tag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B8B93-FA75-5B79-7716-95185FB6CCC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58633" y="2217225"/>
            <a:ext cx="8752909" cy="14061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871B09-862C-E950-2BBE-10219B9CD08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58633" y="4456660"/>
            <a:ext cx="8517327" cy="19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09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65815-566C-00F7-106C-4675CA45D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Expressions in JSX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772DA-B725-15C7-2288-E2DCDB27D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insert JavaScript expressions inside { }.</a:t>
            </a:r>
          </a:p>
          <a:p>
            <a:r>
              <a:rPr lang="en-US" dirty="0"/>
              <a:t>Examples: variables, function calls, calculations, etc.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5AFF5-B0EE-2302-AFBC-6A8D89F0B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006" y="3163907"/>
            <a:ext cx="8694361" cy="166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1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D6F88-9DC7-9710-FA50-847F0F10D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JSX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99000-877B-558A-22D7-FB82C69E3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Parent Element</a:t>
            </a:r>
          </a:p>
          <a:p>
            <a:pPr lvl="1"/>
            <a:r>
              <a:rPr lang="en-US" dirty="0"/>
              <a:t>JSX must return </a:t>
            </a:r>
            <a:r>
              <a:rPr lang="en-US" b="1" dirty="0"/>
              <a:t>one root element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2D197-7E16-A6D2-6CCA-E3330F47F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119" y="2466419"/>
            <a:ext cx="5305368" cy="391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85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7C14-9E7B-66BE-0E4A-B9A252F3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JSX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544AA-3BFD-FA7B-F82E-11EF8F832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className</a:t>
            </a:r>
            <a:r>
              <a:rPr lang="en-US" dirty="0"/>
              <a:t> instead of class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camelCase Events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D778F6-B43C-DD25-34D1-B37B0D586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322" y="1959519"/>
            <a:ext cx="3887269" cy="1886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1C024B-F071-C8F9-C33A-1C62809D5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322" y="4526587"/>
            <a:ext cx="5244810" cy="169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35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E8F7-F761-8B47-6355-0F80E4D82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Rendering JSX with </a:t>
            </a:r>
            <a:r>
              <a:rPr lang="en-US" sz="2800" dirty="0" err="1">
                <a:latin typeface="Consolas" panose="020B0609020204030204" pitchFamily="49" charset="0"/>
              </a:rPr>
              <a:t>ReactDOM.createRoot</a:t>
            </a:r>
            <a:r>
              <a:rPr lang="en-US" sz="2800" dirty="0">
                <a:latin typeface="Consolas" panose="020B0609020204030204" pitchFamily="49" charset="0"/>
              </a:rPr>
              <a:t>().render()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E74B3-4DC3-9C7B-D6BA-364AFFEC8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React 18, we use </a:t>
            </a:r>
            <a:r>
              <a:rPr lang="en-US" dirty="0" err="1">
                <a:latin typeface="Consolas" panose="020B0609020204030204" pitchFamily="49" charset="0"/>
              </a:rPr>
              <a:t>createRoot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instead of </a:t>
            </a:r>
            <a:r>
              <a:rPr lang="en-US" dirty="0" err="1">
                <a:latin typeface="Consolas" panose="020B0609020204030204" pitchFamily="49" charset="0"/>
              </a:rPr>
              <a:t>ReactDOM.render</a:t>
            </a:r>
            <a:r>
              <a:rPr lang="en-US" dirty="0">
                <a:latin typeface="Consolas" panose="020B0609020204030204" pitchFamily="49" charset="0"/>
              </a:rPr>
              <a:t>().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91F70-2603-EFE9-74C5-B9806D167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49030"/>
            <a:ext cx="7299275" cy="399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01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57E5-A2D5-4DD3-7835-F1F60815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React Component?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E5F015-5C61-C772-F4E4-69D801112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04754" y="1584186"/>
            <a:ext cx="10982492" cy="4637052"/>
          </a:xfrm>
          <a:prstGeom prst="rect">
            <a:avLst/>
          </a:prstGeom>
          <a:solidFill>
            <a:schemeClr val="bg1"/>
          </a:solidFill>
          <a:ln w="952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652183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1FAE-FBA8-794B-7FA5-B44921D8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0D371-23E0-8539-3A60-433C401D8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Components</a:t>
            </a:r>
            <a:r>
              <a:rPr lang="en-US" dirty="0"/>
              <a:t> are </a:t>
            </a:r>
            <a:r>
              <a:rPr lang="en-US" dirty="0">
                <a:solidFill>
                  <a:srgbClr val="0070C0"/>
                </a:solidFill>
              </a:rPr>
              <a:t>independent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reusable</a:t>
            </a:r>
            <a:r>
              <a:rPr lang="en-US" dirty="0"/>
              <a:t> bits of code. </a:t>
            </a:r>
          </a:p>
          <a:p>
            <a:r>
              <a:rPr lang="en-US" dirty="0"/>
              <a:t>It’s just a </a:t>
            </a:r>
            <a:r>
              <a:rPr lang="en-US" dirty="0">
                <a:solidFill>
                  <a:srgbClr val="C00000"/>
                </a:solidFill>
              </a:rPr>
              <a:t>JavaScript function </a:t>
            </a:r>
            <a:r>
              <a:rPr lang="en-US" dirty="0"/>
              <a:t>(or class) that </a:t>
            </a:r>
            <a:r>
              <a:rPr lang="en-US" dirty="0">
                <a:solidFill>
                  <a:srgbClr val="0070C0"/>
                </a:solidFill>
              </a:rPr>
              <a:t>returns JSX</a:t>
            </a:r>
            <a:r>
              <a:rPr lang="en-US" dirty="0"/>
              <a:t>.</a:t>
            </a:r>
          </a:p>
          <a:p>
            <a:r>
              <a:rPr lang="en-US" dirty="0"/>
              <a:t>Each component can have:</a:t>
            </a:r>
          </a:p>
          <a:p>
            <a:pPr lvl="1"/>
            <a:r>
              <a:rPr lang="en-US" dirty="0"/>
              <a:t>Its </a:t>
            </a:r>
            <a:r>
              <a:rPr lang="en-US" dirty="0">
                <a:solidFill>
                  <a:srgbClr val="0070C0"/>
                </a:solidFill>
              </a:rPr>
              <a:t>own structure </a:t>
            </a:r>
            <a:r>
              <a:rPr lang="en-US" dirty="0"/>
              <a:t>(JSX → HTML-like code)</a:t>
            </a:r>
          </a:p>
          <a:p>
            <a:pPr lvl="1"/>
            <a:r>
              <a:rPr lang="en-US" dirty="0"/>
              <a:t>Its </a:t>
            </a:r>
            <a:r>
              <a:rPr lang="en-US" dirty="0">
                <a:solidFill>
                  <a:srgbClr val="0070C0"/>
                </a:solidFill>
              </a:rPr>
              <a:t>own style </a:t>
            </a:r>
            <a:r>
              <a:rPr lang="en-US" dirty="0"/>
              <a:t>(CSS)</a:t>
            </a:r>
          </a:p>
          <a:p>
            <a:pPr lvl="1"/>
            <a:r>
              <a:rPr lang="en-US" dirty="0"/>
              <a:t>Its </a:t>
            </a:r>
            <a:r>
              <a:rPr lang="en-US" dirty="0">
                <a:solidFill>
                  <a:srgbClr val="0070C0"/>
                </a:solidFill>
              </a:rPr>
              <a:t>own behavior </a:t>
            </a:r>
            <a:r>
              <a:rPr lang="en-US" dirty="0"/>
              <a:t>(state, events)</a:t>
            </a:r>
          </a:p>
          <a:p>
            <a:r>
              <a:rPr lang="en-US" dirty="0"/>
              <a:t>Why Components?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Reusability</a:t>
            </a:r>
            <a:r>
              <a:rPr lang="en-US" dirty="0"/>
              <a:t> → Write once, use anywhere.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Maintainability</a:t>
            </a:r>
            <a:r>
              <a:rPr lang="en-US" dirty="0"/>
              <a:t> → Each component handles one task → easier to debug.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Scalability</a:t>
            </a:r>
            <a:r>
              <a:rPr lang="en-US" dirty="0"/>
              <a:t> → Big apps broken into small parts.</a:t>
            </a:r>
          </a:p>
        </p:txBody>
      </p:sp>
    </p:spTree>
    <p:extLst>
      <p:ext uri="{BB962C8B-B14F-4D97-AF65-F5344CB8AC3E}">
        <p14:creationId xmlns:p14="http://schemas.microsoft.com/office/powerpoint/2010/main" val="38061344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EEC8-BEDB-A591-231A-2303DCF3A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3CA0F-DD0B-581F-7FA8-005AF682A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Functional Components</a:t>
            </a:r>
          </a:p>
          <a:p>
            <a:r>
              <a:rPr lang="en-US" dirty="0"/>
              <a:t>Class Components</a:t>
            </a:r>
          </a:p>
          <a:p>
            <a:endParaRPr lang="en-US" dirty="0"/>
          </a:p>
          <a:p>
            <a:r>
              <a:rPr lang="en-US" dirty="0"/>
              <a:t>These </a:t>
            </a:r>
            <a:r>
              <a:rPr lang="en-US" dirty="0">
                <a:solidFill>
                  <a:srgbClr val="FF0000"/>
                </a:solidFill>
              </a:rPr>
              <a:t>Components</a:t>
            </a:r>
            <a:r>
              <a:rPr lang="en-US" dirty="0"/>
              <a:t> created as a simple </a:t>
            </a:r>
            <a:r>
              <a:rPr lang="en-US" dirty="0">
                <a:solidFill>
                  <a:srgbClr val="C00000"/>
                </a:solidFill>
              </a:rPr>
              <a:t>JavaScript function</a:t>
            </a:r>
          </a:p>
          <a:p>
            <a:r>
              <a:rPr lang="en-US" dirty="0"/>
              <a:t>It </a:t>
            </a:r>
            <a:r>
              <a:rPr lang="en-US" dirty="0">
                <a:solidFill>
                  <a:srgbClr val="C00000"/>
                </a:solidFill>
              </a:rPr>
              <a:t>just returns the HTML </a:t>
            </a:r>
            <a:r>
              <a:rPr lang="en-US" dirty="0"/>
              <a:t>elements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2684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42E3-98BD-2424-395B-A5FA6E81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B0A45-7D14-5FEF-47E6-091C5020E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App</a:t>
            </a:r>
            <a:r>
              <a:rPr lang="en-US" dirty="0"/>
              <a:t> - The component </a:t>
            </a:r>
            <a:r>
              <a:rPr lang="en-US" dirty="0">
                <a:solidFill>
                  <a:srgbClr val="0070C0"/>
                </a:solidFill>
              </a:rPr>
              <a:t>name</a:t>
            </a:r>
            <a:r>
              <a:rPr lang="en-US" dirty="0"/>
              <a:t> should be in </a:t>
            </a:r>
            <a:r>
              <a:rPr lang="en-US" dirty="0">
                <a:solidFill>
                  <a:srgbClr val="FF0000"/>
                </a:solidFill>
              </a:rPr>
              <a:t>Pascal Casing</a:t>
            </a:r>
            <a:r>
              <a:rPr lang="en-US" dirty="0"/>
              <a:t>.</a:t>
            </a:r>
          </a:p>
          <a:p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React.createElement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- helps to create an element in plain JavaScript.</a:t>
            </a:r>
          </a:p>
          <a:p>
            <a:r>
              <a:rPr lang="en-US" dirty="0"/>
              <a:t>In the code,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React.createElement</a:t>
            </a:r>
            <a:r>
              <a:rPr lang="en-US" sz="2400" dirty="0">
                <a:latin typeface="Consolas" panose="020B0609020204030204" pitchFamily="49" charset="0"/>
              </a:rPr>
              <a:t>("h1", {}, "Hello World!!!");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h1</a:t>
            </a:r>
            <a:r>
              <a:rPr lang="en-US" dirty="0"/>
              <a:t> - is the HTML element to be used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{ } </a:t>
            </a:r>
            <a:r>
              <a:rPr lang="en-US" dirty="0"/>
              <a:t>- means attributes/props object of an element can be mentioned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"Hello World!!!" </a:t>
            </a:r>
            <a:r>
              <a:rPr lang="en-US" dirty="0"/>
              <a:t>- Content to be appended to the h1 element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export default App </a:t>
            </a:r>
            <a:r>
              <a:rPr lang="en-US" dirty="0"/>
              <a:t>- App component must be exported to 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759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25F18-AD9F-1087-DBA3-63E1EEC24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E9369-BBC0-C009-396B-2E259C69B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 JSX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React.createElement</a:t>
            </a:r>
            <a:r>
              <a:rPr lang="en-US" i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i="1" dirty="0"/>
              <a:t>helps create an element</a:t>
            </a:r>
            <a:r>
              <a:rPr lang="en-US" dirty="0"/>
              <a:t> → we don’t usually write it manually, JSX handles this.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export default App </a:t>
            </a:r>
            <a:r>
              <a:rPr lang="en-US" dirty="0"/>
              <a:t>- App component must be exported to use.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835F1-E5FF-C0BF-374F-272549C5C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074" y="1996757"/>
            <a:ext cx="3834943" cy="5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2985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75C5-37DD-D765-9BA2-E8B050247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React Component (earlier before 17 version)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250DD-80EB-50E5-D887-79AF5AACC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display a component on the screen, React must render it into the DOM.</a:t>
            </a:r>
          </a:p>
          <a:p>
            <a:endParaRPr lang="en-US" dirty="0"/>
          </a:p>
          <a:p>
            <a:r>
              <a:rPr lang="en-US" sz="2000" dirty="0"/>
              <a:t>Parameter 1 → The element/component to render (&lt;App /&gt;).</a:t>
            </a:r>
          </a:p>
          <a:p>
            <a:r>
              <a:rPr lang="en-US" sz="2000" dirty="0"/>
              <a:t>Parameter 2 → The target DOM node 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document</a:t>
            </a:r>
            <a:r>
              <a:rPr lang="en-US" sz="2000" dirty="0" err="1"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getElementById</a:t>
            </a:r>
            <a:r>
              <a:rPr lang="en-US" sz="2000" dirty="0">
                <a:latin typeface="Consolas" panose="020B0609020204030204" pitchFamily="49" charset="0"/>
              </a:rPr>
              <a:t>("</a:t>
            </a:r>
            <a:r>
              <a:rPr lang="en-US" sz="2000" dirty="0">
                <a:solidFill>
                  <a:schemeClr val="accent6"/>
                </a:solidFill>
                <a:latin typeface="Consolas" panose="020B0609020204030204" pitchFamily="49" charset="0"/>
              </a:rPr>
              <a:t>root</a:t>
            </a:r>
            <a:r>
              <a:rPr lang="en-US" sz="2000" dirty="0">
                <a:latin typeface="Consolas" panose="020B0609020204030204" pitchFamily="49" charset="0"/>
              </a:rPr>
              <a:t>")).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6BC75-4742-52E9-1020-196EEEB2C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065" y="2414199"/>
            <a:ext cx="8866944" cy="5019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A2E55A-94AF-44C4-4AE8-D23A4CB29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461" y="4173009"/>
            <a:ext cx="7650112" cy="207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78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73E3-5BE8-7A82-95D5-784E0352E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Rendering in React 18 (Modern, Recommended)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FDD80-079D-1513-5E00-65EA200B6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React 18,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ReactDOM.render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is replaced by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createRoot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sz="2000" dirty="0" err="1">
                <a:latin typeface="Consolas" panose="020B0609020204030204" pitchFamily="49" charset="0"/>
              </a:rPr>
              <a:t>createRoot</a:t>
            </a:r>
            <a:r>
              <a:rPr lang="en-US" sz="2000" dirty="0">
                <a:latin typeface="Consolas" panose="020B0609020204030204" pitchFamily="49" charset="0"/>
              </a:rPr>
              <a:t>(...) </a:t>
            </a:r>
            <a:r>
              <a:rPr lang="en-US" dirty="0"/>
              <a:t>→ creates a React root for your app.</a:t>
            </a:r>
          </a:p>
          <a:p>
            <a:pPr lvl="1"/>
            <a:r>
              <a:rPr lang="en-US" dirty="0"/>
              <a:t>.</a:t>
            </a:r>
            <a:r>
              <a:rPr lang="en-US" sz="2000" dirty="0">
                <a:latin typeface="Consolas" panose="020B0609020204030204" pitchFamily="49" charset="0"/>
              </a:rPr>
              <a:t>render(...) </a:t>
            </a:r>
            <a:r>
              <a:rPr lang="en-US" dirty="0"/>
              <a:t>→ </a:t>
            </a:r>
            <a:r>
              <a:rPr lang="en-US" sz="2000" dirty="0"/>
              <a:t>tells React which component to display inside that root.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A2633-148F-64EC-FB0D-3A8187469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81" y="2132579"/>
            <a:ext cx="8201383" cy="9187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C87764-5A99-F682-1E3F-122D1C490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81" y="4000144"/>
            <a:ext cx="7880778" cy="214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7526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8C3F-B2D4-46C9-2658-4CABD9026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 Components (Modern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CC73E-6EFE-718B-C360-B396037FC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JavaScript functions that return JSX.</a:t>
            </a:r>
          </a:p>
          <a:p>
            <a:r>
              <a:rPr lang="en-US" dirty="0"/>
              <a:t>Can use </a:t>
            </a:r>
            <a:r>
              <a:rPr lang="en-US" dirty="0">
                <a:solidFill>
                  <a:srgbClr val="0070C0"/>
                </a:solidFill>
              </a:rPr>
              <a:t>Hooks</a:t>
            </a:r>
            <a:r>
              <a:rPr lang="en-US" dirty="0"/>
              <a:t> 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dirty="0"/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useEffect</a:t>
            </a:r>
            <a:r>
              <a:rPr lang="en-US" dirty="0"/>
              <a:t>, etc.).</a:t>
            </a:r>
          </a:p>
          <a:p>
            <a:r>
              <a:rPr lang="en-US" dirty="0"/>
              <a:t>Preferred way of writing components in modern React.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57BED-DC09-37B6-2A5D-1E4E0C7C9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67" y="3145319"/>
            <a:ext cx="7318923" cy="222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157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0C1C6-03E8-8B33-0119-4C78AB25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JavaScript (Previous slide)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0E98AE-ADE6-A719-5E2A-B498AAE38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346" y="1609573"/>
            <a:ext cx="7128403" cy="406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655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D0F9F-EFCF-DD1D-AE88-82E7606D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EA8E8-DAE1-BF2D-5544-F1032DEB1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Older way of writing components (before Hooks).</a:t>
            </a:r>
          </a:p>
          <a:p>
            <a:r>
              <a:rPr lang="en-US" dirty="0"/>
              <a:t>Use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class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render() </a:t>
            </a:r>
            <a:r>
              <a:rPr lang="en-US" dirty="0"/>
              <a:t>method, and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this.state</a:t>
            </a:r>
            <a:r>
              <a:rPr lang="en-US" dirty="0"/>
              <a:t>.</a:t>
            </a:r>
          </a:p>
          <a:p>
            <a:r>
              <a:rPr lang="en-US" dirty="0"/>
              <a:t>Still found in legacy codebases.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EF2CD-1575-17C8-30C6-E7176E669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849" y="3011556"/>
            <a:ext cx="6254426" cy="336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450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61F5-E981-A370-297A-641C0E09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 the content based on conditions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5A8DFE-522B-DC08-722C-A4D07EA8F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802" y="1926443"/>
            <a:ext cx="6707838" cy="4414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DD80BE-325B-5493-FF73-72C6F2355B54}"/>
              </a:ext>
            </a:extLst>
          </p:cNvPr>
          <p:cNvSpPr txBox="1"/>
          <p:nvPr/>
        </p:nvSpPr>
        <p:spPr>
          <a:xfrm>
            <a:off x="824948" y="1402284"/>
            <a:ext cx="1997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Using if-else</a:t>
            </a:r>
          </a:p>
        </p:txBody>
      </p:sp>
    </p:spTree>
    <p:extLst>
      <p:ext uri="{BB962C8B-B14F-4D97-AF65-F5344CB8AC3E}">
        <p14:creationId xmlns:p14="http://schemas.microsoft.com/office/powerpoint/2010/main" val="10201309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F0A4-7C47-6AFF-0CF4-F9128197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 the content based on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A1436-B7E8-C116-1B2C-9825B4DA5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Inline Ternary Operator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EE844B-9A40-2ED8-68D3-C37A598A7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00" y="2219611"/>
            <a:ext cx="7853042" cy="276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812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EB0C-48F3-E6FB-1E0A-F75BE35C4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 the content based on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1C99E-CB74-0F8D-8885-175EDEBE4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Logical AND </a:t>
            </a:r>
            <a:r>
              <a:rPr lang="en-US" dirty="0"/>
              <a:t>(when only one condition matters)</a:t>
            </a:r>
          </a:p>
          <a:p>
            <a:pPr lvl="1"/>
            <a:r>
              <a:rPr lang="en-US" dirty="0"/>
              <a:t>If you only want to render something </a:t>
            </a:r>
            <a:r>
              <a:rPr lang="en-US" b="1" dirty="0"/>
              <a:t>when true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B1562-44D3-0FA1-13E5-10CDD5FB4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856" y="2491155"/>
            <a:ext cx="6005253" cy="319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89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4B6E-E410-7078-4CB5-634530792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Render a </a:t>
            </a:r>
            <a:r>
              <a:rPr lang="en-US" b="1" dirty="0"/>
              <a:t>list of employees inside a table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1DDDFE-B46D-955E-25DF-D8DEEA3BE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631" y="1525644"/>
            <a:ext cx="5432880" cy="1903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4858C0-3747-EF98-A4A0-56DFB4054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31" y="3429000"/>
            <a:ext cx="7482848" cy="29115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3F89DA-ECE2-BDB4-6433-BCAB1B4E3982}"/>
              </a:ext>
            </a:extLst>
          </p:cNvPr>
          <p:cNvSpPr txBox="1"/>
          <p:nvPr/>
        </p:nvSpPr>
        <p:spPr>
          <a:xfrm>
            <a:off x="6967331" y="1294811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App.js</a:t>
            </a:r>
          </a:p>
        </p:txBody>
      </p:sp>
    </p:spTree>
    <p:extLst>
      <p:ext uri="{BB962C8B-B14F-4D97-AF65-F5344CB8AC3E}">
        <p14:creationId xmlns:p14="http://schemas.microsoft.com/office/powerpoint/2010/main" val="2219068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B8DA-3131-9BA3-F840-EBB5F7E80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Render a </a:t>
            </a:r>
            <a:r>
              <a:rPr lang="en-US" sz="2800" b="1" dirty="0"/>
              <a:t>list of employees inside a table (Contd..)</a:t>
            </a:r>
            <a:endParaRPr lang="en-US" sz="28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20B1568-77C0-5CA1-1E1D-5B0F062A3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509" y="1380107"/>
            <a:ext cx="5061223" cy="496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774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3F47-E3E2-F89E-4A5A-7F3974632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Render a </a:t>
            </a:r>
            <a:r>
              <a:rPr lang="en-US" b="1" dirty="0"/>
              <a:t>list of employees inside a table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BB308F-69CF-0F3D-7D78-98A45CA85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451" y="1384622"/>
            <a:ext cx="8956537" cy="43005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393D06-337A-BD90-6C32-8F58F3AE0980}"/>
              </a:ext>
            </a:extLst>
          </p:cNvPr>
          <p:cNvSpPr txBox="1"/>
          <p:nvPr/>
        </p:nvSpPr>
        <p:spPr>
          <a:xfrm>
            <a:off x="6967331" y="1294811"/>
            <a:ext cx="1311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Index.js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10C2D6-F8F6-E6B2-5974-7842B6A6950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08990" y="4077754"/>
            <a:ext cx="3057864" cy="2290286"/>
          </a:xfrm>
          <a:prstGeom prst="rect">
            <a:avLst/>
          </a:prstGeom>
          <a:ln w="9525">
            <a:solidFill>
              <a:srgbClr val="600000"/>
            </a:solidFill>
          </a:ln>
        </p:spPr>
      </p:pic>
    </p:spTree>
    <p:extLst>
      <p:ext uri="{BB962C8B-B14F-4D97-AF65-F5344CB8AC3E}">
        <p14:creationId xmlns:p14="http://schemas.microsoft.com/office/powerpoint/2010/main" val="8292126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F076E-F500-20F1-A07E-FB6BC350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033B6-A2D0-FF34-05D0-9A4C3C37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Old: Class Component Lifecycle Methods</a:t>
            </a:r>
          </a:p>
          <a:p>
            <a:r>
              <a:rPr lang="en-US" dirty="0"/>
              <a:t>Every class component goes through 3 main stages: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Mounting</a:t>
            </a:r>
            <a:r>
              <a:rPr lang="en-US" dirty="0"/>
              <a:t> → When component is created and inserted into DOM.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Updating</a:t>
            </a:r>
            <a:r>
              <a:rPr lang="en-US" dirty="0"/>
              <a:t> → When component re-renders due to state/props changes.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Unmounting</a:t>
            </a:r>
            <a:r>
              <a:rPr lang="en-US" dirty="0"/>
              <a:t> → When component is removed from DOM.🔹 </a:t>
            </a:r>
          </a:p>
          <a:p>
            <a:r>
              <a:rPr lang="en-US" dirty="0"/>
              <a:t>Key Lifecycle Methods</a:t>
            </a:r>
          </a:p>
          <a:p>
            <a:pPr lvl="1"/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componentDidMount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→ Runs once after component is mounted (good for API calls, timers).</a:t>
            </a:r>
          </a:p>
          <a:p>
            <a:pPr lvl="1"/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componentDidUpdate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n-US" dirty="0"/>
              <a:t> → Runs after state/props update.</a:t>
            </a:r>
          </a:p>
          <a:p>
            <a:pPr lvl="1"/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componentWillUnmount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→ Runs before component is removed (cleanup).</a:t>
            </a:r>
          </a:p>
        </p:txBody>
      </p:sp>
    </p:spTree>
    <p:extLst>
      <p:ext uri="{BB962C8B-B14F-4D97-AF65-F5344CB8AC3E}">
        <p14:creationId xmlns:p14="http://schemas.microsoft.com/office/powerpoint/2010/main" val="6176408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5FA4C-FA18-7AFA-9836-C0E6E0FC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Class Component Lifecycle Methods (Example)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91C97C-6FDE-13DE-D739-2751C4A6A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077" y="1504783"/>
            <a:ext cx="6482745" cy="4835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2D9470-C6F3-5499-9340-1B1A536CA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536" y="2587490"/>
            <a:ext cx="5010678" cy="375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837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446C-7909-E783-FAB2-EF523D96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React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4F9A1-BE6E-4FAD-BB5B-C1AB86BBD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New: Functional Components with Hooks</a:t>
            </a:r>
          </a:p>
          <a:p>
            <a:r>
              <a:rPr lang="en-US" dirty="0"/>
              <a:t>Now we use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useEffect</a:t>
            </a:r>
            <a:r>
              <a:rPr lang="en-US" dirty="0"/>
              <a:t> hook instead of lifecycle methods.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useEffect</a:t>
            </a:r>
            <a:r>
              <a:rPr lang="en-US" sz="2400" dirty="0"/>
              <a:t> combines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componentDidMount</a:t>
            </a:r>
            <a:r>
              <a:rPr lang="en-US" sz="2400" dirty="0"/>
              <a:t>,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componentDidUpdate</a:t>
            </a:r>
            <a:r>
              <a:rPr lang="en-US" sz="2400" dirty="0"/>
              <a:t>, and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componentWillUnmount</a:t>
            </a:r>
            <a:r>
              <a:rPr lang="en-US" sz="2400" dirty="0"/>
              <a:t> into one function.</a:t>
            </a:r>
          </a:p>
          <a:p>
            <a:r>
              <a:rPr lang="en-US" sz="2400" dirty="0"/>
              <a:t>Syntax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DDEF31-A9C8-A233-A383-510540AC7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81" y="3794973"/>
            <a:ext cx="5970974" cy="258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662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FA4F-6C8C-515E-6E47-D3988685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(Same as class component) (Timer)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9C29C0-9F94-8478-4451-83F19A772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5464"/>
          <a:stretch>
            <a:fillRect/>
          </a:stretch>
        </p:blipFill>
        <p:spPr>
          <a:xfrm>
            <a:off x="462031" y="1644776"/>
            <a:ext cx="6915088" cy="4557241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811D9AA-FCF3-87CD-6A29-73B2B3456B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784" r="39902"/>
          <a:stretch>
            <a:fillRect/>
          </a:stretch>
        </p:blipFill>
        <p:spPr>
          <a:xfrm>
            <a:off x="7452858" y="4589947"/>
            <a:ext cx="4277111" cy="13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148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4D6B-6731-A699-0C79-017E0D29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342841-C192-0166-3B50-40429906B6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8213781"/>
              </p:ext>
            </p:extLst>
          </p:nvPr>
        </p:nvGraphicFramePr>
        <p:xfrm>
          <a:off x="838200" y="2127692"/>
          <a:ext cx="10515600" cy="14630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713982">
                  <a:extLst>
                    <a:ext uri="{9D8B030D-6E8A-4147-A177-3AD203B41FA5}">
                      <a16:colId xmlns:a16="http://schemas.microsoft.com/office/drawing/2014/main" val="2289965193"/>
                    </a:ext>
                  </a:extLst>
                </a:gridCol>
                <a:gridCol w="4273826">
                  <a:extLst>
                    <a:ext uri="{9D8B030D-6E8A-4147-A177-3AD203B41FA5}">
                      <a16:colId xmlns:a16="http://schemas.microsoft.com/office/drawing/2014/main" val="1236390775"/>
                    </a:ext>
                  </a:extLst>
                </a:gridCol>
                <a:gridCol w="4527792">
                  <a:extLst>
                    <a:ext uri="{9D8B030D-6E8A-4147-A177-3AD203B41FA5}">
                      <a16:colId xmlns:a16="http://schemas.microsoft.com/office/drawing/2014/main" val="7612583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Class Component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Functional Component (</a:t>
                      </a:r>
                      <a:r>
                        <a:rPr lang="en-US" dirty="0" err="1">
                          <a:solidFill>
                            <a:srgbClr val="C00000"/>
                          </a:solidFill>
                        </a:rPr>
                        <a:t>useEffect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313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Mounting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componentDidMount()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useEffect(..., [])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648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Updating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componentDidUpdate()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useEffect(..., [state/props])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295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Unmounting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componentWillUnmount()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Cleanup inside </a:t>
                      </a:r>
                      <a:r>
                        <a:rPr lang="en-US" dirty="0" err="1"/>
                        <a:t>useEffect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7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6570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62E97-47E0-02BB-9CF3-7DBA712D8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41CE8-3A56-3E79-FDE3-574554685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Definition</a:t>
            </a:r>
            <a:r>
              <a:rPr lang="en-US" sz="2400" dirty="0"/>
              <a:t>: State is internal data managed by the component.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Source: </a:t>
            </a:r>
            <a:r>
              <a:rPr lang="en-US" sz="2400" dirty="0"/>
              <a:t>Declared inside the component using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sz="2400" dirty="0"/>
              <a:t> (or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this.state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/>
              <a:t>in class).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Mutability</a:t>
            </a:r>
            <a:r>
              <a:rPr lang="en-US" sz="2400" dirty="0"/>
              <a:t>: Mutable — can be changed by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setState</a:t>
            </a:r>
            <a:r>
              <a:rPr lang="en-US" sz="2400" dirty="0"/>
              <a:t> (or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setCount</a:t>
            </a:r>
            <a:r>
              <a:rPr lang="en-US" sz="2400" dirty="0"/>
              <a:t>).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Purpose</a:t>
            </a:r>
            <a:r>
              <a:rPr lang="en-US" sz="2400" dirty="0"/>
              <a:t>: To track data that can change over time (like user input, counters, toggle)</a:t>
            </a:r>
          </a:p>
        </p:txBody>
      </p:sp>
    </p:spTree>
    <p:extLst>
      <p:ext uri="{BB962C8B-B14F-4D97-AF65-F5344CB8AC3E}">
        <p14:creationId xmlns:p14="http://schemas.microsoft.com/office/powerpoint/2010/main" val="8242031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1144-18F1-0691-46BF-CDC6E6EA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Real-World Examples (Functional Components)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002C95-3F7B-421D-5F10-C67805729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505" y="1436072"/>
            <a:ext cx="7460634" cy="49044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3F969F-676D-1E44-F88E-5F5FCA7DD2E1}"/>
              </a:ext>
            </a:extLst>
          </p:cNvPr>
          <p:cNvSpPr txBox="1"/>
          <p:nvPr/>
        </p:nvSpPr>
        <p:spPr>
          <a:xfrm>
            <a:off x="6649278" y="1436072"/>
            <a:ext cx="3359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1: Username input</a:t>
            </a:r>
          </a:p>
        </p:txBody>
      </p:sp>
    </p:spTree>
    <p:extLst>
      <p:ext uri="{BB962C8B-B14F-4D97-AF65-F5344CB8AC3E}">
        <p14:creationId xmlns:p14="http://schemas.microsoft.com/office/powerpoint/2010/main" val="51900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9C010-44B4-885E-EDD0-B1C488E4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Toggle Light ON/OFF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C40BA0-F7FB-F155-80F3-1F30CDF73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725" y="1458774"/>
            <a:ext cx="6577401" cy="488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53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CB2B-DC26-243A-8B7D-BF22722A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3: Cart Items Count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8992D5-4051-A218-1E9F-31BB29853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416" y="1388554"/>
            <a:ext cx="7402921" cy="495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241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B420-FF9E-0283-4FC9-B401877DE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B76E6-30DE-BD64-C614-91D777139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Props</a:t>
            </a:r>
            <a:r>
              <a:rPr lang="en-US" dirty="0"/>
              <a:t> (short for “Properties”)</a:t>
            </a:r>
          </a:p>
          <a:p>
            <a:r>
              <a:rPr lang="en-US" dirty="0">
                <a:solidFill>
                  <a:srgbClr val="C00000"/>
                </a:solidFill>
              </a:rPr>
              <a:t>Definition</a:t>
            </a:r>
            <a:r>
              <a:rPr lang="en-US" dirty="0"/>
              <a:t>: Props are inputs to a component.</a:t>
            </a:r>
          </a:p>
          <a:p>
            <a:r>
              <a:rPr lang="en-US" dirty="0">
                <a:solidFill>
                  <a:srgbClr val="C00000"/>
                </a:solidFill>
              </a:rPr>
              <a:t>Source</a:t>
            </a:r>
            <a:r>
              <a:rPr lang="en-US" dirty="0"/>
              <a:t>: Passed from parent to child.</a:t>
            </a:r>
          </a:p>
          <a:p>
            <a:r>
              <a:rPr lang="en-US" dirty="0">
                <a:solidFill>
                  <a:srgbClr val="C00000"/>
                </a:solidFill>
              </a:rPr>
              <a:t>Mutability</a:t>
            </a:r>
            <a:r>
              <a:rPr lang="en-US" dirty="0"/>
              <a:t>: Read-only inside the child.</a:t>
            </a:r>
          </a:p>
          <a:p>
            <a:r>
              <a:rPr lang="en-US" dirty="0">
                <a:solidFill>
                  <a:srgbClr val="C00000"/>
                </a:solidFill>
              </a:rPr>
              <a:t>Purpose</a:t>
            </a:r>
            <a:r>
              <a:rPr lang="en-US" dirty="0"/>
              <a:t>: To make components </a:t>
            </a:r>
            <a:r>
              <a:rPr lang="en-US" dirty="0">
                <a:solidFill>
                  <a:srgbClr val="C00000"/>
                </a:solidFill>
              </a:rPr>
              <a:t>reusable with different </a:t>
            </a:r>
            <a:r>
              <a:rPr lang="en-US" dirty="0"/>
              <a:t>data.</a:t>
            </a:r>
          </a:p>
        </p:txBody>
      </p:sp>
    </p:spTree>
    <p:extLst>
      <p:ext uri="{BB962C8B-B14F-4D97-AF65-F5344CB8AC3E}">
        <p14:creationId xmlns:p14="http://schemas.microsoft.com/office/powerpoint/2010/main" val="38393115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6787-5760-CD8C-26B2-0E901A9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E7CA79-A40C-9541-E77C-4975869DF9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8277" y="1466492"/>
            <a:ext cx="6045606" cy="298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407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9C823-BD5E-D07D-AB50-3C248332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Card (Example)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0A23F8-3B00-F7AC-AE9C-B6185E4D7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495" y="1393313"/>
            <a:ext cx="6951259" cy="50671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61D15F-6D15-36C9-FC10-8D83FA69563A}"/>
              </a:ext>
            </a:extLst>
          </p:cNvPr>
          <p:cNvSpPr txBox="1"/>
          <p:nvPr/>
        </p:nvSpPr>
        <p:spPr>
          <a:xfrm>
            <a:off x="7792278" y="1704417"/>
            <a:ext cx="40253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When building a profile card, you want to reuse the same component for different people</a:t>
            </a:r>
          </a:p>
        </p:txBody>
      </p:sp>
    </p:spTree>
    <p:extLst>
      <p:ext uri="{BB962C8B-B14F-4D97-AF65-F5344CB8AC3E}">
        <p14:creationId xmlns:p14="http://schemas.microsoft.com/office/powerpoint/2010/main" val="14583815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3BA9-872D-0AD0-DBC7-F8587F50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with Different Labels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9358D-0D74-B283-C795-5DF2DDC6A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button component, used everywhere with different text.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D1E0D-DE7E-FBB5-2274-D1AA3314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390" y="2112790"/>
            <a:ext cx="4932402" cy="426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34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772DE-88D9-C722-EFF4-BA32A70FD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Navbar Menu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438874-862F-D053-453B-75A568098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933" y="1409925"/>
            <a:ext cx="7025079" cy="4930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67665C-0B40-6D31-A6F4-350EE276253B}"/>
              </a:ext>
            </a:extLst>
          </p:cNvPr>
          <p:cNvSpPr txBox="1"/>
          <p:nvPr/>
        </p:nvSpPr>
        <p:spPr>
          <a:xfrm>
            <a:off x="7709012" y="1857824"/>
            <a:ext cx="38961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Pass menu items as props to a Navbar.</a:t>
            </a:r>
          </a:p>
        </p:txBody>
      </p:sp>
    </p:spTree>
    <p:extLst>
      <p:ext uri="{BB962C8B-B14F-4D97-AF65-F5344CB8AC3E}">
        <p14:creationId xmlns:p14="http://schemas.microsoft.com/office/powerpoint/2010/main" val="21825574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0B71-8D27-130D-6E74-FB5C00CD5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Example: Props + State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CF673B-567C-16A2-4D3F-B2F87C903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4262"/>
          <a:stretch>
            <a:fillRect/>
          </a:stretch>
        </p:blipFill>
        <p:spPr>
          <a:xfrm>
            <a:off x="420656" y="1418016"/>
            <a:ext cx="8076238" cy="357142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8148810-FDF3-9981-CE0E-587DE39535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094" r="52186"/>
          <a:stretch>
            <a:fillRect/>
          </a:stretch>
        </p:blipFill>
        <p:spPr>
          <a:xfrm>
            <a:off x="8000998" y="3627783"/>
            <a:ext cx="4012152" cy="272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11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4F25-EB33-E674-5675-80FBD95C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Fragments in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C4F21-544C-F45E-7BC8-D262F9337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Fragment </a:t>
            </a:r>
            <a:r>
              <a:rPr lang="en-US" dirty="0"/>
              <a:t>is a </a:t>
            </a:r>
            <a:r>
              <a:rPr lang="en-US" dirty="0">
                <a:solidFill>
                  <a:srgbClr val="C00000"/>
                </a:solidFill>
              </a:rPr>
              <a:t>special wrapper </a:t>
            </a:r>
            <a:r>
              <a:rPr lang="en-US" dirty="0"/>
              <a:t>in React that lets you return multiple elements without adding an extra </a:t>
            </a:r>
            <a:r>
              <a:rPr lang="en-US" dirty="0">
                <a:latin typeface="Consolas" panose="020B0609020204030204" pitchFamily="49" charset="0"/>
              </a:rPr>
              <a:t>&lt;div&gt; </a:t>
            </a:r>
            <a:r>
              <a:rPr lang="en-US" dirty="0"/>
              <a:t>in the DOM.</a:t>
            </a:r>
          </a:p>
          <a:p>
            <a:r>
              <a:rPr lang="en-US" dirty="0"/>
              <a:t>Normally, a React component can only return </a:t>
            </a:r>
            <a:r>
              <a:rPr lang="en-US" dirty="0">
                <a:solidFill>
                  <a:srgbClr val="C00000"/>
                </a:solidFill>
              </a:rPr>
              <a:t>one root element</a:t>
            </a:r>
            <a:r>
              <a:rPr lang="en-US" dirty="0"/>
              <a:t>.</a:t>
            </a:r>
          </a:p>
          <a:p>
            <a:r>
              <a:rPr lang="en-US" dirty="0"/>
              <a:t>Fragments solve this problem when you don’t want unnecessary wrappers.</a:t>
            </a:r>
          </a:p>
        </p:txBody>
      </p:sp>
    </p:spTree>
    <p:extLst>
      <p:ext uri="{BB962C8B-B14F-4D97-AF65-F5344CB8AC3E}">
        <p14:creationId xmlns:p14="http://schemas.microsoft.com/office/powerpoint/2010/main" val="5267722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070E-0CDE-1A7F-E623-3EE3E5E8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without Fragment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3926B4-607B-523D-6B39-71DF83954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2564" y="1562395"/>
            <a:ext cx="6458021" cy="31089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754519-A0CA-24D7-D1C4-BD1682F48F20}"/>
              </a:ext>
            </a:extLst>
          </p:cNvPr>
          <p:cNvSpPr txBox="1"/>
          <p:nvPr/>
        </p:nvSpPr>
        <p:spPr>
          <a:xfrm>
            <a:off x="1132563" y="5291610"/>
            <a:ext cx="10237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Problem: Adds an extra </a:t>
            </a:r>
            <a:r>
              <a:rPr lang="en-US" sz="2000" dirty="0">
                <a:latin typeface="Consolas" panose="020B0609020204030204" pitchFamily="49" charset="0"/>
              </a:rPr>
              <a:t>&lt;div&gt; </a:t>
            </a:r>
            <a:r>
              <a:rPr lang="en-US" sz="2000" dirty="0"/>
              <a:t>in HTML which may break styling/layout.</a:t>
            </a:r>
          </a:p>
        </p:txBody>
      </p:sp>
    </p:spTree>
    <p:extLst>
      <p:ext uri="{BB962C8B-B14F-4D97-AF65-F5344CB8AC3E}">
        <p14:creationId xmlns:p14="http://schemas.microsoft.com/office/powerpoint/2010/main" val="41944865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8FABF-F75C-D6E7-6D14-D5BE9199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Fragment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1DF691-24D7-191B-F7B6-66CBF7CF5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040" y="1377317"/>
            <a:ext cx="4173349" cy="31899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1C704A-D966-1947-ED42-C49937D5BE42}"/>
              </a:ext>
            </a:extLst>
          </p:cNvPr>
          <p:cNvSpPr txBox="1"/>
          <p:nvPr/>
        </p:nvSpPr>
        <p:spPr>
          <a:xfrm>
            <a:off x="983974" y="5019666"/>
            <a:ext cx="69673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¨"/>
            </a:pP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... &lt;/&gt; </a:t>
            </a:r>
            <a:r>
              <a:rPr lang="en-US" sz="2400" dirty="0"/>
              <a:t>is a Fragment (short syntax).</a:t>
            </a:r>
          </a:p>
          <a:p>
            <a:pPr marL="285750" indent="-285750">
              <a:buFont typeface="Symbol" panose="05050102010706020507" pitchFamily="18" charset="2"/>
              <a:buChar char="¨"/>
            </a:pPr>
            <a:r>
              <a:rPr lang="en-US" sz="2400" dirty="0"/>
              <a:t>No extra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&lt;div&gt; </a:t>
            </a:r>
            <a:r>
              <a:rPr lang="en-US" sz="2400" dirty="0"/>
              <a:t>is added to the DOM.</a:t>
            </a:r>
          </a:p>
          <a:p>
            <a:pPr marL="285750" indent="-285750">
              <a:buFont typeface="Symbol" panose="05050102010706020507" pitchFamily="18" charset="2"/>
              <a:buChar char="¨"/>
            </a:pPr>
            <a:r>
              <a:rPr lang="en-US" sz="2400" dirty="0"/>
              <a:t>Only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&lt;h1&gt;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&lt;p&gt; </a:t>
            </a:r>
            <a:r>
              <a:rPr lang="en-US" sz="2400" dirty="0"/>
              <a:t>will appear in HTML.</a:t>
            </a:r>
          </a:p>
        </p:txBody>
      </p:sp>
    </p:spTree>
    <p:extLst>
      <p:ext uri="{BB962C8B-B14F-4D97-AF65-F5344CB8AC3E}">
        <p14:creationId xmlns:p14="http://schemas.microsoft.com/office/powerpoint/2010/main" val="664851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68EA6-0620-EE48-04F0-C917206636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Short syntax (most common)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Explicit syntax (can take key):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400A299-6204-D433-83AB-F5F2027821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With key (useful in lists):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4C874-7901-5586-C94D-6B66CE1C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Write Fragments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72FCEF-BE45-3693-E996-0606240BB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438" y="2076573"/>
            <a:ext cx="2433170" cy="14418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DE38C0-9EBE-96FE-A045-19A611E40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38" y="4111457"/>
            <a:ext cx="2692923" cy="1613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0DCE72-3CBC-E5DD-BA5E-714E970F2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494" y="2031635"/>
            <a:ext cx="4050515" cy="221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724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3F1B92-0E41-0EAE-116E-1B3F9846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Fragments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2D1D3-BADC-AB69-059A-89D261C51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</a:t>
            </a:r>
            <a:r>
              <a:rPr lang="en-US" dirty="0">
                <a:solidFill>
                  <a:srgbClr val="C00000"/>
                </a:solidFill>
              </a:rPr>
              <a:t>extra nodes </a:t>
            </a:r>
            <a:r>
              <a:rPr lang="en-US" dirty="0"/>
              <a:t>in the DOM.</a:t>
            </a:r>
          </a:p>
          <a:p>
            <a:r>
              <a:rPr lang="en-US" dirty="0"/>
              <a:t>Cleaner and </a:t>
            </a:r>
            <a:r>
              <a:rPr lang="en-US" dirty="0">
                <a:solidFill>
                  <a:srgbClr val="C00000"/>
                </a:solidFill>
              </a:rPr>
              <a:t>valid HTML </a:t>
            </a:r>
            <a:r>
              <a:rPr lang="en-US" dirty="0"/>
              <a:t>(especially for lists, tables, layouts).</a:t>
            </a:r>
          </a:p>
          <a:p>
            <a:r>
              <a:rPr lang="en-US" dirty="0">
                <a:solidFill>
                  <a:srgbClr val="C00000"/>
                </a:solidFill>
              </a:rPr>
              <a:t>Improves performance </a:t>
            </a:r>
            <a:r>
              <a:rPr lang="en-US" dirty="0"/>
              <a:t>(no unnecessary wrappers).</a:t>
            </a:r>
          </a:p>
          <a:p>
            <a:r>
              <a:rPr lang="en-US" dirty="0">
                <a:solidFill>
                  <a:srgbClr val="C00000"/>
                </a:solidFill>
              </a:rPr>
              <a:t>Fragments</a:t>
            </a:r>
            <a:r>
              <a:rPr lang="en-US" dirty="0"/>
              <a:t> let you </a:t>
            </a:r>
            <a:r>
              <a:rPr lang="en-US" dirty="0">
                <a:solidFill>
                  <a:srgbClr val="C00000"/>
                </a:solidFill>
              </a:rPr>
              <a:t>group multiple elements </a:t>
            </a:r>
            <a:r>
              <a:rPr lang="en-US" dirty="0"/>
              <a:t>without adding extra DOM nodes.</a:t>
            </a:r>
          </a:p>
        </p:txBody>
      </p:sp>
    </p:spTree>
    <p:extLst>
      <p:ext uri="{BB962C8B-B14F-4D97-AF65-F5344CB8AC3E}">
        <p14:creationId xmlns:p14="http://schemas.microsoft.com/office/powerpoint/2010/main" val="25098872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0E63-3331-F602-7187-719CBDDE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 in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538CA-F6C1-8128-A3FD-414916652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Events are actions triggered by the user or system.</a:t>
            </a:r>
          </a:p>
          <a:p>
            <a:r>
              <a:rPr lang="en-US" dirty="0"/>
              <a:t>Examples: clicking a button, typing in an input, submitting a form, mouse movement, key presses.</a:t>
            </a:r>
          </a:p>
          <a:p>
            <a:r>
              <a:rPr lang="en-US" dirty="0"/>
              <a:t>React events are very similar to DOM events, but with </a:t>
            </a:r>
            <a:r>
              <a:rPr lang="en-US" dirty="0">
                <a:solidFill>
                  <a:srgbClr val="FF0000"/>
                </a:solidFill>
              </a:rPr>
              <a:t>synthetic event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1635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5506C-98D0-C906-54FC-79FAD2E95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Handling in React vs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D0701-E665-5BBA-B842-C83DE4E2A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HTML Example: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React Example: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Differences:</a:t>
            </a:r>
          </a:p>
          <a:p>
            <a:r>
              <a:rPr lang="en-US" dirty="0"/>
              <a:t>React uses </a:t>
            </a:r>
            <a:r>
              <a:rPr lang="en-US" b="1" dirty="0">
                <a:solidFill>
                  <a:srgbClr val="C00000"/>
                </a:solidFill>
              </a:rPr>
              <a:t>camelCase</a:t>
            </a:r>
            <a:r>
              <a:rPr lang="en-US" dirty="0"/>
              <a:t> (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not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).</a:t>
            </a:r>
          </a:p>
          <a:p>
            <a:r>
              <a:rPr lang="en-US" dirty="0"/>
              <a:t>Pass a </a:t>
            </a:r>
            <a:r>
              <a:rPr lang="en-US" b="1" dirty="0">
                <a:solidFill>
                  <a:srgbClr val="C00000"/>
                </a:solidFill>
              </a:rPr>
              <a:t>function</a:t>
            </a:r>
            <a:r>
              <a:rPr lang="en-US" dirty="0"/>
              <a:t> (not a string).</a:t>
            </a:r>
          </a:p>
          <a:p>
            <a:r>
              <a:rPr lang="en-US" dirty="0"/>
              <a:t>We write React event handlers inside </a:t>
            </a:r>
            <a:r>
              <a:rPr lang="en-US" dirty="0">
                <a:solidFill>
                  <a:srgbClr val="C00000"/>
                </a:solidFill>
              </a:rPr>
              <a:t>curly braces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A272D-AFCF-6862-DF60-9B4FB9893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199" y="2010830"/>
            <a:ext cx="7487365" cy="841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9886A9-CD1D-5E9E-CCA1-4625EAA25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199" y="3709867"/>
            <a:ext cx="7602936" cy="59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938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7760-D60E-2F8B-956F-60137FB14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Preventing Default Behavior: React vs HTML/JS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140F4-C759-DE9F-5045-E5D96054C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Native HTML/JavaScript</a:t>
            </a:r>
          </a:p>
          <a:p>
            <a:r>
              <a:rPr lang="en-US" dirty="0"/>
              <a:t>In plain JS, you can stop default behavior in two ways:</a:t>
            </a:r>
          </a:p>
          <a:p>
            <a:pPr lvl="1"/>
            <a:r>
              <a:rPr lang="en-US" dirty="0"/>
              <a:t>Calling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event.preventDefault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n-US" dirty="0"/>
              <a:t>Returning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  <a:r>
              <a:rPr lang="en-US" dirty="0"/>
              <a:t> inside the handler (for some events like </a:t>
            </a:r>
            <a:r>
              <a:rPr lang="en-US" dirty="0" err="1">
                <a:latin typeface="Consolas" panose="020B0609020204030204" pitchFamily="49" charset="0"/>
              </a:rPr>
              <a:t>onsubmit</a:t>
            </a:r>
            <a:r>
              <a:rPr lang="en-US" dirty="0">
                <a:latin typeface="Consolas" panose="020B0609020204030204" pitchFamily="49" charset="0"/>
              </a:rPr>
              <a:t>, onclick</a:t>
            </a:r>
            <a:r>
              <a:rPr lang="en-US" dirty="0"/>
              <a:t>)</a:t>
            </a:r>
          </a:p>
          <a:p>
            <a:r>
              <a:rPr lang="en-US" dirty="0"/>
              <a:t>Example (HTML + JS):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Here, returning false cancels the form’s default submission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D92EE-B551-1B06-1EFD-4976390BA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774" y="3930570"/>
            <a:ext cx="5365607" cy="159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8382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604B-2F4A-EA20-D169-C7F6279E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Preventing Default Behavior: React vs HTML/JS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8D13B-49B3-C995-E563-9D6A522FC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React</a:t>
            </a:r>
          </a:p>
          <a:p>
            <a:pPr lvl="1"/>
            <a:r>
              <a:rPr lang="en-US" dirty="0"/>
              <a:t>You cannot return </a:t>
            </a:r>
            <a:r>
              <a:rPr lang="en-US" dirty="0">
                <a:latin typeface="Consolas" panose="020B0609020204030204" pitchFamily="49" charset="0"/>
              </a:rPr>
              <a:t>false</a:t>
            </a:r>
            <a:r>
              <a:rPr lang="en-US" dirty="0"/>
              <a:t> to stop default behavior.</a:t>
            </a:r>
          </a:p>
          <a:p>
            <a:pPr lvl="1"/>
            <a:r>
              <a:rPr lang="en-US" dirty="0"/>
              <a:t>You must call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event.preventDefault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explicitly.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B8444-BFAA-F7EA-D6F0-7CEC6426F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569" y="2807493"/>
            <a:ext cx="4945440" cy="365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075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E9A5-C4DE-2EA7-51E1-278222CB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Button Click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F06B3E-AF09-9F88-BF91-C36D26692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788" y="1666103"/>
            <a:ext cx="7489985" cy="2925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4AD2A2-A195-F93E-8C2E-89775DE88A5C}"/>
              </a:ext>
            </a:extLst>
          </p:cNvPr>
          <p:cNvSpPr txBox="1"/>
          <p:nvPr/>
        </p:nvSpPr>
        <p:spPr>
          <a:xfrm>
            <a:off x="846787" y="4979746"/>
            <a:ext cx="80387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Here,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handleClick</a:t>
            </a:r>
            <a:r>
              <a:rPr lang="en-US" sz="2400" dirty="0"/>
              <a:t> is an event handler function.</a:t>
            </a:r>
          </a:p>
        </p:txBody>
      </p:sp>
    </p:spTree>
    <p:extLst>
      <p:ext uri="{BB962C8B-B14F-4D97-AF65-F5344CB8AC3E}">
        <p14:creationId xmlns:p14="http://schemas.microsoft.com/office/powerpoint/2010/main" val="9847058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A6BD-A725-72A4-7CF6-A5F92A24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Arguments to Event Handler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D3CFEC-FB64-032C-B649-CC0E2B565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869" y="1615541"/>
            <a:ext cx="7697339" cy="394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574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21CE-2B69-E4F7-88D7-0722EE9D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React Events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F028A-81F7-A1CD-6FD5-318A4AF473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5186819"/>
              </p:ext>
            </p:extLst>
          </p:nvPr>
        </p:nvGraphicFramePr>
        <p:xfrm>
          <a:off x="2550474" y="1614833"/>
          <a:ext cx="7091052" cy="454743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607935">
                  <a:extLst>
                    <a:ext uri="{9D8B030D-6E8A-4147-A177-3AD203B41FA5}">
                      <a16:colId xmlns:a16="http://schemas.microsoft.com/office/drawing/2014/main" val="3382793425"/>
                    </a:ext>
                  </a:extLst>
                </a:gridCol>
                <a:gridCol w="4483117">
                  <a:extLst>
                    <a:ext uri="{9D8B030D-6E8A-4147-A177-3AD203B41FA5}">
                      <a16:colId xmlns:a16="http://schemas.microsoft.com/office/drawing/2014/main" val="4151939367"/>
                    </a:ext>
                  </a:extLst>
                </a:gridCol>
              </a:tblGrid>
              <a:tr h="454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Usage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7859432"/>
                  </a:ext>
                </a:extLst>
              </a:tr>
              <a:tr h="454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onClick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Button click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431517"/>
                  </a:ext>
                </a:extLst>
              </a:tr>
              <a:tr h="454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onChange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Input field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2886"/>
                  </a:ext>
                </a:extLst>
              </a:tr>
              <a:tr h="454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onSubmit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 submission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947501"/>
                  </a:ext>
                </a:extLst>
              </a:tr>
              <a:tr h="454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onMouseEnter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Mouse hover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5711660"/>
                  </a:ext>
                </a:extLst>
              </a:tr>
              <a:tr h="454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onMouseLeave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Mouse leave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284674"/>
                  </a:ext>
                </a:extLst>
              </a:tr>
              <a:tr h="454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onKeyDown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press 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186497"/>
                  </a:ext>
                </a:extLst>
              </a:tr>
              <a:tr h="454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onKeyUp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release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233133"/>
                  </a:ext>
                </a:extLst>
              </a:tr>
              <a:tr h="454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onFocus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Input focus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407098"/>
                  </a:ext>
                </a:extLst>
              </a:tr>
              <a:tr h="454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onBlur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Input blur (lost focus)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523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1075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2B62A6-15B3-6730-4BE6-7A64F3BD8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013" y="768259"/>
            <a:ext cx="9693973" cy="532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666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40B2-BFC8-D7C0-B7A4-B634FDE4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90E6B-20AB-C2E4-7780-9F14DA65E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Router is a </a:t>
            </a:r>
            <a:r>
              <a:rPr lang="en-US" dirty="0">
                <a:solidFill>
                  <a:srgbClr val="C00000"/>
                </a:solidFill>
              </a:rPr>
              <a:t>library for handling routing </a:t>
            </a:r>
            <a:r>
              <a:rPr lang="en-US" dirty="0"/>
              <a:t>in React applications.</a:t>
            </a:r>
          </a:p>
          <a:p>
            <a:r>
              <a:rPr lang="en-US" dirty="0"/>
              <a:t>It allows you to </a:t>
            </a:r>
            <a:r>
              <a:rPr lang="en-US" dirty="0">
                <a:solidFill>
                  <a:srgbClr val="C00000"/>
                </a:solidFill>
              </a:rPr>
              <a:t>create single-page applications (SPAs) with multiple views </a:t>
            </a:r>
            <a:r>
              <a:rPr lang="en-US" dirty="0"/>
              <a:t>(pages).</a:t>
            </a:r>
          </a:p>
          <a:p>
            <a:r>
              <a:rPr lang="en-US" dirty="0"/>
              <a:t>Instead of reloading the whole page, React Router switches components dynamically based on the URL.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Without Router</a:t>
            </a:r>
            <a:r>
              <a:rPr lang="en-US" dirty="0"/>
              <a:t>: your React app is just one page.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With Router</a:t>
            </a:r>
            <a:r>
              <a:rPr lang="en-US" dirty="0"/>
              <a:t>: you can have multiple pages like /home, /about, /contact — all without reloading</a:t>
            </a:r>
          </a:p>
        </p:txBody>
      </p:sp>
    </p:spTree>
    <p:extLst>
      <p:ext uri="{BB962C8B-B14F-4D97-AF65-F5344CB8AC3E}">
        <p14:creationId xmlns:p14="http://schemas.microsoft.com/office/powerpoint/2010/main" val="25058224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F2F84-FFDB-9847-F9EA-7CC9A1299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Need React Router?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9779D-E0F5-FEBC-E6CE-99BB7BC50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Multi-Page Application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Every request will be sent to the server from the client.</a:t>
            </a:r>
          </a:p>
          <a:p>
            <a:pPr lvl="1"/>
            <a:r>
              <a:rPr lang="en-US" dirty="0"/>
              <a:t>The Server responds to the client with new HTML content.</a:t>
            </a:r>
          </a:p>
          <a:p>
            <a:pPr lvl="1"/>
            <a:r>
              <a:rPr lang="en-US" dirty="0"/>
              <a:t>Every time page reload will happen for every request.</a:t>
            </a:r>
          </a:p>
          <a:p>
            <a:pPr lvl="1"/>
            <a:r>
              <a:rPr lang="en-US" dirty="0"/>
              <a:t>This would increase the round trips to the server and cause delay in response.</a:t>
            </a:r>
          </a:p>
          <a:p>
            <a:r>
              <a:rPr lang="en-US" dirty="0">
                <a:solidFill>
                  <a:srgbClr val="C00000"/>
                </a:solidFill>
              </a:rPr>
              <a:t>In single page applications :</a:t>
            </a:r>
          </a:p>
          <a:p>
            <a:pPr lvl="1"/>
            <a:r>
              <a:rPr lang="en-US" dirty="0"/>
              <a:t>In MPA After the initial page load, no server communication is required for further page updates upon user interaction .</a:t>
            </a:r>
          </a:p>
          <a:p>
            <a:pPr lvl="1"/>
            <a:r>
              <a:rPr lang="en-US" dirty="0"/>
              <a:t>So here, we have to navigate from one view to another without hitting server. </a:t>
            </a:r>
          </a:p>
          <a:p>
            <a:r>
              <a:rPr lang="en-US" dirty="0"/>
              <a:t>For this React JS provides the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react-router-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dom</a:t>
            </a:r>
            <a:r>
              <a:rPr lang="en-US" dirty="0"/>
              <a:t> library.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3744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25B1B-6166-73D0-BF61-C9F15EE9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React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3991E-AEF0-D3E9-2757-8C5402BB7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 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2: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CD1DA-E1D4-9F61-E476-4CD05ECE8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43" y="2080081"/>
            <a:ext cx="4145557" cy="507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C94FA7-D468-0884-5C6E-11DAA29B8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137" y="3590162"/>
            <a:ext cx="7943231" cy="409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3BBC96-DC78-E2DF-14FF-EEAAB5BF2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702" y="1637372"/>
            <a:ext cx="2219326" cy="390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091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E5D7-A5CD-87FD-453F-C35132139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5FDC9-E969-4F8A-5709-FD0D5D3BC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BrowserRouter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&gt;: </a:t>
            </a:r>
          </a:p>
          <a:p>
            <a:pPr lvl="1"/>
            <a:r>
              <a:rPr lang="en-US" dirty="0"/>
              <a:t>The top-level router that </a:t>
            </a:r>
            <a:r>
              <a:rPr lang="en-US" dirty="0">
                <a:solidFill>
                  <a:srgbClr val="C00000"/>
                </a:solidFill>
              </a:rPr>
              <a:t>wraps your app </a:t>
            </a:r>
            <a:r>
              <a:rPr lang="en-US" dirty="0"/>
              <a:t>and enables routing using the browser’s </a:t>
            </a:r>
            <a:r>
              <a:rPr lang="en-US" dirty="0">
                <a:solidFill>
                  <a:srgbClr val="C00000"/>
                </a:solidFill>
              </a:rPr>
              <a:t>HTML5 History API </a:t>
            </a:r>
            <a:r>
              <a:rPr lang="en-US" dirty="0"/>
              <a:t>(</a:t>
            </a:r>
            <a:r>
              <a:rPr lang="en-US" dirty="0" err="1">
                <a:latin typeface="Consolas" panose="020B0609020204030204" pitchFamily="49" charset="0"/>
              </a:rPr>
              <a:t>pushState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replaceState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Keeps the URL in sync with the UI without full page reloads. use: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CEAB74-8A74-D776-5A7F-34D4FD8C1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69" y="3141580"/>
            <a:ext cx="6124911" cy="31989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19BBB3-DEAA-608D-7B8A-63B5F8A6104F}"/>
              </a:ext>
            </a:extLst>
          </p:cNvPr>
          <p:cNvSpPr txBox="1"/>
          <p:nvPr/>
        </p:nvSpPr>
        <p:spPr>
          <a:xfrm>
            <a:off x="7502642" y="5472777"/>
            <a:ext cx="45237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</a:t>
            </a:r>
            <a:r>
              <a:rPr lang="en-US" dirty="0" err="1"/>
              <a:t>basename</a:t>
            </a:r>
            <a:r>
              <a:rPr lang="en-US" dirty="0"/>
              <a:t> prop if your app is served from a subfolder: &lt;</a:t>
            </a:r>
            <a:r>
              <a:rPr lang="en-US" dirty="0" err="1"/>
              <a:t>BrowserRouter</a:t>
            </a:r>
            <a:r>
              <a:rPr lang="en-US" dirty="0"/>
              <a:t> </a:t>
            </a:r>
            <a:r>
              <a:rPr lang="en-US" dirty="0" err="1"/>
              <a:t>basename</a:t>
            </a:r>
            <a:r>
              <a:rPr lang="en-US" dirty="0"/>
              <a:t>="/my-app"&gt;</a:t>
            </a:r>
          </a:p>
        </p:txBody>
      </p:sp>
    </p:spTree>
    <p:extLst>
      <p:ext uri="{BB962C8B-B14F-4D97-AF65-F5344CB8AC3E}">
        <p14:creationId xmlns:p14="http://schemas.microsoft.com/office/powerpoint/2010/main" val="29257353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2C331-EDD4-B4E6-1A60-2EC7ED7A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879F8-35E3-222E-7B76-E301F8A30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Routes&gt; and &lt;Route</a:t>
            </a:r>
            <a:r>
              <a:rPr lang="en-US" dirty="0"/>
              <a:t>&gt; (v6)</a:t>
            </a:r>
          </a:p>
          <a:p>
            <a:pPr lvl="1"/>
            <a:r>
              <a:rPr lang="en-US" dirty="0"/>
              <a:t>In v6 you wrap all routes in &lt;</a:t>
            </a:r>
            <a:r>
              <a:rPr lang="en-US" dirty="0">
                <a:latin typeface="Consolas" panose="020B0609020204030204" pitchFamily="49" charset="0"/>
              </a:rPr>
              <a:t>Routes</a:t>
            </a:r>
            <a:r>
              <a:rPr lang="en-US" dirty="0"/>
              <a:t>&gt; and each route uses </a:t>
            </a:r>
            <a:r>
              <a:rPr lang="en-US" dirty="0">
                <a:latin typeface="Consolas" panose="020B0609020204030204" pitchFamily="49" charset="0"/>
              </a:rPr>
              <a:t>&lt;Route path="..." element={&lt;Component/&gt;} /&gt;.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053B2-271C-AE5F-4CE7-40EE7D8E7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537" y="2749306"/>
            <a:ext cx="8041027" cy="362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1324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E891-28D3-B327-F50A-914F0C2A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A65437-1F4D-C804-B288-75E9E5B06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843" y="1523835"/>
            <a:ext cx="6658765" cy="27698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472846-EAD8-D2DB-4180-430677957837}"/>
              </a:ext>
            </a:extLst>
          </p:cNvPr>
          <p:cNvSpPr txBox="1"/>
          <p:nvPr/>
        </p:nvSpPr>
        <p:spPr>
          <a:xfrm>
            <a:off x="1084843" y="5476965"/>
            <a:ext cx="10562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element</a:t>
            </a:r>
            <a:r>
              <a:rPr lang="en-US" dirty="0"/>
              <a:t> expects a JSX element (&lt;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Home /</a:t>
            </a:r>
            <a:r>
              <a:rPr lang="en-US" dirty="0"/>
              <a:t>&gt;), not the component identifier (Home) or a component prop (old API).</a:t>
            </a:r>
          </a:p>
        </p:txBody>
      </p:sp>
    </p:spTree>
    <p:extLst>
      <p:ext uri="{BB962C8B-B14F-4D97-AF65-F5344CB8AC3E}">
        <p14:creationId xmlns:p14="http://schemas.microsoft.com/office/powerpoint/2010/main" val="5293361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E7D2B-6DF3-C8AB-CC49-B0A1BB943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53590-CFC0-64CD-3C46-DEA8C65D4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path</a:t>
            </a:r>
          </a:p>
          <a:p>
            <a:pPr lvl="1"/>
            <a:r>
              <a:rPr lang="en-US" dirty="0"/>
              <a:t>The URL pattern that this route should match (e.g. </a:t>
            </a:r>
            <a:r>
              <a:rPr lang="en-US" dirty="0">
                <a:latin typeface="Consolas" panose="020B0609020204030204" pitchFamily="49" charset="0"/>
              </a:rPr>
              <a:t>/, /about, /user/:id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Dynamic segments use : (e.g. /user/:id) and can be read with </a:t>
            </a:r>
            <a:r>
              <a:rPr lang="en-US" dirty="0" err="1">
                <a:latin typeface="Consolas" panose="020B0609020204030204" pitchFamily="49" charset="0"/>
              </a:rPr>
              <a:t>useParams</a:t>
            </a:r>
            <a:r>
              <a:rPr lang="en-US" dirty="0">
                <a:latin typeface="Consolas" panose="020B0609020204030204" pitchFamily="49" charset="0"/>
              </a:rPr>
              <a:t>().</a:t>
            </a:r>
          </a:p>
          <a:p>
            <a:r>
              <a:rPr lang="en-US" dirty="0">
                <a:solidFill>
                  <a:srgbClr val="C00000"/>
                </a:solidFill>
                <a:latin typeface="+mj-lt"/>
              </a:rPr>
              <a:t>Link</a:t>
            </a:r>
            <a:r>
              <a:rPr lang="en-US" dirty="0">
                <a:latin typeface="+mj-lt"/>
              </a:rPr>
              <a:t> — navigation without reload: </a:t>
            </a:r>
          </a:p>
          <a:p>
            <a:pPr marL="457200" indent="0">
              <a:buNone/>
            </a:pPr>
            <a:r>
              <a:rPr lang="en-US" dirty="0">
                <a:latin typeface="+mj-lt"/>
              </a:rPr>
              <a:t>&lt;</a:t>
            </a:r>
            <a:r>
              <a:rPr lang="en-US" sz="2400" dirty="0">
                <a:latin typeface="Consolas" panose="020B0609020204030204" pitchFamily="49" charset="0"/>
              </a:rPr>
              <a:t>Link to="/about"&gt;About&lt;/Link</a:t>
            </a:r>
            <a:r>
              <a:rPr lang="en-US" sz="2400" dirty="0">
                <a:latin typeface="+mj-lt"/>
              </a:rPr>
              <a:t>&gt;.</a:t>
            </a:r>
          </a:p>
          <a:p>
            <a:pPr marL="45720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useNavigate</a:t>
            </a:r>
            <a:r>
              <a:rPr lang="en-US" sz="2400" dirty="0">
                <a:latin typeface="Consolas" panose="020B0609020204030204" pitchFamily="49" charset="0"/>
              </a:rPr>
              <a:t>() </a:t>
            </a:r>
            <a:r>
              <a:rPr lang="en-US" sz="2400" dirty="0">
                <a:latin typeface="+mj-lt"/>
              </a:rPr>
              <a:t>— programmatic navigation (replacement for </a:t>
            </a:r>
            <a:r>
              <a:rPr lang="en-US" sz="2400" dirty="0" err="1">
                <a:latin typeface="Consolas" panose="020B0609020204030204" pitchFamily="49" charset="0"/>
              </a:rPr>
              <a:t>useHistory</a:t>
            </a:r>
            <a:r>
              <a:rPr lang="en-US" sz="2400" dirty="0">
                <a:latin typeface="+mj-lt"/>
              </a:rPr>
              <a:t>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0FBC29-D99E-FC9B-B9C3-0CB9CEA4E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743" y="5364484"/>
            <a:ext cx="5454255" cy="97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113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EE75-FC4F-4CFF-EB0C-98D483F5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Setup (React Router v6+)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AD62F5-74B7-6576-5115-D0A9002B0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735" y="1501372"/>
            <a:ext cx="9047530" cy="483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174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B242-B414-8E8C-D55A-E22314536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1A78C1-6690-6205-90EF-DEAAB4AB5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630" y="1494617"/>
            <a:ext cx="8445995" cy="398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711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0AD8-BCD3-6CFD-6EBA-C5531353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6F3AF9-3603-85EC-27E9-9BBF81453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292" y="1569494"/>
            <a:ext cx="7162492" cy="379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635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50F8-63C3-C2A8-F569-6C9DD5C0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8D03A-C42A-1E56-EB3F-727FE4E97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Router Types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BrowserRouter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→ For modern browsers (most common).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HashRouter</a:t>
            </a:r>
            <a:r>
              <a:rPr lang="en-US" dirty="0"/>
              <a:t> → Uses # in URLs (useful for legacy hosting).</a:t>
            </a:r>
          </a:p>
          <a:p>
            <a:r>
              <a:rPr lang="en-US" dirty="0">
                <a:solidFill>
                  <a:srgbClr val="C00000"/>
                </a:solidFill>
              </a:rPr>
              <a:t>Routes</a:t>
            </a:r>
          </a:p>
          <a:p>
            <a:pPr lvl="1"/>
            <a:r>
              <a:rPr lang="en-US" dirty="0"/>
              <a:t>Define which component should </a:t>
            </a:r>
            <a:r>
              <a:rPr lang="en-US" dirty="0">
                <a:solidFill>
                  <a:srgbClr val="C00000"/>
                </a:solidFill>
              </a:rPr>
              <a:t>render for which URL </a:t>
            </a:r>
            <a:r>
              <a:rPr lang="en-US" dirty="0"/>
              <a:t>path.</a:t>
            </a:r>
          </a:p>
          <a:p>
            <a:r>
              <a:rPr lang="en-US" dirty="0">
                <a:solidFill>
                  <a:srgbClr val="C00000"/>
                </a:solidFill>
              </a:rPr>
              <a:t>Link</a:t>
            </a:r>
          </a:p>
          <a:p>
            <a:pPr lvl="1"/>
            <a:r>
              <a:rPr lang="en-US" dirty="0"/>
              <a:t>Works like </a:t>
            </a:r>
            <a:r>
              <a:rPr lang="en-US" dirty="0">
                <a:solidFill>
                  <a:srgbClr val="C00000"/>
                </a:solidFill>
              </a:rPr>
              <a:t>&lt;a&gt;</a:t>
            </a:r>
            <a:r>
              <a:rPr lang="en-US" dirty="0"/>
              <a:t>, but doesn’t reload the page.</a:t>
            </a:r>
          </a:p>
        </p:txBody>
      </p:sp>
    </p:spTree>
    <p:extLst>
      <p:ext uri="{BB962C8B-B14F-4D97-AF65-F5344CB8AC3E}">
        <p14:creationId xmlns:p14="http://schemas.microsoft.com/office/powerpoint/2010/main" val="5460473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C3D1-6EDB-6452-4236-614ECE83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AC0C1-9B59-8DF8-7EFD-352510965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useNavigate</a:t>
            </a:r>
            <a:r>
              <a:rPr lang="en-US" dirty="0"/>
              <a:t> (Redirect)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0D8D5-CBFC-BF1B-2A67-56E6548C8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714" y="2121209"/>
            <a:ext cx="6325791" cy="412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573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1EB6D-A3F6-BB24-A730-288BA928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CA646-7D36-212C-F330-4A5888D31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useParams</a:t>
            </a:r>
            <a:r>
              <a:rPr lang="en-US" dirty="0"/>
              <a:t> (Dynamic Routes)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A7F99-59A2-9D0D-AE67-237129964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580" y="1991699"/>
            <a:ext cx="6676910" cy="371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519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7140-E9BC-45D1-342D-A5C3AA1E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&lt;Link&gt; vs &lt;</a:t>
            </a:r>
            <a:r>
              <a:rPr lang="en-US" dirty="0" err="1"/>
              <a:t>NavLink</a:t>
            </a:r>
            <a:r>
              <a:rPr lang="en-US" dirty="0"/>
              <a:t>&gt; in React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019E2-EEB7-2B1F-837B-E4ED7B5E0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&lt;Link&gt;</a:t>
            </a:r>
          </a:p>
          <a:p>
            <a:pPr lvl="1"/>
            <a:r>
              <a:rPr lang="en-US" dirty="0"/>
              <a:t>Used for </a:t>
            </a:r>
            <a:r>
              <a:rPr lang="en-US" b="1" dirty="0"/>
              <a:t>basic navigation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Changes the URL without reloading the page.</a:t>
            </a:r>
          </a:p>
          <a:p>
            <a:pPr lvl="1"/>
            <a:r>
              <a:rPr lang="en-US" dirty="0"/>
              <a:t>Does not provide any styling for active links.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FFB13A-F9E3-476F-FBD7-48CEE403E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547" y="3500329"/>
            <a:ext cx="5687726" cy="261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22403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321A-82A7-5852-C0A5-7955DC3E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&lt;Link&gt; vs &lt;</a:t>
            </a:r>
            <a:r>
              <a:rPr lang="en-US" dirty="0" err="1"/>
              <a:t>NavLink</a:t>
            </a:r>
            <a:r>
              <a:rPr lang="en-US" dirty="0"/>
              <a:t>&gt; in React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7B4B7-4C53-F065-376C-BCC70CCFD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NavLink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Same as </a:t>
            </a:r>
            <a:r>
              <a:rPr lang="en-US" dirty="0">
                <a:solidFill>
                  <a:srgbClr val="C00000"/>
                </a:solidFill>
              </a:rPr>
              <a:t>&lt;Link&gt;</a:t>
            </a:r>
            <a:r>
              <a:rPr lang="en-US" dirty="0"/>
              <a:t>, but </a:t>
            </a:r>
            <a:r>
              <a:rPr lang="en-US" dirty="0">
                <a:solidFill>
                  <a:srgbClr val="C00000"/>
                </a:solidFill>
              </a:rPr>
              <a:t>with extra styling features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Automatically applies an active class (or custom styles) when the link matches the current route.</a:t>
            </a:r>
          </a:p>
          <a:p>
            <a:pPr lvl="1"/>
            <a:r>
              <a:rPr lang="en-US" dirty="0"/>
              <a:t>Useful for </a:t>
            </a:r>
            <a:r>
              <a:rPr lang="en-US" dirty="0">
                <a:solidFill>
                  <a:srgbClr val="C00000"/>
                </a:solidFill>
              </a:rPr>
              <a:t>navigation menus </a:t>
            </a:r>
            <a:r>
              <a:rPr lang="en-US" dirty="0"/>
              <a:t>where you want to highlight the active page.</a:t>
            </a:r>
          </a:p>
        </p:txBody>
      </p:sp>
    </p:spTree>
    <p:extLst>
      <p:ext uri="{BB962C8B-B14F-4D97-AF65-F5344CB8AC3E}">
        <p14:creationId xmlns:p14="http://schemas.microsoft.com/office/powerpoint/2010/main" val="421589828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F9E4-01F1-9C5E-C2B9-FDA8ABF1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</a:t>
            </a:r>
            <a:r>
              <a:rPr lang="en-US" dirty="0" err="1"/>
              <a:t>NavLink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FE739F-1FD3-35FD-AA63-986F0B5ED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348" y="1691586"/>
            <a:ext cx="10682610" cy="376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395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652A5-5F1C-C44F-0A18-FFB94CBCE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61EC-4A14-337F-6568-0C502F19A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multi-page experience in SPAs</a:t>
            </a:r>
          </a:p>
          <a:p>
            <a:r>
              <a:rPr lang="en-US" dirty="0"/>
              <a:t>Avoids full page reloads → better performance</a:t>
            </a:r>
          </a:p>
          <a:p>
            <a:r>
              <a:rPr lang="en-US" dirty="0"/>
              <a:t>Allows dynamic routes (like /product/5)</a:t>
            </a:r>
          </a:p>
          <a:p>
            <a:r>
              <a:rPr lang="en-US" dirty="0"/>
              <a:t>Makes apps structured and scalable</a:t>
            </a:r>
          </a:p>
          <a:p>
            <a:endParaRPr lang="en-US" dirty="0"/>
          </a:p>
          <a:p>
            <a:r>
              <a:rPr lang="en-US" dirty="0"/>
              <a:t>React Router makes your single-page React app feel like a </a:t>
            </a:r>
            <a:r>
              <a:rPr lang="en-US" b="1" dirty="0"/>
              <a:t>multi-page website</a:t>
            </a:r>
            <a:r>
              <a:rPr lang="en-US" dirty="0"/>
              <a:t>, with smooth navigation and no reloads.</a:t>
            </a:r>
          </a:p>
        </p:txBody>
      </p:sp>
    </p:spTree>
    <p:extLst>
      <p:ext uri="{BB962C8B-B14F-4D97-AF65-F5344CB8AC3E}">
        <p14:creationId xmlns:p14="http://schemas.microsoft.com/office/powerpoint/2010/main" val="381460135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8261-A94C-DCCC-FA49-E5E297F5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6D30F-0706-EC84-763B-4334BA3B4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mainly two types of form input in React.</a:t>
            </a:r>
          </a:p>
          <a:p>
            <a:pPr lvl="1"/>
            <a:r>
              <a:rPr lang="en-US" dirty="0"/>
              <a:t>Uncontrolled component</a:t>
            </a:r>
          </a:p>
          <a:p>
            <a:pPr lvl="1"/>
            <a:r>
              <a:rPr lang="en-US" dirty="0"/>
              <a:t>Controlled component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In React, the form is usually implemented by using controlled components.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34459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BAAF-87DC-1B2D-49A1-E4AF6023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Uncontrolled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7995B-3357-09A7-C354-D1229EA54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Uncontrolled component</a:t>
            </a:r>
            <a:r>
              <a:rPr lang="en-US" dirty="0"/>
              <a:t>: inputs keep their own internal state; React reads values via </a:t>
            </a:r>
            <a:r>
              <a:rPr lang="en-US" dirty="0">
                <a:solidFill>
                  <a:srgbClr val="C00000"/>
                </a:solidFill>
              </a:rPr>
              <a:t>ref</a:t>
            </a:r>
            <a:r>
              <a:rPr lang="en-US" dirty="0"/>
              <a:t> when needed.</a:t>
            </a:r>
          </a:p>
          <a:p>
            <a:r>
              <a:rPr lang="en-US" dirty="0"/>
              <a:t>The uncontrolled input is similar to the traditional HTML form inputs.</a:t>
            </a:r>
          </a:p>
          <a:p>
            <a:r>
              <a:rPr lang="en-US" dirty="0"/>
              <a:t>The DOM itself handles the form data.</a:t>
            </a:r>
          </a:p>
          <a:p>
            <a:r>
              <a:rPr lang="en-US" dirty="0"/>
              <a:t>Here, the HTML elements maintain their own state that will be updated when the input value changes. </a:t>
            </a:r>
          </a:p>
          <a:p>
            <a:r>
              <a:rPr lang="en-US" dirty="0"/>
              <a:t>Best for validation, instant UI feedback, keeping source-of-truth in React.</a:t>
            </a:r>
            <a:br>
              <a:rPr lang="en-US" dirty="0"/>
            </a:br>
            <a:r>
              <a:rPr lang="en-US" i="1" dirty="0">
                <a:solidFill>
                  <a:srgbClr val="C00000"/>
                </a:solidFill>
              </a:rPr>
              <a:t>Pros</a:t>
            </a:r>
            <a:r>
              <a:rPr lang="en-US" i="1" dirty="0"/>
              <a:t>:</a:t>
            </a:r>
            <a:r>
              <a:rPr lang="en-US" dirty="0"/>
              <a:t> simpler for small forms or file inputs, less re-rendering.</a:t>
            </a:r>
            <a:br>
              <a:rPr lang="en-US" dirty="0"/>
            </a:br>
            <a:r>
              <a:rPr lang="en-US" i="1" dirty="0">
                <a:solidFill>
                  <a:srgbClr val="C00000"/>
                </a:solidFill>
              </a:rPr>
              <a:t>Cons</a:t>
            </a:r>
            <a:r>
              <a:rPr lang="en-US" i="1" dirty="0"/>
              <a:t>:</a:t>
            </a:r>
            <a:r>
              <a:rPr lang="en-US" dirty="0"/>
              <a:t> harder </a:t>
            </a:r>
            <a:r>
              <a:rPr lang="en-US" dirty="0" err="1"/>
              <a:t>realtime</a:t>
            </a:r>
            <a:r>
              <a:rPr lang="en-US" dirty="0"/>
              <a:t> validation/feedback.</a:t>
            </a:r>
          </a:p>
        </p:txBody>
      </p:sp>
    </p:spTree>
    <p:extLst>
      <p:ext uri="{BB962C8B-B14F-4D97-AF65-F5344CB8AC3E}">
        <p14:creationId xmlns:p14="http://schemas.microsoft.com/office/powerpoint/2010/main" val="15759582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5F4A-5AE4-DF72-3957-C7657D464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Uncontrolled component (example)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34B139-515D-92B5-9175-E2F49276B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75" y="1525668"/>
            <a:ext cx="7705821" cy="481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6209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40A08-81E5-6CB7-2527-84EEF714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EF1ABE-9385-75AA-84EE-6B5275E79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824" y="1498105"/>
            <a:ext cx="8186983" cy="345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339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B9F6-DA0E-8FED-1E36-8157BEB74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8C1A-8127-6608-8E1D-6DDA689DF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React, Controlled Components are those in which form’s data is handled by the </a:t>
            </a:r>
            <a:r>
              <a:rPr lang="en-US" dirty="0">
                <a:solidFill>
                  <a:srgbClr val="C00000"/>
                </a:solidFill>
              </a:rPr>
              <a:t>component’s state</a:t>
            </a:r>
            <a:r>
              <a:rPr lang="en-US" dirty="0"/>
              <a:t>. </a:t>
            </a:r>
          </a:p>
          <a:p>
            <a:r>
              <a:rPr lang="en-US" dirty="0"/>
              <a:t>It takes its current value through props and makes changes through callbacks like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onChange</a:t>
            </a:r>
            <a:r>
              <a:rPr lang="en-US" dirty="0"/>
              <a:t>, etc.</a:t>
            </a:r>
          </a:p>
          <a:p>
            <a:r>
              <a:rPr lang="en-US" dirty="0"/>
              <a:t>Form inputs whose value is driven by React state (</a:t>
            </a:r>
            <a:r>
              <a:rPr lang="en-US" dirty="0">
                <a:solidFill>
                  <a:srgbClr val="C00000"/>
                </a:solidFill>
              </a:rPr>
              <a:t>value</a:t>
            </a:r>
            <a:r>
              <a:rPr lang="en-US" dirty="0"/>
              <a:t> + </a:t>
            </a:r>
            <a:r>
              <a:rPr lang="en-US" dirty="0" err="1">
                <a:solidFill>
                  <a:srgbClr val="C00000"/>
                </a:solidFill>
              </a:rPr>
              <a:t>onChange</a:t>
            </a:r>
            <a:r>
              <a:rPr lang="en-US" dirty="0"/>
              <a:t>). </a:t>
            </a:r>
          </a:p>
          <a:p>
            <a:r>
              <a:rPr lang="en-US" dirty="0"/>
              <a:t>Best for validation, instant UI feedback, keeping source-of-truth in React.</a:t>
            </a:r>
          </a:p>
          <a:p>
            <a:r>
              <a:rPr lang="en-US" i="1" dirty="0">
                <a:solidFill>
                  <a:srgbClr val="C00000"/>
                </a:solidFill>
              </a:rPr>
              <a:t>Pros</a:t>
            </a:r>
            <a:r>
              <a:rPr lang="en-US" i="1" dirty="0"/>
              <a:t>:</a:t>
            </a:r>
            <a:r>
              <a:rPr lang="en-US" dirty="0"/>
              <a:t> easy validation, predictable, works well with complex UIs.</a:t>
            </a:r>
            <a:br>
              <a:rPr lang="en-US" dirty="0"/>
            </a:br>
            <a:r>
              <a:rPr lang="en-US" i="1" dirty="0">
                <a:solidFill>
                  <a:srgbClr val="C00000"/>
                </a:solidFill>
              </a:rPr>
              <a:t>Cons</a:t>
            </a:r>
            <a:r>
              <a:rPr lang="en-US" i="1" dirty="0"/>
              <a:t>:</a:t>
            </a:r>
            <a:r>
              <a:rPr lang="en-US" dirty="0"/>
              <a:t> more boilerplate for large forms; frequent re-renders if misused.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035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4F7F-1412-C31C-DECD-3529AC334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Components (Example)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9EBBE5-8E79-3FF5-A722-5155ADFBD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106" y="1581389"/>
            <a:ext cx="9443711" cy="475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2312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BC313-B9F4-75BA-E767-C80C785B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4A36B7-4BFF-1DC7-75C5-CCE06A669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001" y="1440007"/>
            <a:ext cx="8526490" cy="481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895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4867-B8B6-FBA0-FDDA-6E6F8E444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Pagination in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62E7B-F256-74C9-240A-0A650D520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Pagination </a:t>
            </a:r>
            <a:r>
              <a:rPr lang="en-US" dirty="0"/>
              <a:t>is the UI pattern that breaks a long list of items into pages so the user can view a </a:t>
            </a:r>
            <a:r>
              <a:rPr lang="en-US" dirty="0">
                <a:solidFill>
                  <a:srgbClr val="C00000"/>
                </a:solidFill>
              </a:rPr>
              <a:t>subset at a time </a:t>
            </a:r>
            <a:r>
              <a:rPr lang="en-US" dirty="0"/>
              <a:t>(e.g., 10 items per page) instead of loading or </a:t>
            </a:r>
            <a:r>
              <a:rPr lang="en-US" dirty="0">
                <a:solidFill>
                  <a:srgbClr val="C00000"/>
                </a:solidFill>
              </a:rPr>
              <a:t>rendering everything </a:t>
            </a:r>
            <a:r>
              <a:rPr lang="en-US" dirty="0"/>
              <a:t>all at once. </a:t>
            </a:r>
          </a:p>
          <a:p>
            <a:r>
              <a:rPr lang="en-US" dirty="0"/>
              <a:t>In React, pagination is implemented as a component (or set of components) that:</a:t>
            </a:r>
          </a:p>
          <a:p>
            <a:pPr lvl="1"/>
            <a:r>
              <a:rPr lang="en-US" dirty="0"/>
              <a:t>tracks the current page (</a:t>
            </a:r>
            <a:r>
              <a:rPr lang="en-US" dirty="0">
                <a:solidFill>
                  <a:srgbClr val="C00000"/>
                </a:solidFill>
              </a:rPr>
              <a:t>state</a:t>
            </a:r>
            <a:r>
              <a:rPr lang="en-US" dirty="0"/>
              <a:t>),</a:t>
            </a:r>
          </a:p>
          <a:p>
            <a:pPr lvl="1"/>
            <a:r>
              <a:rPr lang="en-US" dirty="0"/>
              <a:t>calculates which items to show for that page (</a:t>
            </a:r>
            <a:r>
              <a:rPr lang="en-US" dirty="0">
                <a:solidFill>
                  <a:srgbClr val="C00000"/>
                </a:solidFill>
              </a:rPr>
              <a:t>client-side</a:t>
            </a:r>
            <a:r>
              <a:rPr lang="en-US" dirty="0"/>
              <a:t>) or requests the correct page from a server (</a:t>
            </a:r>
            <a:r>
              <a:rPr lang="en-US" dirty="0">
                <a:solidFill>
                  <a:srgbClr val="C00000"/>
                </a:solidFill>
              </a:rPr>
              <a:t>server-side</a:t>
            </a:r>
            <a:r>
              <a:rPr lang="en-US" dirty="0"/>
              <a:t>),</a:t>
            </a:r>
          </a:p>
          <a:p>
            <a:pPr lvl="1"/>
            <a:r>
              <a:rPr lang="en-US" dirty="0"/>
              <a:t>provides controls (</a:t>
            </a:r>
            <a:r>
              <a:rPr lang="en-US" dirty="0">
                <a:solidFill>
                  <a:srgbClr val="C00000"/>
                </a:solidFill>
              </a:rPr>
              <a:t>previous/next, page numbers</a:t>
            </a:r>
            <a:r>
              <a:rPr lang="en-US" dirty="0"/>
              <a:t>, “load more”) to change pages,</a:t>
            </a:r>
          </a:p>
          <a:p>
            <a:pPr lvl="1"/>
            <a:r>
              <a:rPr lang="en-US" dirty="0"/>
              <a:t>and updates the UI when the page changes.</a:t>
            </a:r>
          </a:p>
          <a:p>
            <a:r>
              <a:rPr lang="en-US" dirty="0"/>
              <a:t>Pagination improves performance, UX, and network usage for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21580233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AEF83-247F-1B36-213A-614E6B963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common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4FEA6-7ABF-E1FB-2920-AB01BCE26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Client-side pagination</a:t>
            </a:r>
          </a:p>
          <a:p>
            <a:pPr lvl="1"/>
            <a:r>
              <a:rPr lang="en-US" dirty="0"/>
              <a:t>You already have </a:t>
            </a:r>
            <a:r>
              <a:rPr lang="en-US" dirty="0">
                <a:solidFill>
                  <a:srgbClr val="FF0000"/>
                </a:solidFill>
              </a:rPr>
              <a:t>all items in the client </a:t>
            </a:r>
            <a:r>
              <a:rPr lang="en-US" dirty="0"/>
              <a:t>(e.g., an array).</a:t>
            </a:r>
          </a:p>
          <a:p>
            <a:pPr lvl="1"/>
            <a:r>
              <a:rPr lang="en-US" dirty="0"/>
              <a:t>The pagination component slices the array and shows only the current page items.</a:t>
            </a:r>
          </a:p>
          <a:p>
            <a:pPr lvl="1"/>
            <a:r>
              <a:rPr lang="en-US" dirty="0"/>
              <a:t>Good for moderately sized lists (hundreds — depending on memory).</a:t>
            </a:r>
          </a:p>
          <a:p>
            <a:r>
              <a:rPr lang="en-US" dirty="0">
                <a:solidFill>
                  <a:srgbClr val="C00000"/>
                </a:solidFill>
              </a:rPr>
              <a:t>Server-side pagination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client requests a specific page </a:t>
            </a:r>
            <a:r>
              <a:rPr lang="en-US" dirty="0"/>
              <a:t>(e.g.,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api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items?page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=3&amp;pageSize=20</a:t>
            </a:r>
            <a:r>
              <a:rPr lang="en-US" dirty="0"/>
              <a:t>) and the server returns just that page and </a:t>
            </a:r>
            <a:r>
              <a:rPr lang="en-US" dirty="0">
                <a:solidFill>
                  <a:srgbClr val="FF0000"/>
                </a:solidFill>
              </a:rPr>
              <a:t>metadata</a:t>
            </a:r>
            <a:r>
              <a:rPr lang="en-US" dirty="0"/>
              <a:t> (total count).</a:t>
            </a:r>
          </a:p>
          <a:p>
            <a:pPr lvl="1"/>
            <a:r>
              <a:rPr lang="en-US" dirty="0"/>
              <a:t>Best for large datasets (thousands/millions) or when you want to reduce bandwidth.</a:t>
            </a:r>
          </a:p>
          <a:p>
            <a:pPr lvl="1"/>
            <a:r>
              <a:rPr lang="en-US" dirty="0"/>
              <a:t>React only stores the current page's items and requests new pages as the user navigates.</a:t>
            </a:r>
          </a:p>
        </p:txBody>
      </p:sp>
    </p:spTree>
    <p:extLst>
      <p:ext uri="{BB962C8B-B14F-4D97-AF65-F5344CB8AC3E}">
        <p14:creationId xmlns:p14="http://schemas.microsoft.com/office/powerpoint/2010/main" val="405897318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2C96-F67C-3A22-E973-74665C36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UX patterns &amp;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37EA-0B70-D97A-9909-A1941476D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Numbered pages </a:t>
            </a:r>
            <a:r>
              <a:rPr lang="en-US" dirty="0"/>
              <a:t>(1,2,3,...) — clear for limited pages.</a:t>
            </a:r>
          </a:p>
          <a:p>
            <a:r>
              <a:rPr lang="en-US" dirty="0">
                <a:solidFill>
                  <a:srgbClr val="C00000"/>
                </a:solidFill>
              </a:rPr>
              <a:t>Previous / Next </a:t>
            </a:r>
            <a:r>
              <a:rPr lang="en-US" dirty="0"/>
              <a:t>— simpler navigation.</a:t>
            </a:r>
          </a:p>
          <a:p>
            <a:r>
              <a:rPr lang="en-US" dirty="0"/>
              <a:t>“</a:t>
            </a:r>
            <a:r>
              <a:rPr lang="en-US" dirty="0">
                <a:solidFill>
                  <a:srgbClr val="C00000"/>
                </a:solidFill>
              </a:rPr>
              <a:t>Load more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button</a:t>
            </a:r>
            <a:r>
              <a:rPr lang="en-US" dirty="0"/>
              <a:t> — appends next page (good for mobile/feeds).</a:t>
            </a:r>
          </a:p>
          <a:p>
            <a:r>
              <a:rPr lang="en-US" dirty="0">
                <a:solidFill>
                  <a:srgbClr val="C00000"/>
                </a:solidFill>
              </a:rPr>
              <a:t>Infinite scroll </a:t>
            </a:r>
            <a:r>
              <a:rPr lang="en-US" dirty="0"/>
              <a:t>— auto-loads more on scroll (requires careful accessibility + state handling).</a:t>
            </a:r>
          </a:p>
          <a:p>
            <a:r>
              <a:rPr lang="en-US" dirty="0">
                <a:solidFill>
                  <a:srgbClr val="C00000"/>
                </a:solidFill>
              </a:rPr>
              <a:t>Show</a:t>
            </a:r>
            <a:r>
              <a:rPr lang="en-US" dirty="0"/>
              <a:t> </a:t>
            </a:r>
            <a:r>
              <a:rPr lang="en-US" dirty="0" err="1">
                <a:latin typeface="Consolas" panose="020B0609020204030204" pitchFamily="49" charset="0"/>
              </a:rPr>
              <a:t>totalPages</a:t>
            </a:r>
            <a:r>
              <a:rPr lang="en-US" dirty="0"/>
              <a:t>, </a:t>
            </a:r>
            <a:r>
              <a:rPr lang="en-US" dirty="0" err="1"/>
              <a:t>c</a:t>
            </a:r>
            <a:r>
              <a:rPr lang="en-US" dirty="0" err="1">
                <a:latin typeface="Consolas" panose="020B0609020204030204" pitchFamily="49" charset="0"/>
              </a:rPr>
              <a:t>urrentPage</a:t>
            </a:r>
            <a:r>
              <a:rPr lang="en-US" dirty="0"/>
              <a:t>, and optionally </a:t>
            </a:r>
            <a:r>
              <a:rPr lang="en-US" dirty="0" err="1">
                <a:latin typeface="Consolas" panose="020B0609020204030204" pitchFamily="49" charset="0"/>
              </a:rPr>
              <a:t>totalItems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Provide keyboard access </a:t>
            </a:r>
            <a:r>
              <a:rPr lang="en-US" dirty="0"/>
              <a:t>and ARIA attributes for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297399524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9B3F9-396A-51C2-089D-158DC426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390033-F7AD-FDE6-DF55-A96471012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547" y="1401904"/>
            <a:ext cx="5671968" cy="4938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1733B1-7D5C-1E2F-F0F6-9D2EA244CD2B}"/>
              </a:ext>
            </a:extLst>
          </p:cNvPr>
          <p:cNvSpPr txBox="1"/>
          <p:nvPr/>
        </p:nvSpPr>
        <p:spPr>
          <a:xfrm>
            <a:off x="5903844" y="5874026"/>
            <a:ext cx="5793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For Programs of App.js and Pagination.js Click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23028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4DAFC-21F3-6430-4105-94DE4034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510E3-4443-1010-F73C-AA9D356DD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table is an arrangement which organizes information into rows and columns. It is used to store and display data in a structured format.</a:t>
            </a:r>
          </a:p>
          <a:p>
            <a:r>
              <a:rPr lang="en-US" b="1" dirty="0"/>
              <a:t>Let us create a React app using the following command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$ 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npx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 create-react-app 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myreactapp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$ 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 install react-table-6 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import 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ReactTable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 from "react-table-6"; 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05258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29FE-8648-FFD6-D754-9D171A23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Tables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0EFC20-A82C-3507-C1CF-C8FD2AC2B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547" y="1554317"/>
            <a:ext cx="5734809" cy="4617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8E600-8255-9789-5163-5BCFFED6A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356" y="1554317"/>
            <a:ext cx="4236416" cy="374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7858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B9B-67F0-F853-701E-D08F6CAB6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A44279-B95B-5AA3-5C98-73FB1CACC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634" y="1507015"/>
            <a:ext cx="3701515" cy="439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9664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4E71-9B82-7132-8755-2F60EB1E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Example dynamic loading (App.JS)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82F363D-91B4-EA8F-89C9-75F01848D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626" y="1426819"/>
            <a:ext cx="4756581" cy="45465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85C12A-5DD9-2E7A-1019-C22A605AC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207" y="1278235"/>
            <a:ext cx="4695182" cy="46951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437B1D-B79F-28EE-C774-7D8590741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945" y="5679156"/>
            <a:ext cx="1150720" cy="7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1828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6EDE-E8EB-AE00-09F3-3D151271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App.CSS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042EEB-D38F-5945-9A5D-F94B9E463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1631"/>
          <a:stretch>
            <a:fillRect/>
          </a:stretch>
        </p:blipFill>
        <p:spPr>
          <a:xfrm>
            <a:off x="838091" y="1447833"/>
            <a:ext cx="4271185" cy="4167775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F078300-C9AB-0D47-3E70-62BED59BA0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807"/>
          <a:stretch>
            <a:fillRect/>
          </a:stretch>
        </p:blipFill>
        <p:spPr>
          <a:xfrm>
            <a:off x="5355769" y="1447833"/>
            <a:ext cx="4313081" cy="28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1617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7AFBD-DB1A-5BF5-5D10-154E15C1B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6C1367-8437-805F-31CF-4261CE85F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204" y="2452242"/>
            <a:ext cx="9914479" cy="29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6994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0497-6990-D01B-A50B-4538FD10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React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FF1C8-0206-03CD-CDCB-C979975BD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react-table-6:</a:t>
            </a:r>
          </a:p>
          <a:p>
            <a:pPr marL="91440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import 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ReactTable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 from "react-table";  </a:t>
            </a:r>
          </a:p>
          <a:p>
            <a:pPr marL="91440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import "react-table/react-table.css";</a:t>
            </a:r>
          </a:p>
          <a:p>
            <a:r>
              <a:rPr lang="en-US" dirty="0"/>
              <a:t>It is lightweight .</a:t>
            </a:r>
          </a:p>
          <a:p>
            <a:r>
              <a:rPr lang="en-US" dirty="0"/>
              <a:t>It is fully customizable</a:t>
            </a:r>
          </a:p>
          <a:p>
            <a:r>
              <a:rPr lang="en-US" dirty="0"/>
              <a:t>It has filters.</a:t>
            </a:r>
          </a:p>
          <a:p>
            <a:r>
              <a:rPr lang="en-US" dirty="0"/>
              <a:t>Minimal design &amp; easily theme 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70477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0B49-6857-75F3-CA98-26A4876F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props &amp; features in v6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577A7-49E3-EDAE-14E5-5E8952221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</a:rPr>
              <a:t>data, columns </a:t>
            </a:r>
            <a:r>
              <a:rPr lang="en-US" dirty="0"/>
              <a:t>— required.</a:t>
            </a:r>
          </a:p>
          <a:p>
            <a:r>
              <a:rPr lang="en-US" sz="2600" dirty="0" err="1">
                <a:solidFill>
                  <a:srgbClr val="C00000"/>
                </a:solidFill>
                <a:latin typeface="Consolas" panose="020B0609020204030204" pitchFamily="49" charset="0"/>
              </a:rPr>
              <a:t>defaultPageSize</a:t>
            </a:r>
            <a:r>
              <a:rPr lang="en-US" dirty="0"/>
              <a:t>, </a:t>
            </a:r>
            <a:r>
              <a:rPr lang="en-US" sz="2600" dirty="0" err="1">
                <a:solidFill>
                  <a:srgbClr val="C00000"/>
                </a:solidFill>
                <a:latin typeface="Consolas" panose="020B0609020204030204" pitchFamily="49" charset="0"/>
              </a:rPr>
              <a:t>pageSizeOptions</a:t>
            </a:r>
            <a:r>
              <a:rPr lang="en-US" dirty="0"/>
              <a:t> — client-side paging.</a:t>
            </a:r>
          </a:p>
          <a:p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</a:rPr>
              <a:t>sortable</a:t>
            </a:r>
            <a:r>
              <a:rPr lang="en-US" dirty="0"/>
              <a:t>, 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</a:rPr>
              <a:t>filterable</a:t>
            </a:r>
            <a:r>
              <a:rPr lang="en-US" dirty="0"/>
              <a:t> — enable sorting/filters (can be set globally or per-column).</a:t>
            </a:r>
          </a:p>
          <a:p>
            <a:r>
              <a:rPr lang="en-US" sz="2600" dirty="0" err="1">
                <a:solidFill>
                  <a:srgbClr val="C00000"/>
                </a:solidFill>
                <a:latin typeface="Consolas" panose="020B0609020204030204" pitchFamily="49" charset="0"/>
              </a:rPr>
              <a:t>className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</a:rPr>
              <a:t>="-striped -highlight</a:t>
            </a:r>
            <a:r>
              <a:rPr lang="en-US" dirty="0"/>
              <a:t>" — built-in CSS classes (if you imported the default CSS).</a:t>
            </a:r>
          </a:p>
          <a:p>
            <a:r>
              <a:rPr lang="en-US" dirty="0">
                <a:solidFill>
                  <a:srgbClr val="0070C0"/>
                </a:solidFill>
              </a:rPr>
              <a:t>Server-side (manual) mode</a:t>
            </a:r>
            <a:r>
              <a:rPr lang="en-US" dirty="0"/>
              <a:t>: pass manual and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onFetchData</a:t>
            </a:r>
            <a:r>
              <a:rPr lang="en-US" dirty="0"/>
              <a:t> plus pages: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manual</a:t>
            </a:r>
            <a:r>
              <a:rPr lang="en-US" dirty="0"/>
              <a:t> tells the table you handle paging/sorting/filtering on the server.</a:t>
            </a:r>
          </a:p>
          <a:p>
            <a:pPr lvl="1"/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onFetchData</a:t>
            </a:r>
            <a:r>
              <a:rPr lang="en-US" dirty="0"/>
              <a:t>(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state, instance</a:t>
            </a:r>
            <a:r>
              <a:rPr lang="en-US" dirty="0"/>
              <a:t>) is called with parameters (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page, 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pageSize</a:t>
            </a:r>
            <a:r>
              <a:rPr lang="en-US" dirty="0"/>
              <a:t>, 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sorted, filtered</a:t>
            </a:r>
            <a:r>
              <a:rPr lang="en-US" dirty="0"/>
              <a:t>) — use it to fetch data and then update data and pages.</a:t>
            </a:r>
          </a:p>
          <a:p>
            <a:r>
              <a:rPr lang="en-US" dirty="0"/>
              <a:t>loading — </a:t>
            </a:r>
            <a:r>
              <a:rPr lang="en-US" sz="2600" dirty="0" err="1">
                <a:solidFill>
                  <a:srgbClr val="C00000"/>
                </a:solidFill>
                <a:latin typeface="Consolas" panose="020B0609020204030204" pitchFamily="49" charset="0"/>
              </a:rPr>
              <a:t>boolean</a:t>
            </a:r>
            <a:r>
              <a:rPr lang="en-US" dirty="0"/>
              <a:t> to show a loading state.</a:t>
            </a:r>
          </a:p>
        </p:txBody>
      </p:sp>
    </p:spTree>
    <p:extLst>
      <p:ext uri="{BB962C8B-B14F-4D97-AF65-F5344CB8AC3E}">
        <p14:creationId xmlns:p14="http://schemas.microsoft.com/office/powerpoint/2010/main" val="14761942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49A4-65AF-6937-E97B-9F0C0697B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Using react-table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547B64-AAE5-0B01-4523-CA6B70788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13502"/>
            <a:ext cx="10758488" cy="30342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C21F39-C350-84EF-04E8-0DEFB6A21DE8}"/>
              </a:ext>
            </a:extLst>
          </p:cNvPr>
          <p:cNvSpPr txBox="1"/>
          <p:nvPr/>
        </p:nvSpPr>
        <p:spPr>
          <a:xfrm>
            <a:off x="2594113" y="5973417"/>
            <a:ext cx="426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For code Click here (App.js &amp; App.css)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67974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AE62C-BE76-F984-1E4C-5598C12F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App.js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C86173-DD33-2024-8BF3-766B512E6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186" y="1525223"/>
            <a:ext cx="5855814" cy="49053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095693-4EA5-574E-A537-DB5EFBADF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753" y="1525223"/>
            <a:ext cx="5346061" cy="35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8938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9A524-0FA4-E47C-DBD5-7F0DD2237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Small server-side (manual) example sketch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D25909-491F-590D-12C5-FB2A105BD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160" y="1483287"/>
            <a:ext cx="5097779" cy="499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74A056-8512-9ACB-D22D-69FB3D1B2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165" y="1483287"/>
            <a:ext cx="6691742" cy="347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93733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CCDDF-3902-69E7-7AC8-913BBDEE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D445A-6E1B-08D7-364F-8A53D9379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Hooks were added to React in </a:t>
            </a:r>
            <a:r>
              <a:rPr lang="en-US" dirty="0">
                <a:solidFill>
                  <a:srgbClr val="C00000"/>
                </a:solidFill>
              </a:rPr>
              <a:t>version 16.8</a:t>
            </a:r>
            <a:r>
              <a:rPr lang="en-US" dirty="0"/>
              <a:t>.</a:t>
            </a:r>
          </a:p>
          <a:p>
            <a:r>
              <a:rPr lang="en-US" dirty="0"/>
              <a:t>Hooks </a:t>
            </a:r>
            <a:r>
              <a:rPr lang="en-US" dirty="0">
                <a:solidFill>
                  <a:srgbClr val="C00000"/>
                </a:solidFill>
              </a:rPr>
              <a:t>allow function components </a:t>
            </a:r>
            <a:r>
              <a:rPr lang="en-US" dirty="0"/>
              <a:t>to have access to </a:t>
            </a:r>
            <a:r>
              <a:rPr lang="en-US" dirty="0">
                <a:solidFill>
                  <a:srgbClr val="C00000"/>
                </a:solidFill>
              </a:rPr>
              <a:t>state and other React features</a:t>
            </a:r>
            <a:r>
              <a:rPr lang="en-US" dirty="0"/>
              <a:t>. </a:t>
            </a:r>
          </a:p>
          <a:p>
            <a:r>
              <a:rPr lang="en-US" dirty="0"/>
              <a:t>It allows you to </a:t>
            </a:r>
            <a:r>
              <a:rPr lang="en-US" dirty="0">
                <a:solidFill>
                  <a:srgbClr val="C00000"/>
                </a:solidFill>
              </a:rPr>
              <a:t>use state </a:t>
            </a:r>
            <a:r>
              <a:rPr lang="en-US" dirty="0"/>
              <a:t>and other </a:t>
            </a:r>
            <a:r>
              <a:rPr lang="en-US" dirty="0">
                <a:solidFill>
                  <a:srgbClr val="C00000"/>
                </a:solidFill>
              </a:rPr>
              <a:t>React features without writing a class</a:t>
            </a:r>
            <a:r>
              <a:rPr lang="en-US" dirty="0"/>
              <a:t>.</a:t>
            </a:r>
          </a:p>
          <a:p>
            <a:r>
              <a:rPr lang="en-US" dirty="0"/>
              <a:t>Because of this, </a:t>
            </a:r>
            <a:r>
              <a:rPr lang="en-US" dirty="0">
                <a:solidFill>
                  <a:srgbClr val="C00000"/>
                </a:solidFill>
              </a:rPr>
              <a:t>class components are generally no longer needed</a:t>
            </a:r>
            <a:r>
              <a:rPr lang="en-US" dirty="0"/>
              <a:t>.</a:t>
            </a:r>
          </a:p>
          <a:p>
            <a:r>
              <a:rPr lang="en-US" dirty="0"/>
              <a:t>Hooks allow us to "</a:t>
            </a:r>
            <a:r>
              <a:rPr lang="en-US" dirty="0">
                <a:solidFill>
                  <a:srgbClr val="C00000"/>
                </a:solidFill>
              </a:rPr>
              <a:t>hook</a:t>
            </a:r>
            <a:r>
              <a:rPr lang="en-US" dirty="0"/>
              <a:t>" into React features such as </a:t>
            </a:r>
            <a:r>
              <a:rPr lang="en-US" dirty="0">
                <a:solidFill>
                  <a:srgbClr val="C00000"/>
                </a:solidFill>
              </a:rPr>
              <a:t>state and lifecycle methods</a:t>
            </a:r>
            <a:r>
              <a:rPr lang="en-US" dirty="0"/>
              <a:t>.</a:t>
            </a:r>
          </a:p>
          <a:p>
            <a:r>
              <a:rPr lang="en-US" dirty="0"/>
              <a:t>Earlier, </a:t>
            </a:r>
            <a:r>
              <a:rPr lang="en-US" b="1" dirty="0"/>
              <a:t>only class components</a:t>
            </a:r>
            <a:r>
              <a:rPr lang="en-US" dirty="0"/>
              <a:t> could manage state.</a:t>
            </a:r>
            <a:br>
              <a:rPr lang="en-US" dirty="0"/>
            </a:br>
            <a:r>
              <a:rPr lang="en-US" dirty="0"/>
              <a:t>But with </a:t>
            </a:r>
            <a:r>
              <a:rPr lang="en-US" b="1" dirty="0"/>
              <a:t>Hooks, function components</a:t>
            </a:r>
            <a:r>
              <a:rPr lang="en-US" dirty="0"/>
              <a:t> can now also have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56011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127B-D05D-21BC-238D-48041D4DA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Rules of 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02D65-4DFB-06F0-5DE4-74315A367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Only call Hooks at the top level</a:t>
            </a:r>
          </a:p>
          <a:p>
            <a:pPr lvl="1"/>
            <a:r>
              <a:rPr lang="en-US" dirty="0"/>
              <a:t>Do not call Hooks inside loops, conditions, or nested functions. Hooks should always be used at the top level of the React functions. 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Only call Hooks from React functions</a:t>
            </a:r>
          </a:p>
          <a:p>
            <a:pPr lvl="1"/>
            <a:r>
              <a:rPr lang="en-US" dirty="0"/>
              <a:t>You cannot call Hooks from regular JavaScript functions. Instead, you can call Hooks from React function components.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22288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68E9-D3BD-9B6E-5C92-E7A43BCE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Hooks (</a:t>
            </a:r>
            <a:r>
              <a:rPr lang="en-US" dirty="0" err="1"/>
              <a:t>useState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67191-045F-6D3C-CD0F-57D5C5822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dirty="0"/>
              <a:t> hook allows us to create and manage state variables inside a function component.</a:t>
            </a:r>
          </a:p>
          <a:p>
            <a:r>
              <a:rPr lang="en-US" dirty="0"/>
              <a:t>The React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dirty="0"/>
              <a:t> Hook allows us to track state in a function component.</a:t>
            </a:r>
          </a:p>
          <a:p>
            <a:r>
              <a:rPr lang="en-US" dirty="0"/>
              <a:t>To use the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dirty="0"/>
              <a:t> Hook, we first need to import it into our component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import {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} from "react";</a:t>
            </a:r>
          </a:p>
        </p:txBody>
      </p:sp>
    </p:spTree>
    <p:extLst>
      <p:ext uri="{BB962C8B-B14F-4D97-AF65-F5344CB8AC3E}">
        <p14:creationId xmlns:p14="http://schemas.microsoft.com/office/powerpoint/2010/main" val="131280703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5F9E0-F608-9D45-2B50-FF832750E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</a:t>
            </a:r>
            <a:r>
              <a:rPr lang="en-US" dirty="0" err="1"/>
              <a:t>useState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8D5B2-FB0A-FE9C-96D0-68F5EB362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dirty="0"/>
              <a:t> accepts an initial state and returns two values: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current state</a:t>
            </a:r>
            <a:r>
              <a:rPr lang="en-US" dirty="0"/>
              <a:t>. (</a:t>
            </a:r>
            <a:r>
              <a:rPr lang="en-US" dirty="0" err="1"/>
              <a:t>stateVariable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function that updates </a:t>
            </a:r>
            <a:r>
              <a:rPr lang="en-US" dirty="0"/>
              <a:t>the state. 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setStateFunction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sz="2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const [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stateVariable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setStateFunction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] = 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initialValue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dirty="0"/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stateVariable</a:t>
            </a:r>
            <a:r>
              <a:rPr lang="en-US" sz="2400" dirty="0"/>
              <a:t>: the current value of the state.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setStateFunction</a:t>
            </a:r>
            <a:r>
              <a:rPr lang="en-US" sz="2400" dirty="0"/>
              <a:t>: function used to update that value.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initialValue</a:t>
            </a:r>
            <a:r>
              <a:rPr lang="en-US" sz="2400" dirty="0"/>
              <a:t>: the starting value of the state.</a:t>
            </a:r>
          </a:p>
        </p:txBody>
      </p:sp>
    </p:spTree>
    <p:extLst>
      <p:ext uri="{BB962C8B-B14F-4D97-AF65-F5344CB8AC3E}">
        <p14:creationId xmlns:p14="http://schemas.microsoft.com/office/powerpoint/2010/main" val="418662512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D4E5-4F75-5FED-D3EA-693C7014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dirty="0" err="1"/>
              <a:t>useState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2B9C7F-E084-B71D-5474-9A59F9B10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634" y="1382852"/>
            <a:ext cx="6979492" cy="495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5278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C421-D0E0-5BF6-971E-2EE4ECC4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 of using Class and </a:t>
            </a:r>
            <a:r>
              <a:rPr lang="en-US" dirty="0" err="1"/>
              <a:t>useState</a:t>
            </a:r>
            <a:r>
              <a:rPr lang="en-US" dirty="0"/>
              <a:t> Hook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33EE6-E273-840E-3D51-B53DE3A22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9650" y="1476999"/>
            <a:ext cx="5316350" cy="48635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4F3CEB-4D65-1C49-4CAC-76C1AE83EA76}"/>
              </a:ext>
            </a:extLst>
          </p:cNvPr>
          <p:cNvSpPr txBox="1"/>
          <p:nvPr/>
        </p:nvSpPr>
        <p:spPr>
          <a:xfrm>
            <a:off x="6341165" y="1708738"/>
            <a:ext cx="4810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counter implementation, Hooks version</a:t>
            </a:r>
          </a:p>
        </p:txBody>
      </p:sp>
    </p:spTree>
    <p:extLst>
      <p:ext uri="{BB962C8B-B14F-4D97-AF65-F5344CB8AC3E}">
        <p14:creationId xmlns:p14="http://schemas.microsoft.com/office/powerpoint/2010/main" val="169936678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AA9AE-D642-B441-C5EB-BC52320B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 of using Class and </a:t>
            </a:r>
            <a:r>
              <a:rPr lang="en-US" dirty="0" err="1"/>
              <a:t>useState</a:t>
            </a:r>
            <a:r>
              <a:rPr lang="en-US" dirty="0"/>
              <a:t> Hook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DC0675-F644-EBAF-0321-950F11E6D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846"/>
          <a:stretch>
            <a:fillRect/>
          </a:stretch>
        </p:blipFill>
        <p:spPr>
          <a:xfrm>
            <a:off x="148437" y="1387566"/>
            <a:ext cx="5798004" cy="38205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AE9D53-B3E5-CCC4-B6D8-0986A4827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441" y="1582618"/>
            <a:ext cx="6012582" cy="3430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C0BC80-3D89-969E-3C65-C7C8B6839398}"/>
              </a:ext>
            </a:extLst>
          </p:cNvPr>
          <p:cNvSpPr txBox="1"/>
          <p:nvPr/>
        </p:nvSpPr>
        <p:spPr>
          <a:xfrm>
            <a:off x="3339547" y="5403157"/>
            <a:ext cx="4810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counter implementation, Class version</a:t>
            </a:r>
          </a:p>
        </p:txBody>
      </p:sp>
    </p:spTree>
    <p:extLst>
      <p:ext uri="{BB962C8B-B14F-4D97-AF65-F5344CB8AC3E}">
        <p14:creationId xmlns:p14="http://schemas.microsoft.com/office/powerpoint/2010/main" val="350451717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DB8EB-287E-8F33-FFB9-82D476A19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Key differences (Using Class and Using Hooks)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401DE-4689-03E4-95F4-5B9E93484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1) Syntax &amp; component type</a:t>
            </a:r>
          </a:p>
          <a:p>
            <a:pPr lvl="1"/>
            <a:r>
              <a:rPr lang="en-US" b="1" dirty="0"/>
              <a:t>Class component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Uses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class</a:t>
            </a:r>
            <a:r>
              <a:rPr lang="en-US" dirty="0"/>
              <a:t>, life-cycle methods like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componentDidMount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8D51C-15D6-C685-3BED-7EDDB06A3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750" y="2395250"/>
            <a:ext cx="5423200" cy="268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77651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1C0EB-D474-8794-C2A1-EEEEB87E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Key differences (Using Class and Using Hooks)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C542-0D6D-FA03-AFB0-DAA3195A1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1) Syntax &amp; component type</a:t>
            </a:r>
          </a:p>
          <a:p>
            <a:pPr lvl="1"/>
            <a:r>
              <a:rPr lang="en-US" b="1" dirty="0"/>
              <a:t>Function component </a:t>
            </a:r>
            <a:r>
              <a:rPr lang="en-US" dirty="0"/>
              <a:t>(hooks)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Uses plain function and hooks (no lifecycle methods in same form).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191C9-2F6F-C762-5920-3C3CB32D2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643" y="2458232"/>
            <a:ext cx="6222209" cy="194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258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2BC0A-D7B1-26C1-1558-FFCBD5D1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Key differences (Using Class and Using Hooks)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DC7DC-A8FC-81B8-73E9-84640EDEA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2) State declaration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Class</a:t>
            </a:r>
            <a:r>
              <a:rPr lang="en-US" dirty="0"/>
              <a:t>: state is a single object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this.state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= { ... }.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Hook</a:t>
            </a:r>
            <a:r>
              <a:rPr lang="en-US" dirty="0"/>
              <a:t>: you can have multiple independent pieces of state: 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const [a,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setA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] =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(...).</a:t>
            </a:r>
          </a:p>
          <a:p>
            <a:r>
              <a:rPr lang="en-US" b="1" dirty="0"/>
              <a:t>3) Updating state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Class</a:t>
            </a:r>
            <a:r>
              <a:rPr lang="en-US" dirty="0"/>
              <a:t>: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this.setState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({ count: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this.state.count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+ 1 })</a:t>
            </a:r>
          </a:p>
          <a:p>
            <a:pPr lvl="2"/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setState</a:t>
            </a:r>
            <a:r>
              <a:rPr lang="en-US" dirty="0"/>
              <a:t> merges the provided object with current state.</a:t>
            </a:r>
          </a:p>
          <a:p>
            <a:pPr lvl="2"/>
            <a:r>
              <a:rPr lang="en-US" dirty="0"/>
              <a:t>Has an alternative functional form: 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this.setState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prev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=&gt; ({ count: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prev.count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+ 1 }))</a:t>
            </a:r>
          </a:p>
          <a:p>
            <a:pPr lvl="1"/>
            <a:r>
              <a:rPr lang="en-US" sz="2200" b="1" dirty="0">
                <a:solidFill>
                  <a:srgbClr val="C00000"/>
                </a:solidFill>
              </a:rPr>
              <a:t>Hook</a:t>
            </a:r>
            <a:r>
              <a:rPr lang="en-US" sz="2200" b="1" dirty="0"/>
              <a:t>:</a:t>
            </a:r>
            <a:r>
              <a:rPr lang="en-US" sz="2200" dirty="0"/>
              <a:t> 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setCount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(count + 1) </a:t>
            </a:r>
            <a:r>
              <a:rPr lang="en-US" sz="2200" dirty="0"/>
              <a:t>or preferred functional form </a:t>
            </a:r>
          </a:p>
          <a:p>
            <a:pPr marL="457200" lvl="1" indent="0">
              <a:buNone/>
            </a:pP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		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setCount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prev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 =&gt; 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prev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 + 1).</a:t>
            </a:r>
          </a:p>
          <a:p>
            <a:pPr lvl="2"/>
            <a:r>
              <a:rPr lang="en-US" sz="1800" b="1" dirty="0"/>
              <a:t>Important: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sz="1800" dirty="0"/>
              <a:t> setter </a:t>
            </a:r>
            <a:r>
              <a:rPr lang="en-US" sz="1800" b="1" dirty="0"/>
              <a:t>replaces</a:t>
            </a:r>
            <a:r>
              <a:rPr lang="en-US" sz="1800" dirty="0"/>
              <a:t> the state value (not merge). </a:t>
            </a:r>
          </a:p>
          <a:p>
            <a:pPr lvl="2"/>
            <a:r>
              <a:rPr lang="en-US" sz="1800" dirty="0"/>
              <a:t>For objects you must copy previous state: </a:t>
            </a:r>
          </a:p>
          <a:p>
            <a:pPr marL="457200" lvl="1" indent="0">
              <a:buNone/>
            </a:pP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	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setObj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prev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 =&gt; ({ ...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prev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newProp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</a:rPr>
              <a:t>: value }))</a:t>
            </a:r>
            <a:r>
              <a:rPr lang="en-US" sz="2200" dirty="0"/>
              <a:t>.</a:t>
            </a:r>
          </a:p>
          <a:p>
            <a:pPr lvl="1"/>
            <a:endParaRPr lang="en-US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28086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0DB37-91B4-055E-258B-06F9599DA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Key differences (Using Class and Using Hooks)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ED3EF-4E5B-3B00-23F0-04E6BEF85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4) this</a:t>
            </a:r>
            <a:r>
              <a:rPr lang="en-US" b="1" dirty="0"/>
              <a:t> and binding</a:t>
            </a:r>
          </a:p>
          <a:p>
            <a:pPr lvl="1"/>
            <a:r>
              <a:rPr lang="en-US" b="1" dirty="0"/>
              <a:t>Class:</a:t>
            </a:r>
            <a:r>
              <a:rPr lang="en-US" dirty="0"/>
              <a:t> methods rely on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this</a:t>
            </a:r>
            <a:r>
              <a:rPr lang="en-US" dirty="0"/>
              <a:t>. If you use class methods as callbacks you may need to bind them or use arrow syntax.</a:t>
            </a:r>
          </a:p>
          <a:p>
            <a:pPr lvl="1"/>
            <a:r>
              <a:rPr lang="en-US" b="1" dirty="0"/>
              <a:t>Hook:</a:t>
            </a:r>
            <a:r>
              <a:rPr lang="en-US" dirty="0"/>
              <a:t> no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this</a:t>
            </a:r>
            <a:r>
              <a:rPr lang="en-US" dirty="0"/>
              <a:t> — simpler and avoids binding headaches.</a:t>
            </a:r>
          </a:p>
          <a:p>
            <a:r>
              <a:rPr lang="en-US" b="1" dirty="0"/>
              <a:t>5) Rules &amp; usage</a:t>
            </a:r>
          </a:p>
          <a:p>
            <a:pPr lvl="1"/>
            <a:r>
              <a:rPr lang="en-US" b="1" dirty="0"/>
              <a:t>Class:</a:t>
            </a:r>
            <a:r>
              <a:rPr lang="en-US" dirty="0"/>
              <a:t> lifecycle methods 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	(</a:t>
            </a:r>
            <a:r>
              <a:rPr lang="en-US" dirty="0" err="1">
                <a:latin typeface="Consolas" panose="020B0609020204030204" pitchFamily="49" charset="0"/>
              </a:rPr>
              <a:t>componentDidMount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componentDidUpdate</a:t>
            </a:r>
            <a:r>
              <a:rPr lang="en-US" dirty="0">
                <a:latin typeface="Consolas" panose="020B0609020204030204" pitchFamily="49" charset="0"/>
              </a:rPr>
              <a:t>, etc.)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Hook:</a:t>
            </a:r>
            <a:r>
              <a:rPr lang="en-US" dirty="0"/>
              <a:t> use </a:t>
            </a:r>
            <a:r>
              <a:rPr lang="en-US" dirty="0" err="1">
                <a:solidFill>
                  <a:srgbClr val="C00000"/>
                </a:solidFill>
              </a:rPr>
              <a:t>useEffect</a:t>
            </a:r>
            <a:r>
              <a:rPr lang="en-US" dirty="0"/>
              <a:t> to handle side effects; </a:t>
            </a:r>
          </a:p>
          <a:p>
            <a:pPr lvl="2"/>
            <a:r>
              <a:rPr lang="en-US" dirty="0"/>
              <a:t>hooks have rules (only call at top level, only in React functions or custom hooks).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6645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5D11-3207-2144-E246-E8E7B5F1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Key differences (Using Class and Using Hooks)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DB62B-BDDF-7CAF-930E-A4CA7AA50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6) Readability &amp; composition</a:t>
            </a:r>
          </a:p>
          <a:p>
            <a:pPr lvl="1"/>
            <a:r>
              <a:rPr lang="en-US" b="1" dirty="0"/>
              <a:t>Hooks</a:t>
            </a:r>
            <a:r>
              <a:rPr lang="en-US" dirty="0"/>
              <a:t> encourage splitting logic into smaller hooks; easier to reuse logic.</a:t>
            </a:r>
          </a:p>
          <a:p>
            <a:pPr lvl="1"/>
            <a:r>
              <a:rPr lang="en-US" dirty="0"/>
              <a:t>Function components are now the preferred/modern style in React.7) </a:t>
            </a:r>
          </a:p>
          <a:p>
            <a:r>
              <a:rPr lang="en-US" b="1" dirty="0"/>
              <a:t>7) </a:t>
            </a:r>
            <a:r>
              <a:rPr lang="en-US" b="1" dirty="0" err="1"/>
              <a:t>Behaviour</a:t>
            </a:r>
            <a:r>
              <a:rPr lang="en-US" b="1" dirty="0"/>
              <a:t> on re-renders</a:t>
            </a:r>
          </a:p>
          <a:p>
            <a:pPr lvl="1"/>
            <a:r>
              <a:rPr lang="en-US" dirty="0"/>
              <a:t>Both cause re-render when state updates.</a:t>
            </a:r>
          </a:p>
          <a:p>
            <a:pPr lvl="1"/>
            <a:r>
              <a:rPr lang="en-US" dirty="0"/>
              <a:t>For safety when new value depends on old one, use functional updater form in both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prev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=&gt;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prev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+ 1).</a:t>
            </a:r>
          </a:p>
        </p:txBody>
      </p:sp>
    </p:spTree>
    <p:extLst>
      <p:ext uri="{BB962C8B-B14F-4D97-AF65-F5344CB8AC3E}">
        <p14:creationId xmlns:p14="http://schemas.microsoft.com/office/powerpoint/2010/main" val="144867830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8CE6-4869-D7EA-00D6-74C79204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Hook: </a:t>
            </a:r>
            <a:r>
              <a:rPr lang="en-US" dirty="0" err="1">
                <a:latin typeface="Consolas" panose="020B0609020204030204" pitchFamily="49" charset="0"/>
              </a:rPr>
              <a:t>useEffect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D86AA-7264-A739-0BC9-870F4442E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React, components can perform actions outside the normal rendering process, such as:</a:t>
            </a:r>
          </a:p>
          <a:p>
            <a:pPr lvl="1"/>
            <a:r>
              <a:rPr lang="en-US" dirty="0"/>
              <a:t>Fetching data from an API</a:t>
            </a:r>
          </a:p>
          <a:p>
            <a:pPr lvl="1"/>
            <a:r>
              <a:rPr lang="en-US" dirty="0"/>
              <a:t>Updating the browser title</a:t>
            </a:r>
          </a:p>
          <a:p>
            <a:pPr lvl="1"/>
            <a:r>
              <a:rPr lang="en-US" dirty="0"/>
              <a:t>Subscribing/unsubscribing to events</a:t>
            </a:r>
          </a:p>
          <a:p>
            <a:pPr lvl="1"/>
            <a:r>
              <a:rPr lang="en-US" dirty="0"/>
              <a:t>Running code only when something changes</a:t>
            </a:r>
          </a:p>
          <a:p>
            <a:r>
              <a:rPr lang="en-US" dirty="0"/>
              <a:t>These are called </a:t>
            </a:r>
            <a:r>
              <a:rPr lang="en-US" dirty="0">
                <a:solidFill>
                  <a:srgbClr val="C00000"/>
                </a:solidFill>
              </a:rPr>
              <a:t>side effects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useEffect</a:t>
            </a:r>
            <a:r>
              <a:rPr lang="en-US" b="1" dirty="0"/>
              <a:t> Hook</a:t>
            </a:r>
            <a:r>
              <a:rPr lang="en-US" dirty="0"/>
              <a:t> lets you perform these </a:t>
            </a:r>
            <a:r>
              <a:rPr lang="en-US" b="1" dirty="0"/>
              <a:t>side effects</a:t>
            </a:r>
            <a:r>
              <a:rPr lang="en-US" dirty="0"/>
              <a:t> in </a:t>
            </a:r>
            <a:r>
              <a:rPr lang="en-US" b="1" dirty="0"/>
              <a:t>function components</a:t>
            </a:r>
            <a:r>
              <a:rPr lang="en-US" dirty="0"/>
              <a:t> — something that was previously only possible using </a:t>
            </a:r>
            <a:r>
              <a:rPr lang="en-US" b="1" dirty="0"/>
              <a:t>lifecycle methods</a:t>
            </a:r>
            <a:r>
              <a:rPr lang="en-US" dirty="0"/>
              <a:t> in class components 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componentDidMount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componentDidUpdate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componentWillUnmount</a:t>
            </a:r>
            <a:r>
              <a:rPr lang="en-US" dirty="0">
                <a:latin typeface="Consolas" panose="020B0609020204030204" pitchFamily="49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1001286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43FE-8EB9-63F2-6BF9-1671B64E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56E5C4-60EF-6622-F27E-F0742BA9B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607" y="1472963"/>
            <a:ext cx="4406895" cy="266171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E2AEEE-55D8-3E61-8668-14E54507B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938617"/>
              </p:ext>
            </p:extLst>
          </p:nvPr>
        </p:nvGraphicFramePr>
        <p:xfrm>
          <a:off x="983877" y="4329405"/>
          <a:ext cx="9200322" cy="18288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249354">
                  <a:extLst>
                    <a:ext uri="{9D8B030D-6E8A-4147-A177-3AD203B41FA5}">
                      <a16:colId xmlns:a16="http://schemas.microsoft.com/office/drawing/2014/main" val="1693223015"/>
                    </a:ext>
                  </a:extLst>
                </a:gridCol>
                <a:gridCol w="6950968">
                  <a:extLst>
                    <a:ext uri="{9D8B030D-6E8A-4147-A177-3AD203B41FA5}">
                      <a16:colId xmlns:a16="http://schemas.microsoft.com/office/drawing/2014/main" val="1398254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900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useEffect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Hook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57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() =&gt; { ...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Callback function containing the side effect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930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 () =&gt; { ...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Optional cleanup function (runs before re-render/unmount)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950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[dependencies]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 of variables to watch for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021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05588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3BB78-FD3B-644F-8F55-5FBF3DBDC2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Run on Every Render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Only on Mount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FF8F789-DB67-7CB3-C418-5B2946DC68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Run When Dependencies Change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E8CDF-520A-F057-A909-170D85B8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US" dirty="0" err="1"/>
              <a:t>useEffect</a:t>
            </a:r>
            <a:r>
              <a:rPr lang="en-US" dirty="0"/>
              <a:t> Calls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6C98A-3E23-FF26-8638-DF652AC32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666" y="2066613"/>
            <a:ext cx="4602151" cy="1706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174A65-1A78-438A-C946-E5A7729B0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38" y="4521175"/>
            <a:ext cx="6047819" cy="17065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E7C6DA-0A22-2C2C-F86B-DF3B6F5E6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621" y="2452903"/>
            <a:ext cx="4931036" cy="170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1626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E5BDCF-12C2-E0AF-A48C-A18DDF12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US" dirty="0" err="1"/>
              <a:t>useEffect</a:t>
            </a:r>
            <a:r>
              <a:rPr lang="en-US" dirty="0"/>
              <a:t> Calls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5A5083-246C-DF38-AA9D-B4F71F5E8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Cleanup Function (Unmount or Before Next Effect)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AEB6D0-C95F-C523-866E-9D6444836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10" y="2042583"/>
            <a:ext cx="8281704" cy="243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0985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A04DE-88A2-0578-5672-9E6BD0DB5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928E-3A2B-473F-EBFD-E615EA7C1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useEffect</a:t>
            </a:r>
            <a:r>
              <a:rPr lang="en-US" dirty="0"/>
              <a:t> like </a:t>
            </a:r>
            <a:r>
              <a:rPr lang="en-US" b="1" dirty="0"/>
              <a:t>after-sales service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After you “render” a product (component),</a:t>
            </a:r>
          </a:p>
          <a:p>
            <a:pPr lvl="1"/>
            <a:r>
              <a:rPr lang="en-US" dirty="0"/>
              <a:t>You might need to perform some </a:t>
            </a:r>
            <a:r>
              <a:rPr lang="en-US" b="1" dirty="0"/>
              <a:t>extra work</a:t>
            </a:r>
            <a:r>
              <a:rPr lang="en-US" dirty="0"/>
              <a:t> (side effect),</a:t>
            </a:r>
          </a:p>
          <a:p>
            <a:pPr lvl="1"/>
            <a:r>
              <a:rPr lang="en-US" dirty="0"/>
              <a:t>And when the product is “returned” (unmounted), you </a:t>
            </a:r>
            <a:r>
              <a:rPr lang="en-US" b="1" dirty="0"/>
              <a:t>clean up</a:t>
            </a:r>
            <a:r>
              <a:rPr lang="en-US" dirty="0"/>
              <a:t> your service.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84645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BFC4-EB69-A2E5-B53A-DE9BD83E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Example 1 — Simple </a:t>
            </a:r>
            <a:r>
              <a:rPr lang="en-US" sz="2800" dirty="0" err="1">
                <a:latin typeface="Consolas" panose="020B0609020204030204" pitchFamily="49" charset="0"/>
              </a:rPr>
              <a:t>useEffect</a:t>
            </a:r>
            <a:r>
              <a:rPr lang="en-US" sz="2800" dirty="0"/>
              <a:t> (Runs after every render)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DA427A-AAAD-6AC9-D73A-CFF8A7CC4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641" y="1390348"/>
            <a:ext cx="6264484" cy="49600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4B2069-61CE-643C-4433-4B7F7A265E80}"/>
              </a:ext>
            </a:extLst>
          </p:cNvPr>
          <p:cNvSpPr txBox="1"/>
          <p:nvPr/>
        </p:nvSpPr>
        <p:spPr>
          <a:xfrm>
            <a:off x="7404653" y="4920128"/>
            <a:ext cx="442291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useEffect</a:t>
            </a:r>
            <a:r>
              <a:rPr lang="en-US" dirty="0"/>
              <a:t> runs after each render (including the first render).</a:t>
            </a:r>
          </a:p>
          <a:p>
            <a:r>
              <a:rPr lang="en-US" dirty="0"/>
              <a:t>It updates the browser tab title each time the count changes.</a:t>
            </a:r>
          </a:p>
        </p:txBody>
      </p:sp>
    </p:spTree>
    <p:extLst>
      <p:ext uri="{BB962C8B-B14F-4D97-AF65-F5344CB8AC3E}">
        <p14:creationId xmlns:p14="http://schemas.microsoft.com/office/powerpoint/2010/main" val="52094736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B06C-1873-AC8F-7D6A-32BC47BE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— Run Only Once (On Mount)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6067-8531-2F9E-30F3-3D58DBF65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086" y="1446501"/>
            <a:ext cx="4400466" cy="4894007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To run the </a:t>
            </a:r>
            <a:r>
              <a:rPr lang="en-US" sz="2400" dirty="0">
                <a:solidFill>
                  <a:srgbClr val="C00000"/>
                </a:solidFill>
              </a:rPr>
              <a:t>effect only once </a:t>
            </a:r>
            <a:r>
              <a:rPr lang="en-US" sz="2400" dirty="0"/>
              <a:t>(like </a:t>
            </a:r>
            <a:r>
              <a:rPr lang="en-US" sz="2400" dirty="0" err="1"/>
              <a:t>componentDidMount</a:t>
            </a:r>
            <a:r>
              <a:rPr lang="en-US" sz="2400" dirty="0"/>
              <a:t> in class),pass an empty </a:t>
            </a:r>
            <a:r>
              <a:rPr lang="en-US" sz="2400" dirty="0">
                <a:solidFill>
                  <a:srgbClr val="C00000"/>
                </a:solidFill>
              </a:rPr>
              <a:t>dependency array [ ]</a:t>
            </a:r>
          </a:p>
          <a:p>
            <a:pPr marL="0" indent="0">
              <a:buNone/>
            </a:pPr>
            <a:endParaRPr lang="en-US" sz="2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Explanation:</a:t>
            </a:r>
          </a:p>
          <a:p>
            <a:pPr marL="0" indent="0">
              <a:buNone/>
            </a:pPr>
            <a:r>
              <a:rPr lang="en-US" sz="2200" dirty="0"/>
              <a:t>The empty dependency array ([]) tells React to run the effect only once, just like </a:t>
            </a:r>
            <a:r>
              <a:rPr lang="en-US" sz="2200" dirty="0" err="1"/>
              <a:t>componentDidMount</a:t>
            </a:r>
            <a:r>
              <a:rPr lang="en-US" sz="2200" dirty="0"/>
              <a:t>() in class components.</a:t>
            </a:r>
          </a:p>
          <a:p>
            <a:pPr marL="0" indent="0">
              <a:buNone/>
            </a:pPr>
            <a:r>
              <a:rPr lang="en-US" sz="2200" dirty="0"/>
              <a:t>This is commonly used for:</a:t>
            </a:r>
          </a:p>
          <a:p>
            <a:r>
              <a:rPr lang="en-US" sz="2200" dirty="0"/>
              <a:t>Fetching data from</a:t>
            </a:r>
          </a:p>
          <a:p>
            <a:r>
              <a:rPr lang="en-US" sz="2200" dirty="0" err="1"/>
              <a:t>APIsSetting</a:t>
            </a:r>
            <a:r>
              <a:rPr lang="en-US" sz="2200" dirty="0"/>
              <a:t> up event listeners</a:t>
            </a:r>
          </a:p>
          <a:p>
            <a:r>
              <a:rPr lang="en-US" sz="2200" dirty="0"/>
              <a:t>Initializing values when a component loads for the first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8E661-EACA-FEC4-64EF-9B35E7E21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87" y="1379371"/>
            <a:ext cx="6123952" cy="502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4678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45C5-5361-03E6-7F08-D70F2F7B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Example 3 — Run When Dependencies Change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6EE8D4-7ED4-1BD3-2961-138A46D44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169" y="1379562"/>
            <a:ext cx="6402990" cy="4960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7781BF-7BDC-059C-D60C-586F3BBC9E37}"/>
              </a:ext>
            </a:extLst>
          </p:cNvPr>
          <p:cNvSpPr txBox="1"/>
          <p:nvPr/>
        </p:nvSpPr>
        <p:spPr>
          <a:xfrm>
            <a:off x="7136296" y="1546544"/>
            <a:ext cx="4634866" cy="376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dependency array </a:t>
            </a:r>
            <a:r>
              <a:rPr lang="en-US" dirty="0">
                <a:latin typeface="Courier New" panose="02070309020205020404" pitchFamily="49" charset="0"/>
              </a:rPr>
              <a:t>[name]</a:t>
            </a:r>
            <a:r>
              <a:rPr lang="en-US" dirty="0"/>
              <a:t> tells React to run this effect </a:t>
            </a:r>
            <a:r>
              <a:rPr lang="en-US" b="1" dirty="0"/>
              <a:t>only when the </a:t>
            </a:r>
            <a:r>
              <a:rPr lang="en-US" b="1" dirty="0">
                <a:latin typeface="Courier New" panose="02070309020205020404" pitchFamily="49" charset="0"/>
              </a:rPr>
              <a:t>name</a:t>
            </a:r>
            <a:r>
              <a:rPr lang="en-US" b="1" dirty="0"/>
              <a:t> value changes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 the first render, it runs once.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Then, each time you click a button that changes the name, the effect runs again and logs the update.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is very useful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Re-fetching data when a filter or input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Reacting to state updates (like form inputs or selections)</a:t>
            </a:r>
          </a:p>
        </p:txBody>
      </p:sp>
    </p:spTree>
    <p:extLst>
      <p:ext uri="{BB962C8B-B14F-4D97-AF65-F5344CB8AC3E}">
        <p14:creationId xmlns:p14="http://schemas.microsoft.com/office/powerpoint/2010/main" val="198387718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D7E3-71F7-57E2-40F6-2629AD4C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Example 4 — </a:t>
            </a:r>
            <a:r>
              <a:rPr lang="en-US" sz="2800" dirty="0" err="1"/>
              <a:t>useEffect</a:t>
            </a:r>
            <a:r>
              <a:rPr lang="en-US" sz="2800" dirty="0"/>
              <a:t> with Cleanup (Unmount or Before Next Effect)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062F7B-78FD-BCB6-3790-9725CA944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614" y="1473247"/>
            <a:ext cx="5410858" cy="3357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E6FAA0-FE05-B29B-02D2-AE2F2D9AE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73247"/>
            <a:ext cx="5982422" cy="495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4469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7F35-FD0F-B932-0448-528BB8341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Example 4 — </a:t>
            </a:r>
            <a:r>
              <a:rPr lang="en-US" sz="3200" dirty="0" err="1"/>
              <a:t>useEffect</a:t>
            </a:r>
            <a:r>
              <a:rPr lang="en-US" sz="3200" dirty="0"/>
              <a:t> with Cleanup (Unmount or Before Next Effect)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943F3-1FC5-3CF6-0623-0567D7B95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Explanation (Example of previous slide)</a:t>
            </a:r>
          </a:p>
          <a:p>
            <a:pPr lvl="1"/>
            <a:r>
              <a:rPr lang="en-US" dirty="0"/>
              <a:t>Here, we use </a:t>
            </a:r>
            <a:r>
              <a:rPr lang="en-US" dirty="0" err="1">
                <a:solidFill>
                  <a:srgbClr val="C00000"/>
                </a:solidFill>
              </a:rPr>
              <a:t>setInterval</a:t>
            </a:r>
            <a:r>
              <a:rPr lang="en-US" dirty="0"/>
              <a:t> to update a timer every second.</a:t>
            </a:r>
          </a:p>
          <a:p>
            <a:pPr lvl="1"/>
            <a:r>
              <a:rPr lang="en-US" dirty="0"/>
              <a:t>If we don’t clear it, it would continue running even after the component is removed — causing a </a:t>
            </a:r>
            <a:r>
              <a:rPr lang="en-US" b="1" dirty="0"/>
              <a:t>memory leak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That’s why we include a </a:t>
            </a:r>
            <a:r>
              <a:rPr lang="en-US" b="1" dirty="0"/>
              <a:t>cleanup function</a:t>
            </a:r>
            <a:r>
              <a:rPr lang="en-US" dirty="0"/>
              <a:t> that clears the interval.</a:t>
            </a:r>
          </a:p>
          <a:p>
            <a:pPr lvl="1"/>
            <a:r>
              <a:rPr lang="en-US" dirty="0"/>
              <a:t>The cleanup runs:</a:t>
            </a:r>
          </a:p>
          <a:p>
            <a:pPr lvl="2"/>
            <a:r>
              <a:rPr lang="en-US" dirty="0"/>
              <a:t>When the component unmounts</a:t>
            </a:r>
          </a:p>
          <a:p>
            <a:pPr lvl="2"/>
            <a:r>
              <a:rPr lang="en-US" dirty="0"/>
              <a:t>Or before running the next effect (if dependencies exist)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2926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E497-425F-B99F-007E-EFDE95A43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Table — When Each Example Runs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89DFE-E573-B114-1098-99FD87A2C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 Table — When Each Example Runs of </a:t>
            </a:r>
            <a:r>
              <a:rPr lang="en-US" dirty="0" err="1"/>
              <a:t>prious</a:t>
            </a:r>
            <a:r>
              <a:rPr lang="en-US" dirty="0"/>
              <a:t> 4 example programs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30C3DE-D338-8588-AF67-EE079002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09704"/>
              </p:ext>
            </p:extLst>
          </p:nvPr>
        </p:nvGraphicFramePr>
        <p:xfrm>
          <a:off x="959497" y="3341335"/>
          <a:ext cx="10515600" cy="1828800"/>
        </p:xfrm>
        <a:graphic>
          <a:graphicData uri="http://schemas.openxmlformats.org/drawingml/2006/table">
            <a:tbl>
              <a:tblPr/>
              <a:tblGrid>
                <a:gridCol w="1276807">
                  <a:extLst>
                    <a:ext uri="{9D8B030D-6E8A-4147-A177-3AD203B41FA5}">
                      <a16:colId xmlns:a16="http://schemas.microsoft.com/office/drawing/2014/main" val="3372853898"/>
                    </a:ext>
                  </a:extLst>
                </a:gridCol>
                <a:gridCol w="2067339">
                  <a:extLst>
                    <a:ext uri="{9D8B030D-6E8A-4147-A177-3AD203B41FA5}">
                      <a16:colId xmlns:a16="http://schemas.microsoft.com/office/drawing/2014/main" val="605034060"/>
                    </a:ext>
                  </a:extLst>
                </a:gridCol>
                <a:gridCol w="3240157">
                  <a:extLst>
                    <a:ext uri="{9D8B030D-6E8A-4147-A177-3AD203B41FA5}">
                      <a16:colId xmlns:a16="http://schemas.microsoft.com/office/drawing/2014/main" val="1182022358"/>
                    </a:ext>
                  </a:extLst>
                </a:gridCol>
                <a:gridCol w="3931297">
                  <a:extLst>
                    <a:ext uri="{9D8B030D-6E8A-4147-A177-3AD203B41FA5}">
                      <a16:colId xmlns:a16="http://schemas.microsoft.com/office/drawing/2014/main" val="2114016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Dependency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When it Runs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846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1️⃣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After every render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Debug/logging, DOM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44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2️⃣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[]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Only once on 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Fetch data, initialization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470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3️⃣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[value]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that value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React to user input/state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736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4️⃣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[]</a:t>
                      </a:r>
                      <a:r>
                        <a:rPr lang="en-US"/>
                        <a:t> + Cleanup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 mount &amp; unmount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Timers, event listeners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6364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A1E0-9CF5-D328-D516-D3977480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 Between </a:t>
            </a:r>
            <a:r>
              <a:rPr lang="en-US" dirty="0" err="1"/>
              <a:t>useEffect</a:t>
            </a:r>
            <a:r>
              <a:rPr lang="en-US" dirty="0"/>
              <a:t> and </a:t>
            </a:r>
            <a:r>
              <a:rPr lang="en-US" dirty="0" err="1"/>
              <a:t>useState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ADD95B-802A-AE5E-DFF3-EC3CECD7CB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1606350"/>
              </p:ext>
            </p:extLst>
          </p:nvPr>
        </p:nvGraphicFramePr>
        <p:xfrm>
          <a:off x="838200" y="2248949"/>
          <a:ext cx="10515600" cy="1737360"/>
        </p:xfrm>
        <a:graphic>
          <a:graphicData uri="http://schemas.openxmlformats.org/drawingml/2006/table">
            <a:tbl>
              <a:tblPr/>
              <a:tblGrid>
                <a:gridCol w="1435686">
                  <a:extLst>
                    <a:ext uri="{9D8B030D-6E8A-4147-A177-3AD203B41FA5}">
                      <a16:colId xmlns:a16="http://schemas.microsoft.com/office/drawing/2014/main" val="2183964945"/>
                    </a:ext>
                  </a:extLst>
                </a:gridCol>
                <a:gridCol w="4313583">
                  <a:extLst>
                    <a:ext uri="{9D8B030D-6E8A-4147-A177-3AD203B41FA5}">
                      <a16:colId xmlns:a16="http://schemas.microsoft.com/office/drawing/2014/main" val="1365548154"/>
                    </a:ext>
                  </a:extLst>
                </a:gridCol>
                <a:gridCol w="4766331">
                  <a:extLst>
                    <a:ext uri="{9D8B030D-6E8A-4147-A177-3AD203B41FA5}">
                      <a16:colId xmlns:a16="http://schemas.microsoft.com/office/drawing/2014/main" val="21431335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useState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useEffect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827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Manage </a:t>
                      </a:r>
                      <a:r>
                        <a:rPr lang="en-US" b="1"/>
                        <a:t>state (data)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Handle </a:t>
                      </a:r>
                      <a:r>
                        <a:rPr lang="en-US" b="1"/>
                        <a:t>side effects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690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During rendering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After rendering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073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const [count, setCount] = useState(0)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useEffect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(() =&gt; {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document.title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= count; }, [count])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283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60490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AD316-8840-4C6A-151E-5E4A0EF6E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</a:t>
            </a:r>
            <a:r>
              <a:rPr lang="en-US" dirty="0" err="1"/>
              <a:t>useContext</a:t>
            </a:r>
            <a:r>
              <a:rPr lang="en-US" dirty="0"/>
              <a:t> Hook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B469-FAE2-9A26-1C47-B115C7AA4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</a:t>
            </a:r>
            <a:r>
              <a:rPr lang="en-US" sz="2400" b="1" dirty="0" err="1">
                <a:solidFill>
                  <a:srgbClr val="C00000"/>
                </a:solidFill>
              </a:rPr>
              <a:t>useContext</a:t>
            </a:r>
            <a:r>
              <a:rPr lang="en-US" sz="2400" b="1" dirty="0"/>
              <a:t> Hook</a:t>
            </a:r>
            <a:r>
              <a:rPr lang="en-US" sz="2400" dirty="0"/>
              <a:t> allows you to </a:t>
            </a:r>
            <a:r>
              <a:rPr lang="en-US" sz="2400" b="1" dirty="0"/>
              <a:t>access data from a Context</a:t>
            </a:r>
            <a:r>
              <a:rPr lang="en-US" sz="2400" dirty="0"/>
              <a:t> in React </a:t>
            </a:r>
            <a:r>
              <a:rPr lang="en-US" sz="2400" b="1" dirty="0"/>
              <a:t>without passing props manually</a:t>
            </a:r>
            <a:r>
              <a:rPr lang="en-US" sz="2400" dirty="0"/>
              <a:t> through every level of the component tree.</a:t>
            </a:r>
          </a:p>
          <a:p>
            <a:r>
              <a:rPr lang="en-US" sz="2400" dirty="0"/>
              <a:t> It helps to </a:t>
            </a:r>
            <a:r>
              <a:rPr lang="en-US" sz="2400" b="1" dirty="0"/>
              <a:t>avoid “prop drilling”</a:t>
            </a:r>
            <a:r>
              <a:rPr lang="en-US" sz="2400" dirty="0"/>
              <a:t>, where props are passed through multiple nested components just to reach one component deep down.</a:t>
            </a:r>
          </a:p>
          <a:p>
            <a:r>
              <a:rPr lang="en-US" sz="2400" dirty="0"/>
              <a:t>Syntax: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>
                <a:latin typeface="Consolas" panose="020B0609020204030204" pitchFamily="49" charset="0"/>
              </a:rPr>
              <a:t> value =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useContext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MyContext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lvl="1"/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MyContext</a:t>
            </a:r>
            <a:r>
              <a:rPr lang="en-US" sz="2000" dirty="0"/>
              <a:t> is the context object created using 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React.createContext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().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value</a:t>
            </a:r>
            <a:r>
              <a:rPr lang="en-US" sz="2000" dirty="0"/>
              <a:t> will be whatever value is provided by the nearest </a:t>
            </a:r>
            <a:r>
              <a:rPr lang="en-US" sz="2000" dirty="0">
                <a:solidFill>
                  <a:srgbClr val="C00000"/>
                </a:solidFill>
              </a:rPr>
              <a:t>&lt;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MyContext.Provider</a:t>
            </a:r>
            <a:r>
              <a:rPr lang="en-US" sz="2000" dirty="0">
                <a:solidFill>
                  <a:srgbClr val="C00000"/>
                </a:solidFill>
              </a:rPr>
              <a:t>&gt; </a:t>
            </a:r>
            <a:r>
              <a:rPr lang="en-US" sz="2000" dirty="0"/>
              <a:t>above in the component tree.</a:t>
            </a:r>
          </a:p>
        </p:txBody>
      </p:sp>
    </p:spTree>
    <p:extLst>
      <p:ext uri="{BB962C8B-B14F-4D97-AF65-F5344CB8AC3E}">
        <p14:creationId xmlns:p14="http://schemas.microsoft.com/office/powerpoint/2010/main" val="14873019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C489-69B7-60D8-FD48-A0E1FE5C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</a:t>
            </a:r>
            <a:r>
              <a:rPr lang="en-US" dirty="0" err="1"/>
              <a:t>useContext</a:t>
            </a:r>
            <a:r>
              <a:rPr lang="en-US" dirty="0"/>
              <a:t> Hook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00B05-3683-D198-FFD6-1C1D79C05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React Context is a way to manage state globally</a:t>
            </a:r>
            <a:r>
              <a:rPr lang="en-US" dirty="0"/>
              <a:t>.</a:t>
            </a:r>
          </a:p>
          <a:p>
            <a:r>
              <a:rPr lang="en-US" dirty="0"/>
              <a:t>It can be used together with the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dirty="0"/>
              <a:t> Hook to share state between deeply nested components more easily than with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useState</a:t>
            </a:r>
            <a:r>
              <a:rPr lang="en-US" dirty="0"/>
              <a:t> alone.</a:t>
            </a:r>
          </a:p>
          <a:p>
            <a:r>
              <a:rPr lang="en-US" dirty="0">
                <a:solidFill>
                  <a:srgbClr val="C00000"/>
                </a:solidFill>
              </a:rPr>
              <a:t>Prop drilling 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Prop drilling </a:t>
            </a:r>
            <a:r>
              <a:rPr lang="en-US" dirty="0"/>
              <a:t>refers to transporting this </a:t>
            </a:r>
            <a:r>
              <a:rPr lang="en-US" dirty="0">
                <a:solidFill>
                  <a:srgbClr val="C00000"/>
                </a:solidFill>
              </a:rPr>
              <a:t>data/state </a:t>
            </a:r>
            <a:r>
              <a:rPr lang="en-US" dirty="0"/>
              <a:t>as props to the intended destination through intermediate components.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61756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7C623-F2A2-36F6-7FEF-40C90609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</a:t>
            </a:r>
            <a:r>
              <a:rPr lang="en-US" dirty="0" err="1"/>
              <a:t>useContext</a:t>
            </a:r>
            <a:r>
              <a:rPr lang="en-US" dirty="0"/>
              <a:t> Hook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EEFFA-B600-A42C-2AD6-E708C25B4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6" y="2257425"/>
            <a:ext cx="4785282" cy="3614738"/>
          </a:xfrm>
          <a:prstGeom prst="rect">
            <a:avLst/>
          </a:prstGeom>
          <a:ln w="3175">
            <a:solidFill>
              <a:srgbClr val="0033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D86A13-3B51-46FF-B6F1-0A32DDDB5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975" y="1471612"/>
            <a:ext cx="4752975" cy="4723125"/>
          </a:xfrm>
          <a:prstGeom prst="rect">
            <a:avLst/>
          </a:prstGeom>
          <a:ln w="3175">
            <a:solidFill>
              <a:srgbClr val="0033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2F476D-4E97-FD68-5434-88D98A708233}"/>
              </a:ext>
            </a:extLst>
          </p:cNvPr>
          <p:cNvSpPr txBox="1"/>
          <p:nvPr/>
        </p:nvSpPr>
        <p:spPr>
          <a:xfrm>
            <a:off x="685799" y="1659042"/>
            <a:ext cx="2524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Prop drilling</a:t>
            </a:r>
          </a:p>
        </p:txBody>
      </p:sp>
    </p:spTree>
    <p:extLst>
      <p:ext uri="{BB962C8B-B14F-4D97-AF65-F5344CB8AC3E}">
        <p14:creationId xmlns:p14="http://schemas.microsoft.com/office/powerpoint/2010/main" val="145659985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E893-C4A8-3592-C39E-23927050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Use(</a:t>
            </a:r>
            <a:r>
              <a:rPr lang="en-US" dirty="0" err="1"/>
              <a:t>useContext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24C6-8FA1-8D1B-9DBB-2D6CE2861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>
                <a:solidFill>
                  <a:srgbClr val="C00000"/>
                </a:solidFill>
              </a:rPr>
              <a:t>useContext</a:t>
            </a:r>
            <a:r>
              <a:rPr lang="en-US" dirty="0"/>
              <a:t> when multiple components need </a:t>
            </a:r>
            <a:r>
              <a:rPr lang="en-US" b="1" dirty="0"/>
              <a:t>access to the same data</a:t>
            </a:r>
            <a:r>
              <a:rPr lang="en-US" dirty="0"/>
              <a:t> such as:</a:t>
            </a:r>
          </a:p>
          <a:p>
            <a:pPr lvl="1"/>
            <a:r>
              <a:rPr lang="en-US" dirty="0"/>
              <a:t>User authentication data</a:t>
            </a:r>
          </a:p>
          <a:p>
            <a:pPr lvl="1"/>
            <a:r>
              <a:rPr lang="en-US" dirty="0"/>
              <a:t>Theme (light/dark mode)</a:t>
            </a:r>
          </a:p>
          <a:p>
            <a:pPr lvl="1"/>
            <a:r>
              <a:rPr lang="en-US" dirty="0"/>
              <a:t>Language preferences</a:t>
            </a:r>
          </a:p>
          <a:p>
            <a:pPr lvl="1"/>
            <a:r>
              <a:rPr lang="en-US" dirty="0"/>
              <a:t>App-wide settings</a:t>
            </a:r>
          </a:p>
          <a:p>
            <a:r>
              <a:rPr lang="en-US" b="1" dirty="0"/>
              <a:t>Understanding the Flow</a:t>
            </a:r>
          </a:p>
          <a:p>
            <a:pPr lvl="1"/>
            <a:r>
              <a:rPr lang="en-US" b="1" dirty="0"/>
              <a:t>Create a Context</a:t>
            </a:r>
            <a:endParaRPr lang="en-US" dirty="0"/>
          </a:p>
          <a:p>
            <a:pPr lvl="1"/>
            <a:r>
              <a:rPr lang="en-US" b="1" dirty="0"/>
              <a:t>Provide a value</a:t>
            </a:r>
            <a:r>
              <a:rPr lang="en-US" dirty="0"/>
              <a:t> to that context using &lt;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Context.Provider</a:t>
            </a:r>
            <a:r>
              <a:rPr lang="en-US" dirty="0"/>
              <a:t>&gt;</a:t>
            </a:r>
          </a:p>
          <a:p>
            <a:pPr lvl="1"/>
            <a:r>
              <a:rPr lang="en-US" b="1" dirty="0"/>
              <a:t>Consume the value</a:t>
            </a:r>
            <a:r>
              <a:rPr lang="en-US" dirty="0"/>
              <a:t> using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useContext</a:t>
            </a: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Context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65816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700E-DBE7-DE90-3B79-61F80FC4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</a:t>
            </a:r>
            <a:r>
              <a:rPr lang="en-US" dirty="0" err="1"/>
              <a:t>useContext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DA7CE-A799-CD86-CAA7-B73B312F6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access the all the examples of (</a:t>
            </a:r>
            <a:r>
              <a:rPr lang="en-US" dirty="0" err="1"/>
              <a:t>useContext</a:t>
            </a:r>
            <a:r>
              <a:rPr lang="en-US" dirty="0"/>
              <a:t>) in the following </a:t>
            </a:r>
            <a:r>
              <a:rPr lang="en-US" dirty="0">
                <a:hlinkClick r:id="rId2"/>
              </a:rPr>
              <a:t>link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30165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A135-B2A3-BC7E-9A34-7305DC2F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Custom 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4F99B-B990-0534-3CF8-C4F136D79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Hooks are reusable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When you have component logic that needs to be used by multiple components, we can extract that logic to a custom Hook.</a:t>
            </a:r>
          </a:p>
          <a:p>
            <a:r>
              <a:rPr lang="en-US" dirty="0"/>
              <a:t>A </a:t>
            </a:r>
            <a:r>
              <a:rPr lang="en-US" b="1" dirty="0"/>
              <a:t>Custom Hook</a:t>
            </a:r>
            <a:r>
              <a:rPr lang="en-US" dirty="0"/>
              <a:t> is a </a:t>
            </a:r>
            <a:r>
              <a:rPr lang="en-US" b="1" dirty="0"/>
              <a:t>user-defined function</a:t>
            </a:r>
            <a:r>
              <a:rPr lang="en-US" dirty="0"/>
              <a:t> in React that:</a:t>
            </a:r>
          </a:p>
          <a:p>
            <a:pPr lvl="1"/>
            <a:r>
              <a:rPr lang="en-US" dirty="0"/>
              <a:t>Starts with the word </a:t>
            </a:r>
            <a:r>
              <a:rPr lang="en-US" b="1" dirty="0"/>
              <a:t>“use”</a:t>
            </a:r>
            <a:endParaRPr lang="en-US" dirty="0"/>
          </a:p>
          <a:p>
            <a:pPr lvl="1"/>
            <a:r>
              <a:rPr lang="en-US" dirty="0"/>
              <a:t>Uses </a:t>
            </a:r>
            <a:r>
              <a:rPr lang="en-US" b="1" dirty="0"/>
              <a:t>one or more React built-in hooks</a:t>
            </a:r>
            <a:r>
              <a:rPr lang="en-US" dirty="0"/>
              <a:t> (like </a:t>
            </a:r>
            <a:r>
              <a:rPr lang="en-US" dirty="0" err="1"/>
              <a:t>useState</a:t>
            </a:r>
            <a:r>
              <a:rPr lang="en-US" dirty="0"/>
              <a:t>, </a:t>
            </a:r>
            <a:r>
              <a:rPr lang="en-US" dirty="0" err="1"/>
              <a:t>useEffect</a:t>
            </a:r>
            <a:r>
              <a:rPr lang="en-US" dirty="0"/>
              <a:t>, etc.)</a:t>
            </a:r>
          </a:p>
          <a:p>
            <a:pPr lvl="1"/>
            <a:r>
              <a:rPr lang="en-US" dirty="0"/>
              <a:t>Helps to </a:t>
            </a:r>
            <a:r>
              <a:rPr lang="en-US" b="1" dirty="0"/>
              <a:t>reuse stateful logic</a:t>
            </a:r>
            <a:r>
              <a:rPr lang="en-US" dirty="0"/>
              <a:t> between multiple components</a:t>
            </a:r>
          </a:p>
          <a:p>
            <a:r>
              <a:rPr lang="en-US" dirty="0"/>
              <a:t>The main reason for which you should be using </a:t>
            </a:r>
            <a:r>
              <a:rPr lang="en-US" b="1" dirty="0">
                <a:solidFill>
                  <a:srgbClr val="C00000"/>
                </a:solidFill>
              </a:rPr>
              <a:t>Custom hooks is to maintain the concept of DRY</a:t>
            </a:r>
            <a:r>
              <a:rPr lang="en-US" dirty="0"/>
              <a:t>(Don’t Repeat Yourself) in your React apps. </a:t>
            </a:r>
          </a:p>
          <a:p>
            <a:r>
              <a:rPr lang="en-US" dirty="0"/>
              <a:t>Example: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use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Fetch</a:t>
            </a:r>
            <a:r>
              <a:rPr lang="en-US" dirty="0" err="1">
                <a:latin typeface="Consolas" panose="020B0609020204030204" pitchFamily="49" charset="0"/>
              </a:rPr>
              <a:t>CBIT</a:t>
            </a:r>
            <a:r>
              <a:rPr lang="en-US" dirty="0"/>
              <a:t>.</a:t>
            </a:r>
          </a:p>
          <a:p>
            <a:r>
              <a:rPr lang="en-US" b="1" dirty="0"/>
              <a:t>In simple terms:</a:t>
            </a:r>
          </a:p>
          <a:p>
            <a:pPr lvl="1"/>
            <a:r>
              <a:rPr lang="en-US" dirty="0"/>
              <a:t>When two or more components use the </a:t>
            </a:r>
            <a:r>
              <a:rPr lang="en-US" b="1" dirty="0"/>
              <a:t>same logic</a:t>
            </a:r>
            <a:r>
              <a:rPr lang="en-US" dirty="0"/>
              <a:t>, we can </a:t>
            </a:r>
            <a:r>
              <a:rPr lang="en-US" b="1" dirty="0"/>
              <a:t>move that logic into a custom hook</a:t>
            </a:r>
            <a:r>
              <a:rPr lang="en-US" dirty="0"/>
              <a:t> and reuse it.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14239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1C0EB-594D-9997-6F74-B82F6D07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Custom Hooks?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06BF74-B16E-E102-2AF1-43098CE7DD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3737507"/>
              </p:ext>
            </p:extLst>
          </p:nvPr>
        </p:nvGraphicFramePr>
        <p:xfrm>
          <a:off x="838200" y="1528638"/>
          <a:ext cx="10515600" cy="1737360"/>
        </p:xfrm>
        <a:graphic>
          <a:graphicData uri="http://schemas.openxmlformats.org/drawingml/2006/table">
            <a:tbl>
              <a:tblPr/>
              <a:tblGrid>
                <a:gridCol w="5003834">
                  <a:extLst>
                    <a:ext uri="{9D8B030D-6E8A-4147-A177-3AD203B41FA5}">
                      <a16:colId xmlns:a16="http://schemas.microsoft.com/office/drawing/2014/main" val="804029634"/>
                    </a:ext>
                  </a:extLst>
                </a:gridCol>
                <a:gridCol w="5511766">
                  <a:extLst>
                    <a:ext uri="{9D8B030D-6E8A-4147-A177-3AD203B41FA5}">
                      <a16:colId xmlns:a16="http://schemas.microsoft.com/office/drawing/2014/main" val="2900694575"/>
                    </a:ext>
                  </a:extLst>
                </a:gridCol>
              </a:tblGrid>
              <a:tr h="360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440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Repeating the same state logic in multiple 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Write a custom hook once, and reuse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64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Making components long and complicated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Move side effects and logic out into custom hooks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908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Hard to maintain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Centralize logic for consistency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5626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C29ED2-E744-50CE-7402-54D2FFFAC26F}"/>
              </a:ext>
            </a:extLst>
          </p:cNvPr>
          <p:cNvSpPr txBox="1"/>
          <p:nvPr/>
        </p:nvSpPr>
        <p:spPr>
          <a:xfrm>
            <a:off x="838200" y="3592003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Syntax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C0B7E9-7EC5-5311-8D2B-C172D8F90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945"/>
          <a:stretch>
            <a:fillRect/>
          </a:stretch>
        </p:blipFill>
        <p:spPr>
          <a:xfrm>
            <a:off x="1102794" y="4053668"/>
            <a:ext cx="8337722" cy="210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7495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C020-EE26-FDAA-7457-20CF112A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1 — Custom Hook for Window 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78D4F-A09A-879E-7CE7-21FAF741B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create a custom hook that tracks browser window width.</a:t>
            </a:r>
          </a:p>
          <a:p>
            <a:r>
              <a:rPr lang="en-US" b="1" dirty="0"/>
              <a:t>Step 1</a:t>
            </a:r>
            <a:r>
              <a:rPr lang="en-US" dirty="0"/>
              <a:t>: Create the Hook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118ED-3348-4190-E4F9-57F8226A2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50" y="2585567"/>
            <a:ext cx="6532678" cy="29803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ED8CF0-43E1-D990-FC3B-540A61AE4115}"/>
              </a:ext>
            </a:extLst>
          </p:cNvPr>
          <p:cNvSpPr txBox="1"/>
          <p:nvPr/>
        </p:nvSpPr>
        <p:spPr>
          <a:xfrm>
            <a:off x="7586870" y="5971176"/>
            <a:ext cx="4081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Continued example in next slide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3266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93999-CA51-3443-754D-769E4763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1 — Custom Hook for Window Width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34DD4C-0022-E876-3E35-30874A1D5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3723" y="1278235"/>
            <a:ext cx="8217132" cy="30399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36C195-6BE0-E1D4-AB02-1AF9D6DA1C23}"/>
              </a:ext>
            </a:extLst>
          </p:cNvPr>
          <p:cNvSpPr txBox="1"/>
          <p:nvPr/>
        </p:nvSpPr>
        <p:spPr>
          <a:xfrm>
            <a:off x="993913" y="4620903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Step 2: Use it in a Component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2089A-A95B-19BA-CA19-288C5DE800B1}"/>
              </a:ext>
            </a:extLst>
          </p:cNvPr>
          <p:cNvSpPr txBox="1"/>
          <p:nvPr/>
        </p:nvSpPr>
        <p:spPr>
          <a:xfrm>
            <a:off x="7586870" y="5971176"/>
            <a:ext cx="4081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Continued example in next slide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44910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85F8C-673F-D246-5158-316EB2C2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1 — Custom Hook for Window 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8DAFE-ECCA-38D6-8401-69B2EC0AB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</a:t>
            </a:r>
            <a:r>
              <a:rPr lang="en-US" dirty="0"/>
              <a:t>: Use it in a Component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95E5A-603C-FE0A-BC55-AABC1B024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171" y="2025268"/>
            <a:ext cx="6165493" cy="4471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6E25E9-37CC-2C9A-21EE-3720203AEAAD}"/>
              </a:ext>
            </a:extLst>
          </p:cNvPr>
          <p:cNvSpPr txBox="1"/>
          <p:nvPr/>
        </p:nvSpPr>
        <p:spPr>
          <a:xfrm>
            <a:off x="7790857" y="2025267"/>
            <a:ext cx="409634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Explanation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logic for tracking window resizing is </a:t>
            </a:r>
            <a:r>
              <a:rPr lang="en-US" sz="2000" b="1" dirty="0"/>
              <a:t>inside the custom hook.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Any component can now simply </a:t>
            </a:r>
            <a:r>
              <a:rPr lang="en-US" sz="2000" b="1" dirty="0"/>
              <a:t>import and use it without rewriting</a:t>
            </a:r>
            <a:r>
              <a:rPr lang="en-US" sz="2000" dirty="0"/>
              <a:t> event listeners.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F82F4-10C1-1E9A-B02A-2B31B552B058}"/>
              </a:ext>
            </a:extLst>
          </p:cNvPr>
          <p:cNvSpPr txBox="1"/>
          <p:nvPr/>
        </p:nvSpPr>
        <p:spPr>
          <a:xfrm>
            <a:off x="7683268" y="5565159"/>
            <a:ext cx="4311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For more example programs Click here to access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2242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FF1AF-17DF-97F7-4DFC-E4FC10F1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50022-2578-9413-5DA0-D5FBDE8DC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a </a:t>
            </a:r>
            <a:r>
              <a:rPr lang="en-US" b="1" dirty="0"/>
              <a:t>Custom Hook</a:t>
            </a:r>
            <a:r>
              <a:rPr lang="en-US" dirty="0"/>
              <a:t> like a </a:t>
            </a:r>
            <a:r>
              <a:rPr lang="en-US" b="1" dirty="0"/>
              <a:t>reusable cooking recipe</a:t>
            </a:r>
            <a:r>
              <a:rPr lang="en-US" dirty="0"/>
              <a:t> :</a:t>
            </a:r>
          </a:p>
          <a:p>
            <a:pPr lvl="1"/>
            <a:r>
              <a:rPr lang="en-US" dirty="0"/>
              <a:t>You write the recipe once (the hook).</a:t>
            </a:r>
          </a:p>
          <a:p>
            <a:pPr lvl="1"/>
            <a:r>
              <a:rPr lang="en-US" dirty="0"/>
              <a:t>Different chefs (components) can follow the same recipe anytime — saving time and ensuring consistency!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30171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1E9C-9F85-54AD-3593-E0F5224A2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Custom 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E2096-9E94-9536-D8C8-0EC13AC9D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name </a:t>
            </a:r>
            <a:r>
              <a:rPr lang="en-US" b="1" dirty="0"/>
              <a:t>must start with “use”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useTimer</a:t>
            </a:r>
            <a:r>
              <a:rPr lang="en-US" dirty="0"/>
              <a:t>, </a:t>
            </a:r>
            <a:r>
              <a:rPr lang="en-US" dirty="0" err="1"/>
              <a:t>useForm</a:t>
            </a:r>
            <a:r>
              <a:rPr lang="en-US" dirty="0"/>
              <a:t>, </a:t>
            </a:r>
            <a:r>
              <a:rPr lang="en-US" dirty="0" err="1"/>
              <a:t>useAuth</a:t>
            </a:r>
            <a:r>
              <a:rPr lang="en-US" dirty="0"/>
              <a:t>, etc.</a:t>
            </a:r>
          </a:p>
          <a:p>
            <a:r>
              <a:rPr lang="en-US" dirty="0"/>
              <a:t>You can use other React hooks inside it (</a:t>
            </a:r>
            <a:r>
              <a:rPr lang="en-US" dirty="0" err="1"/>
              <a:t>useState</a:t>
            </a:r>
            <a:r>
              <a:rPr lang="en-US" dirty="0"/>
              <a:t>, </a:t>
            </a:r>
            <a:r>
              <a:rPr lang="en-US" dirty="0" err="1"/>
              <a:t>useEffect</a:t>
            </a:r>
            <a:r>
              <a:rPr lang="en-US" dirty="0"/>
              <a:t>, </a:t>
            </a:r>
            <a:r>
              <a:rPr lang="en-US" dirty="0" err="1"/>
              <a:t>useContext</a:t>
            </a:r>
            <a:r>
              <a:rPr lang="en-US" dirty="0"/>
              <a:t>, etc.)</a:t>
            </a:r>
          </a:p>
          <a:p>
            <a:r>
              <a:rPr lang="en-US" dirty="0"/>
              <a:t>You </a:t>
            </a:r>
            <a:r>
              <a:rPr lang="en-US" b="1" dirty="0"/>
              <a:t>cannot</a:t>
            </a:r>
            <a:r>
              <a:rPr lang="en-US" dirty="0"/>
              <a:t> call hooks conditionally or inside loops — follow the </a:t>
            </a:r>
            <a:r>
              <a:rPr lang="en-US" b="1" dirty="0"/>
              <a:t>Rules of Hooks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24064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8D079-4BA0-DCED-7C90-417422072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Custom Hook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74AEDA-0E74-BF10-06E8-BC08793B0C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108047"/>
              </p:ext>
            </p:extLst>
          </p:nvPr>
        </p:nvGraphicFramePr>
        <p:xfrm>
          <a:off x="838200" y="2040227"/>
          <a:ext cx="10515600" cy="2194560"/>
        </p:xfrm>
        <a:graphic>
          <a:graphicData uri="http://schemas.openxmlformats.org/drawingml/2006/table">
            <a:tbl>
              <a:tblPr/>
              <a:tblGrid>
                <a:gridCol w="3363878">
                  <a:extLst>
                    <a:ext uri="{9D8B030D-6E8A-4147-A177-3AD203B41FA5}">
                      <a16:colId xmlns:a16="http://schemas.microsoft.com/office/drawing/2014/main" val="489632650"/>
                    </a:ext>
                  </a:extLst>
                </a:gridCol>
                <a:gridCol w="7151722">
                  <a:extLst>
                    <a:ext uri="{9D8B030D-6E8A-4147-A177-3AD203B41FA5}">
                      <a16:colId xmlns:a16="http://schemas.microsoft.com/office/drawing/2014/main" val="2289789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67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 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reusable function containing React hook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384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Syntax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function useSomething() { ... }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712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Reusability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across multiple 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5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Common Uses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Fetching data, local storage, timers, forms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15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Benefit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Cleaner, modular, and DRY (Don’t Repeat Yourself)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457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15855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88030-0166-23DC-D909-CCD56C031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End Integration in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3F78F-942B-F3C4-59AE-597F33BFA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Back-end integration in React means </a:t>
            </a:r>
            <a:r>
              <a:rPr lang="en-US" b="1" dirty="0"/>
              <a:t>connecting your frontend UI</a:t>
            </a:r>
            <a:r>
              <a:rPr lang="en-US" dirty="0"/>
              <a:t> (built with React) to a </a:t>
            </a:r>
            <a:r>
              <a:rPr lang="en-US" b="1" dirty="0"/>
              <a:t>server (backend)</a:t>
            </a:r>
            <a:r>
              <a:rPr lang="en-US" dirty="0"/>
              <a:t> that provides: - </a:t>
            </a:r>
          </a:p>
          <a:p>
            <a:r>
              <a:rPr lang="en-US" dirty="0"/>
              <a:t>Data from a </a:t>
            </a:r>
            <a:r>
              <a:rPr lang="en-US" b="1" dirty="0"/>
              <a:t>database</a:t>
            </a:r>
            <a:r>
              <a:rPr lang="en-US" dirty="0"/>
              <a:t> – </a:t>
            </a:r>
          </a:p>
          <a:p>
            <a:r>
              <a:rPr lang="en-US" dirty="0"/>
              <a:t>Functionality like </a:t>
            </a:r>
            <a:r>
              <a:rPr lang="en-US" b="1" dirty="0"/>
              <a:t>login, signup, fetching, adding, deleting, updating</a:t>
            </a:r>
            <a:r>
              <a:rPr lang="en-US" dirty="0"/>
              <a:t> data – </a:t>
            </a:r>
          </a:p>
          <a:p>
            <a:r>
              <a:rPr lang="en-US" dirty="0"/>
              <a:t>Secure </a:t>
            </a:r>
            <a:r>
              <a:rPr lang="en-US" b="1" dirty="0"/>
              <a:t>API endpoints</a:t>
            </a:r>
            <a:endParaRPr lang="en-US" dirty="0"/>
          </a:p>
          <a:p>
            <a:r>
              <a:rPr lang="en-US" dirty="0"/>
              <a:t>The frontend (React) communicates with the backend (Node.js + Express or any other server) through </a:t>
            </a:r>
            <a:r>
              <a:rPr lang="en-US" b="1" dirty="0"/>
              <a:t>HTTP requests</a:t>
            </a:r>
            <a:r>
              <a:rPr lang="en-US" dirty="0"/>
              <a:t> (GET, POST, PUT, DELETE).</a:t>
            </a:r>
          </a:p>
          <a:p>
            <a:r>
              <a:rPr lang="en-US" dirty="0"/>
              <a:t>For more access here with the </a:t>
            </a:r>
            <a:r>
              <a:rPr lang="en-US" b="1" dirty="0">
                <a:hlinkClick r:id="rId2"/>
              </a:rPr>
              <a:t>link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317362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DC3-E198-48A9-ED13-76E27C8D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Portals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C0DE4-CFE8-E6DC-ECB5-E3D12A57D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Portals provide </a:t>
            </a:r>
            <a:r>
              <a:rPr lang="en-US" dirty="0"/>
              <a:t>a first-class way to render children into a DOM node that exists </a:t>
            </a:r>
            <a:r>
              <a:rPr lang="en-US" dirty="0">
                <a:solidFill>
                  <a:srgbClr val="C00000"/>
                </a:solidFill>
              </a:rPr>
              <a:t>outside the DOM </a:t>
            </a:r>
            <a:r>
              <a:rPr lang="en-US" dirty="0"/>
              <a:t>hierarchy of the parent component.</a:t>
            </a:r>
          </a:p>
          <a:p>
            <a:r>
              <a:rPr lang="en-US" dirty="0"/>
              <a:t>So far, we were having one DOM element in the HTML into which we were mounting our react application, i.e., the root element of our index.html in the public folder.</a:t>
            </a:r>
          </a:p>
          <a:p>
            <a:r>
              <a:rPr lang="en-US" dirty="0"/>
              <a:t>If you take a look at the browser in the DOM tree every single React component in our application falls under the root element, i.e., inside this statement.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&lt;div id="root"&gt;&lt;/div&gt;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84323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593DC-EC1C-DF35-7296-E13BB4FC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Portals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4052F-9EB9-5A07-8EA9-98A22AD80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React 16.0 version introduced React portals in September 2017.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ReactDOM.createPortal</a:t>
            </a:r>
            <a:r>
              <a:rPr lang="en-US" dirty="0"/>
              <a:t>(child, container)  </a:t>
            </a:r>
          </a:p>
          <a:p>
            <a:pPr marL="0" indent="0">
              <a:buNone/>
            </a:pPr>
            <a:r>
              <a:rPr lang="en-US" dirty="0"/>
              <a:t>	Index.html				App.js	        Portaldemo.js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CD0BB-BA39-6943-71B8-A7D8D5570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78" y="3429000"/>
            <a:ext cx="4215080" cy="2705100"/>
          </a:xfrm>
          <a:prstGeom prst="rect">
            <a:avLst/>
          </a:prstGeom>
          <a:ln w="12700">
            <a:solidFill>
              <a:srgbClr val="0033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CBE834-5EF6-4009-FC32-E5F0D73BF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470" y="3429000"/>
            <a:ext cx="2838450" cy="2705100"/>
          </a:xfrm>
          <a:prstGeom prst="rect">
            <a:avLst/>
          </a:prstGeom>
          <a:ln w="12700">
            <a:solidFill>
              <a:srgbClr val="0033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77689C-1EB5-D236-4661-1E581A1EE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6697" y="3429000"/>
            <a:ext cx="2533650" cy="2705100"/>
          </a:xfrm>
          <a:prstGeom prst="rect">
            <a:avLst/>
          </a:prstGeom>
          <a:ln w="12700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35844450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B4661-FF8F-4CD2-B735-4D4278F8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Portals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C15D6F-724C-B53B-226F-62394690F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030" y="1620079"/>
            <a:ext cx="11610972" cy="3831880"/>
          </a:xfrm>
          <a:prstGeom prst="rect">
            <a:avLst/>
          </a:prstGeom>
          <a:ln w="952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303967154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E0A8-8AE9-A25F-12D7-68DA3595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Portals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3F5C0-C8D2-3544-4814-428F254D6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Index.html				App.js		         Portaldemo.js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516343"/>
            <a:ext cx="4215080" cy="3632156"/>
          </a:xfrm>
          <a:prstGeom prst="rect">
            <a:avLst/>
          </a:prstGeom>
          <a:ln w="9525">
            <a:solidFill>
              <a:srgbClr val="003300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992" y="2516342"/>
            <a:ext cx="2838450" cy="3632157"/>
          </a:xfrm>
          <a:prstGeom prst="rect">
            <a:avLst/>
          </a:prstGeom>
          <a:ln w="9525">
            <a:solidFill>
              <a:srgbClr val="00330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588" y="2516343"/>
            <a:ext cx="3086100" cy="3632156"/>
          </a:xfrm>
          <a:prstGeom prst="rect">
            <a:avLst/>
          </a:prstGeom>
          <a:ln w="952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60657681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9512-4A08-269B-08FE-AFE5A816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Portals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E4B06F-0A70-33C4-04E0-48BC96D06A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385" y="1808922"/>
            <a:ext cx="11615912" cy="3588026"/>
          </a:xfrm>
          <a:prstGeom prst="rect">
            <a:avLst/>
          </a:prstGeom>
          <a:ln w="952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168803673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2FEEF-9085-2720-5A34-2ACCF01D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Portals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5F079-AAD3-DCBC-31F7-5C044D70A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to use?</a:t>
            </a:r>
          </a:p>
          <a:p>
            <a:pPr lvl="1"/>
            <a:r>
              <a:rPr lang="en-US" dirty="0"/>
              <a:t>Modals</a:t>
            </a:r>
          </a:p>
          <a:p>
            <a:pPr lvl="1"/>
            <a:r>
              <a:rPr lang="en-US" dirty="0"/>
              <a:t>Tooltips</a:t>
            </a:r>
          </a:p>
          <a:p>
            <a:pPr lvl="1"/>
            <a:r>
              <a:rPr lang="en-US" dirty="0"/>
              <a:t>Floating menus</a:t>
            </a:r>
          </a:p>
          <a:p>
            <a:pPr lvl="1"/>
            <a:r>
              <a:rPr lang="en-US" dirty="0"/>
              <a:t>Widgets</a:t>
            </a:r>
          </a:p>
          <a:p>
            <a:r>
              <a:rPr lang="en-US" b="1" dirty="0">
                <a:solidFill>
                  <a:srgbClr val="C00000"/>
                </a:solidFill>
              </a:rPr>
              <a:t>Event bubbling </a:t>
            </a:r>
            <a:r>
              <a:rPr lang="en-US" dirty="0"/>
              <a:t>is a method of event propagation in the HTML DOM API when an event is in an element inside another element, and both elements have registered a handle to that event. </a:t>
            </a:r>
          </a:p>
          <a:p>
            <a:r>
              <a:rPr lang="en-US" dirty="0">
                <a:solidFill>
                  <a:srgbClr val="C00000"/>
                </a:solidFill>
              </a:rPr>
              <a:t>If we fire an event from inside a portal </a:t>
            </a:r>
            <a:r>
              <a:rPr lang="en-US" dirty="0"/>
              <a:t>it will propagate to the </a:t>
            </a:r>
            <a:r>
              <a:rPr lang="en-US" dirty="0">
                <a:solidFill>
                  <a:srgbClr val="C00000"/>
                </a:solidFill>
              </a:rPr>
              <a:t>Parent component in the containing React tree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13268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FAB9-9607-80F4-AEB1-7136D283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Axios in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03E50-41BD-F001-2E8A-BF1681699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Axios is a promise-based HTTP client </a:t>
            </a:r>
            <a:r>
              <a:rPr lang="en-US" dirty="0"/>
              <a:t>used to make requests (like </a:t>
            </a:r>
            <a:r>
              <a:rPr lang="en-US" dirty="0">
                <a:solidFill>
                  <a:srgbClr val="C00000"/>
                </a:solidFill>
              </a:rPr>
              <a:t>GET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POST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PUT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DELETE</a:t>
            </a:r>
            <a:r>
              <a:rPr lang="en-US" dirty="0"/>
              <a:t>) to:</a:t>
            </a:r>
          </a:p>
          <a:p>
            <a:pPr lvl="1"/>
            <a:r>
              <a:rPr lang="en-US" dirty="0"/>
              <a:t>REST APIs</a:t>
            </a:r>
          </a:p>
          <a:p>
            <a:pPr lvl="1"/>
            <a:r>
              <a:rPr lang="en-US" dirty="0"/>
              <a:t>External services</a:t>
            </a:r>
          </a:p>
          <a:p>
            <a:pPr lvl="1"/>
            <a:r>
              <a:rPr lang="en-US" dirty="0"/>
              <a:t>Backend servers (like Node.js, Express)</a:t>
            </a:r>
          </a:p>
          <a:p>
            <a:r>
              <a:rPr lang="en-US" dirty="0"/>
              <a:t>It’s similar to the built-in fetch(), but simpler and more powerful.</a:t>
            </a:r>
          </a:p>
        </p:txBody>
      </p:sp>
    </p:spTree>
    <p:extLst>
      <p:ext uri="{BB962C8B-B14F-4D97-AF65-F5344CB8AC3E}">
        <p14:creationId xmlns:p14="http://schemas.microsoft.com/office/powerpoint/2010/main" val="401256380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8135-01DB-ACB6-DCBD-ACA4267D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Axios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68B37-8573-926A-ECA2-62FF208D8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this in your React project folder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install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axios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/>
              <a:t>Then import it in your component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import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axios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from '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axios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';</a:t>
            </a:r>
          </a:p>
        </p:txBody>
      </p:sp>
    </p:spTree>
    <p:extLst>
      <p:ext uri="{BB962C8B-B14F-4D97-AF65-F5344CB8AC3E}">
        <p14:creationId xmlns:p14="http://schemas.microsoft.com/office/powerpoint/2010/main" val="191974075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486A-6308-2412-6345-8D7D41E93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Axios in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792A4-2E72-3677-4722-3DD9EE536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has good defaults to work with JSON data.</a:t>
            </a:r>
          </a:p>
          <a:p>
            <a:r>
              <a:rPr lang="en-US" dirty="0"/>
              <a:t>Axios has function names that match any HTTP methods. </a:t>
            </a:r>
          </a:p>
          <a:p>
            <a:r>
              <a:rPr lang="en-US" dirty="0"/>
              <a:t>Axios has better error handling. </a:t>
            </a:r>
          </a:p>
          <a:p>
            <a:r>
              <a:rPr lang="en-US" dirty="0"/>
              <a:t>Axios does more with less code. </a:t>
            </a:r>
          </a:p>
          <a:p>
            <a:r>
              <a:rPr lang="en-US" dirty="0"/>
              <a:t>Axios can be used on the server as well as the client.</a:t>
            </a:r>
          </a:p>
          <a:p>
            <a:r>
              <a:rPr lang="en-US" dirty="0">
                <a:solidFill>
                  <a:srgbClr val="C00000"/>
                </a:solidFill>
              </a:rPr>
              <a:t>Note : Complete Crud Operation Needs to be Written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75364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8FB4-D14B-75D3-11E6-92DBF142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Axios — Example 1 (GET Request)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FF231-6425-0EB1-D695-277EC9624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3567"/>
            <a:ext cx="2998305" cy="4894007"/>
          </a:xfrm>
        </p:spPr>
        <p:txBody>
          <a:bodyPr>
            <a:normAutofit/>
          </a:bodyPr>
          <a:lstStyle/>
          <a:p>
            <a:r>
              <a:rPr lang="en-US" sz="2400" dirty="0"/>
              <a:t>Let’s create a simple React component that fetches data from an API and displays it.</a:t>
            </a:r>
          </a:p>
          <a:p>
            <a:r>
              <a:rPr lang="en-US" sz="2400" dirty="0"/>
              <a:t>Example: Fetching user data from an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F5AD4-1403-7E04-AD5B-8209445383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66"/>
          <a:stretch>
            <a:fillRect/>
          </a:stretch>
        </p:blipFill>
        <p:spPr>
          <a:xfrm>
            <a:off x="3836504" y="1483567"/>
            <a:ext cx="8082558" cy="4856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16515E-1118-8D4C-820A-9D6D1F9D8B16}"/>
              </a:ext>
            </a:extLst>
          </p:cNvPr>
          <p:cNvSpPr txBox="1"/>
          <p:nvPr/>
        </p:nvSpPr>
        <p:spPr>
          <a:xfrm>
            <a:off x="9929191" y="5814391"/>
            <a:ext cx="1908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Screen Shot</a:t>
            </a:r>
          </a:p>
        </p:txBody>
      </p:sp>
    </p:spTree>
    <p:extLst>
      <p:ext uri="{BB962C8B-B14F-4D97-AF65-F5344CB8AC3E}">
        <p14:creationId xmlns:p14="http://schemas.microsoft.com/office/powerpoint/2010/main" val="290652593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CFF3-DD77-1409-FA6B-B2D3C7DAD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Axios — Example 1 (GET Request)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44E48C-E121-166E-1FE0-22151F1EF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834" y="1470489"/>
            <a:ext cx="5495908" cy="2385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7854EE-983F-48FD-B11B-E8E1B8FB2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69" y="1470489"/>
            <a:ext cx="4524697" cy="4991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35D95A-4EB3-6975-9DC4-958B7A852647}"/>
              </a:ext>
            </a:extLst>
          </p:cNvPr>
          <p:cNvSpPr txBox="1"/>
          <p:nvPr/>
        </p:nvSpPr>
        <p:spPr>
          <a:xfrm>
            <a:off x="4024429" y="2733261"/>
            <a:ext cx="1908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Screen Shot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D58D2-167D-7878-8090-4C78AA9B9245}"/>
              </a:ext>
            </a:extLst>
          </p:cNvPr>
          <p:cNvSpPr txBox="1"/>
          <p:nvPr/>
        </p:nvSpPr>
        <p:spPr>
          <a:xfrm>
            <a:off x="8803229" y="5844208"/>
            <a:ext cx="1908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Screen Shot</a:t>
            </a:r>
          </a:p>
        </p:txBody>
      </p:sp>
    </p:spTree>
    <p:extLst>
      <p:ext uri="{BB962C8B-B14F-4D97-AF65-F5344CB8AC3E}">
        <p14:creationId xmlns:p14="http://schemas.microsoft.com/office/powerpoint/2010/main" val="69932136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5CDD2-F8F1-044E-58C0-E1AEDE86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Axios — Example 2 (POST Request)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65FB4-ECA1-5251-9865-E889F3A93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let’s send data to a server (e.g., submit a form).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A9F17-433D-79D5-BD0C-9DC3FE66D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065270"/>
            <a:ext cx="5140353" cy="3413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E7DB9F-F70D-FA6D-D326-5D4952A12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65270"/>
            <a:ext cx="5840896" cy="430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5036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49321-07FE-29E3-FA8C-CBFFE3E2A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Axios — Example 2 (POST Request)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020836-A312-29A2-E209-729480537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084" y="1468107"/>
            <a:ext cx="5745737" cy="38822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2FE4C3-7F6E-6B19-E8A7-CE9974074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181" y="1468107"/>
            <a:ext cx="5647506" cy="436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6953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E271-DB61-AB6E-C7A1-76CBB5FD3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HTTP Methods in Axios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9DDF4D-4102-3486-64AF-8D87818F74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1663"/>
              </p:ext>
            </p:extLst>
          </p:nvPr>
        </p:nvGraphicFramePr>
        <p:xfrm>
          <a:off x="1019279" y="2514600"/>
          <a:ext cx="8929791" cy="18288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413573">
                  <a:extLst>
                    <a:ext uri="{9D8B030D-6E8A-4147-A177-3AD203B41FA5}">
                      <a16:colId xmlns:a16="http://schemas.microsoft.com/office/drawing/2014/main" val="897725613"/>
                    </a:ext>
                  </a:extLst>
                </a:gridCol>
                <a:gridCol w="3379305">
                  <a:extLst>
                    <a:ext uri="{9D8B030D-6E8A-4147-A177-3AD203B41FA5}">
                      <a16:colId xmlns:a16="http://schemas.microsoft.com/office/drawing/2014/main" val="190238610"/>
                    </a:ext>
                  </a:extLst>
                </a:gridCol>
                <a:gridCol w="2136913">
                  <a:extLst>
                    <a:ext uri="{9D8B030D-6E8A-4147-A177-3AD203B41FA5}">
                      <a16:colId xmlns:a16="http://schemas.microsoft.com/office/drawing/2014/main" val="1473946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93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axios.get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url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Fetch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Get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8601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axios.post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url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,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Create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905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axios.put(url,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Update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Update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95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axios.delete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url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Remove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Delete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752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653374"/>
      </p:ext>
    </p:extLst>
  </p:cSld>
  <p:clrMapOvr>
    <a:masterClrMapping/>
  </p:clrMapOvr>
</p:sld>
</file>

<file path=ppt/theme/theme1.xml><?xml version="1.0" encoding="utf-8"?>
<a:theme xmlns:a="http://schemas.openxmlformats.org/drawingml/2006/main" name="CBIT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Century Schoolbook"/>
        <a:ea typeface=""/>
        <a:cs typeface=""/>
      </a:majorFont>
      <a:minorFont>
        <a:latin typeface="Century School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 Template-2" id="{735ADA36-747A-426A-ADDA-E0E35782D182}" vid="{C3C4A68E-9199-41A9-8A47-D984B66FC7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 Template-3</Template>
  <TotalTime>33925</TotalTime>
  <Words>6774</Words>
  <Application>Microsoft Office PowerPoint</Application>
  <PresentationFormat>Widescreen</PresentationFormat>
  <Paragraphs>906</Paragraphs>
  <Slides>167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167</vt:i4>
      </vt:variant>
    </vt:vector>
  </HeadingPairs>
  <TitlesOfParts>
    <vt:vector size="177" baseType="lpstr">
      <vt:lpstr>Arial</vt:lpstr>
      <vt:lpstr>Bookman Old Style</vt:lpstr>
      <vt:lpstr>Calibri</vt:lpstr>
      <vt:lpstr>Century Schoolbook</vt:lpstr>
      <vt:lpstr>Consolas</vt:lpstr>
      <vt:lpstr>Courier New</vt:lpstr>
      <vt:lpstr>Symbol</vt:lpstr>
      <vt:lpstr>Times New Roman</vt:lpstr>
      <vt:lpstr>Wingdings</vt:lpstr>
      <vt:lpstr>CBIT template</vt:lpstr>
      <vt:lpstr>Unit-3, Module-I React JS</vt:lpstr>
      <vt:lpstr>Introduction to React JS</vt:lpstr>
      <vt:lpstr>Why did Facebook build React?</vt:lpstr>
      <vt:lpstr>Popularity &amp; Usage</vt:lpstr>
      <vt:lpstr>Benefits of Learning React</vt:lpstr>
      <vt:lpstr>Why React JS?</vt:lpstr>
      <vt:lpstr>Why React JS?</vt:lpstr>
      <vt:lpstr>Why React JS?</vt:lpstr>
      <vt:lpstr>Why React JS?</vt:lpstr>
      <vt:lpstr>Single Page Application (SPA) Concept</vt:lpstr>
      <vt:lpstr>Features of React</vt:lpstr>
      <vt:lpstr>React Installation</vt:lpstr>
      <vt:lpstr>Another Methods</vt:lpstr>
      <vt:lpstr>npx VS Vite Setup</vt:lpstr>
      <vt:lpstr>Folder Structure Overview</vt:lpstr>
      <vt:lpstr>React System Configuration - Internal</vt:lpstr>
      <vt:lpstr>DOM [Document Object Model]</vt:lpstr>
      <vt:lpstr>DOM [Document Object Model]</vt:lpstr>
      <vt:lpstr>Virtual DOM (VDOM)</vt:lpstr>
      <vt:lpstr>Actual DOM VS React VDOM</vt:lpstr>
      <vt:lpstr>Actual DOM VS React VDOM</vt:lpstr>
      <vt:lpstr>DOM VS VDOM</vt:lpstr>
      <vt:lpstr>What is JSX? Why do we need it?</vt:lpstr>
      <vt:lpstr>Example</vt:lpstr>
      <vt:lpstr>Example (JS Code)</vt:lpstr>
      <vt:lpstr>Example (Equivalent JSX code)</vt:lpstr>
      <vt:lpstr>Why JSX in React JS ?</vt:lpstr>
      <vt:lpstr>Why JSX in React JS ?</vt:lpstr>
      <vt:lpstr>Embedding Expressions in JSX</vt:lpstr>
      <vt:lpstr>JSX Rules</vt:lpstr>
      <vt:lpstr>JSX Rules</vt:lpstr>
      <vt:lpstr>Rendering JSX with ReactDOM.createRoot().render()</vt:lpstr>
      <vt:lpstr>What is React Component?</vt:lpstr>
      <vt:lpstr>React Component</vt:lpstr>
      <vt:lpstr>Types of Components</vt:lpstr>
      <vt:lpstr>React Component</vt:lpstr>
      <vt:lpstr>React Component</vt:lpstr>
      <vt:lpstr>React Component (earlier before 17 version)</vt:lpstr>
      <vt:lpstr>Rendering in React 18 (Modern, Recommended)</vt:lpstr>
      <vt:lpstr>Functional Components (Modern Approach</vt:lpstr>
      <vt:lpstr>Equivalent JavaScript (Previous slide)</vt:lpstr>
      <vt:lpstr>Class Components</vt:lpstr>
      <vt:lpstr>Render the content based on conditions</vt:lpstr>
      <vt:lpstr>Render the content based on conditions</vt:lpstr>
      <vt:lpstr>Render the content based on conditions</vt:lpstr>
      <vt:lpstr>Render a list of employees inside a table</vt:lpstr>
      <vt:lpstr>Render a list of employees inside a table (Contd..)</vt:lpstr>
      <vt:lpstr>Render a list of employees inside a table</vt:lpstr>
      <vt:lpstr>React Lifecycle</vt:lpstr>
      <vt:lpstr>Class Component Lifecycle Methods (Example)</vt:lpstr>
      <vt:lpstr>React Lifecycle</vt:lpstr>
      <vt:lpstr>Example: (Same as class component) (Timer)</vt:lpstr>
      <vt:lpstr>Comparison</vt:lpstr>
      <vt:lpstr>State</vt:lpstr>
      <vt:lpstr>Real-World Examples (Functional Components)</vt:lpstr>
      <vt:lpstr>Example 2: Toggle Light ON/OFF</vt:lpstr>
      <vt:lpstr>Example 3: Cart Items Count</vt:lpstr>
      <vt:lpstr>Props</vt:lpstr>
      <vt:lpstr>Example:</vt:lpstr>
      <vt:lpstr>Profile Card (Example)</vt:lpstr>
      <vt:lpstr>Button with Different Labels</vt:lpstr>
      <vt:lpstr>Navbar Menu</vt:lpstr>
      <vt:lpstr>Combined Example: Props + State</vt:lpstr>
      <vt:lpstr>Fragments in React</vt:lpstr>
      <vt:lpstr>Example without Fragment</vt:lpstr>
      <vt:lpstr>Example with Fragment</vt:lpstr>
      <vt:lpstr>Ways to Write Fragments</vt:lpstr>
      <vt:lpstr>Why use Fragments</vt:lpstr>
      <vt:lpstr>Events in React</vt:lpstr>
      <vt:lpstr>Event Handling in React vs HTML</vt:lpstr>
      <vt:lpstr>Preventing Default Behavior: React vs HTML/JS</vt:lpstr>
      <vt:lpstr>Preventing Default Behavior: React vs HTML/JS</vt:lpstr>
      <vt:lpstr>Example: Button Click</vt:lpstr>
      <vt:lpstr>Passing Arguments to Event Handler</vt:lpstr>
      <vt:lpstr>Common React Events</vt:lpstr>
      <vt:lpstr>PowerPoint Presentation</vt:lpstr>
      <vt:lpstr>React Router</vt:lpstr>
      <vt:lpstr>Why We Need React Router?</vt:lpstr>
      <vt:lpstr>Installing React Router</vt:lpstr>
      <vt:lpstr>React Router</vt:lpstr>
      <vt:lpstr>React Router</vt:lpstr>
      <vt:lpstr>Contd..</vt:lpstr>
      <vt:lpstr>React Router</vt:lpstr>
      <vt:lpstr>Basic Setup (React Router v6+)</vt:lpstr>
      <vt:lpstr>Contd..</vt:lpstr>
      <vt:lpstr>Contd..</vt:lpstr>
      <vt:lpstr>Key Concepts</vt:lpstr>
      <vt:lpstr>Key Concepts</vt:lpstr>
      <vt:lpstr>Key Concepts</vt:lpstr>
      <vt:lpstr>&lt;Link&gt; vs &lt;NavLink&gt; in React Router</vt:lpstr>
      <vt:lpstr>&lt;Link&gt; vs &lt;NavLink&gt; in React Router</vt:lpstr>
      <vt:lpstr>Example (NavLink)</vt:lpstr>
      <vt:lpstr>Use of Routes</vt:lpstr>
      <vt:lpstr>React Form</vt:lpstr>
      <vt:lpstr>Uncontrolled component</vt:lpstr>
      <vt:lpstr>Uncontrolled component (example)</vt:lpstr>
      <vt:lpstr>Contd..</vt:lpstr>
      <vt:lpstr>Controlled Components</vt:lpstr>
      <vt:lpstr>Controlled Components (Example)</vt:lpstr>
      <vt:lpstr>Contd..</vt:lpstr>
      <vt:lpstr>Pagination in React</vt:lpstr>
      <vt:lpstr>Two common approaches</vt:lpstr>
      <vt:lpstr>UX patterns &amp; choices</vt:lpstr>
      <vt:lpstr>Example</vt:lpstr>
      <vt:lpstr>React Tables</vt:lpstr>
      <vt:lpstr>React Tables</vt:lpstr>
      <vt:lpstr>Contd..</vt:lpstr>
      <vt:lpstr>Table Example dynamic loading (App.JS)</vt:lpstr>
      <vt:lpstr>App.CSS</vt:lpstr>
      <vt:lpstr>Results</vt:lpstr>
      <vt:lpstr>Using React tables</vt:lpstr>
      <vt:lpstr>Common props &amp; features in v6</vt:lpstr>
      <vt:lpstr>After Using react-table</vt:lpstr>
      <vt:lpstr>App.js</vt:lpstr>
      <vt:lpstr>Small server-side (manual) example sketch</vt:lpstr>
      <vt:lpstr>React Hooks</vt:lpstr>
      <vt:lpstr>Rules of Hooks</vt:lpstr>
      <vt:lpstr>React Hooks (useState)</vt:lpstr>
      <vt:lpstr>Initialize useState</vt:lpstr>
      <vt:lpstr>Example of useState</vt:lpstr>
      <vt:lpstr>Difference of using Class and useState Hook</vt:lpstr>
      <vt:lpstr>Difference of using Class and useState Hook</vt:lpstr>
      <vt:lpstr>Key differences (Using Class and Using Hooks)</vt:lpstr>
      <vt:lpstr>Key differences (Using Class and Using Hooks)</vt:lpstr>
      <vt:lpstr>Key differences (Using Class and Using Hooks)</vt:lpstr>
      <vt:lpstr>Key differences (Using Class and Using Hooks)</vt:lpstr>
      <vt:lpstr>Key differences (Using Class and Using Hooks)</vt:lpstr>
      <vt:lpstr>React Hook: useEffect</vt:lpstr>
      <vt:lpstr>Syntax</vt:lpstr>
      <vt:lpstr>Types of useEffect Calls</vt:lpstr>
      <vt:lpstr>Types of useEffect Calls</vt:lpstr>
      <vt:lpstr>Real-Life Analogy</vt:lpstr>
      <vt:lpstr>Example 1 — Simple useEffect (Runs after every render)</vt:lpstr>
      <vt:lpstr>Example 2 — Run Only Once (On Mount)</vt:lpstr>
      <vt:lpstr>Example 3 — Run When Dependencies Change</vt:lpstr>
      <vt:lpstr>Example 4 — useEffect with Cleanup (Unmount or Before Next Effect)</vt:lpstr>
      <vt:lpstr>Example 4 — useEffect with Cleanup (Unmount or Before Next Effect)</vt:lpstr>
      <vt:lpstr>Summary Table — When Each Example Runs</vt:lpstr>
      <vt:lpstr>Difference Between useEffect and useState</vt:lpstr>
      <vt:lpstr>React useContext Hook</vt:lpstr>
      <vt:lpstr>React useContext Hook</vt:lpstr>
      <vt:lpstr>React useContext Hook</vt:lpstr>
      <vt:lpstr>When to Use(useContext)</vt:lpstr>
      <vt:lpstr>Examples (useContext)</vt:lpstr>
      <vt:lpstr>React Custom Hooks</vt:lpstr>
      <vt:lpstr>Why Custom Hooks?</vt:lpstr>
      <vt:lpstr>Example 1 — Custom Hook for Window Width</vt:lpstr>
      <vt:lpstr>Example 1 — Custom Hook for Window Width</vt:lpstr>
      <vt:lpstr>Example 1 — Custom Hook for Window Width</vt:lpstr>
      <vt:lpstr>Real-Life Analogy</vt:lpstr>
      <vt:lpstr>Rules for Custom Hooks</vt:lpstr>
      <vt:lpstr>Summary of Custom Hook</vt:lpstr>
      <vt:lpstr>Back End Integration in React</vt:lpstr>
      <vt:lpstr>React Portals </vt:lpstr>
      <vt:lpstr>React Portals</vt:lpstr>
      <vt:lpstr>React Portals</vt:lpstr>
      <vt:lpstr>React Portals</vt:lpstr>
      <vt:lpstr>React Portals</vt:lpstr>
      <vt:lpstr>React Portals</vt:lpstr>
      <vt:lpstr>Axios in React</vt:lpstr>
      <vt:lpstr>Installing Axios</vt:lpstr>
      <vt:lpstr>Why Use Axios in React</vt:lpstr>
      <vt:lpstr>Using Axios — Example 1 (GET Request)</vt:lpstr>
      <vt:lpstr>Using Axios — Example 1 (GET Request)</vt:lpstr>
      <vt:lpstr>Using Axios — Example 2 (POST Request)</vt:lpstr>
      <vt:lpstr>Using Axios — Example 2 (POST Request)</vt:lpstr>
      <vt:lpstr>Common HTTP Methods in Axios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shivakumar chary</dc:creator>
  <cp:lastModifiedBy>shivakumar chary</cp:lastModifiedBy>
  <cp:revision>22</cp:revision>
  <dcterms:created xsi:type="dcterms:W3CDTF">2025-09-01T22:48:14Z</dcterms:created>
  <dcterms:modified xsi:type="dcterms:W3CDTF">2026-03-05T05:58:55Z</dcterms:modified>
</cp:coreProperties>
</file>