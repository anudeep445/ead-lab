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638" r:id="rId2"/>
    <p:sldId id="639" r:id="rId3"/>
    <p:sldId id="682" r:id="rId4"/>
    <p:sldId id="640" r:id="rId5"/>
    <p:sldId id="641" r:id="rId6"/>
    <p:sldId id="642" r:id="rId7"/>
    <p:sldId id="643" r:id="rId8"/>
    <p:sldId id="644" r:id="rId9"/>
    <p:sldId id="645" r:id="rId10"/>
    <p:sldId id="646" r:id="rId11"/>
    <p:sldId id="647" r:id="rId12"/>
    <p:sldId id="648" r:id="rId13"/>
    <p:sldId id="649" r:id="rId14"/>
    <p:sldId id="650" r:id="rId15"/>
    <p:sldId id="651" r:id="rId16"/>
    <p:sldId id="652" r:id="rId17"/>
    <p:sldId id="653" r:id="rId18"/>
    <p:sldId id="654" r:id="rId19"/>
    <p:sldId id="655" r:id="rId20"/>
    <p:sldId id="656" r:id="rId21"/>
    <p:sldId id="657" r:id="rId22"/>
    <p:sldId id="658" r:id="rId23"/>
    <p:sldId id="659" r:id="rId24"/>
    <p:sldId id="660" r:id="rId25"/>
    <p:sldId id="661" r:id="rId26"/>
    <p:sldId id="662" r:id="rId27"/>
    <p:sldId id="663" r:id="rId28"/>
    <p:sldId id="664" r:id="rId29"/>
    <p:sldId id="666" r:id="rId30"/>
    <p:sldId id="667" r:id="rId31"/>
    <p:sldId id="668" r:id="rId32"/>
    <p:sldId id="669" r:id="rId33"/>
    <p:sldId id="670" r:id="rId34"/>
    <p:sldId id="671" r:id="rId35"/>
    <p:sldId id="672" r:id="rId36"/>
    <p:sldId id="673" r:id="rId37"/>
    <p:sldId id="674" r:id="rId38"/>
    <p:sldId id="675" r:id="rId39"/>
    <p:sldId id="676" r:id="rId40"/>
    <p:sldId id="677" r:id="rId41"/>
    <p:sldId id="678" r:id="rId42"/>
    <p:sldId id="679" r:id="rId43"/>
    <p:sldId id="680" r:id="rId44"/>
    <p:sldId id="681" r:id="rId45"/>
    <p:sldId id="66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0000"/>
    <a:srgbClr val="071D01"/>
    <a:srgbClr val="860000"/>
    <a:srgbClr val="003300"/>
    <a:srgbClr val="051D17"/>
    <a:srgbClr val="1451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82" d="100"/>
          <a:sy n="82" d="100"/>
        </p:scale>
        <p:origin x="595"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138230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168981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F213FC-66C6-4930-AAD8-6C0E37E6E5CB}"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219169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F213FC-66C6-4930-AAD8-6C0E37E6E5CB}"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89296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F213FC-66C6-4930-AAD8-6C0E37E6E5CB}" type="datetimeFigureOut">
              <a:rPr lang="en-US" smtClean="0"/>
              <a:pPr/>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4246048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F213FC-66C6-4930-AAD8-6C0E37E6E5CB}" type="datetimeFigureOut">
              <a:rPr lang="en-US" smtClean="0"/>
              <a:pPr/>
              <a:t>9/6/2025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315670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F213FC-66C6-4930-AAD8-6C0E37E6E5CB}" type="datetimeFigureOut">
              <a:rPr lang="en-US" smtClean="0"/>
              <a:pPr/>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2747013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2695381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1352868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266667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pPr/>
              <a:t>‹#›</a:t>
            </a:fld>
            <a:endParaRPr lang="en-US"/>
          </a:p>
        </p:txBody>
      </p:sp>
    </p:spTree>
    <p:extLst>
      <p:ext uri="{BB962C8B-B14F-4D97-AF65-F5344CB8AC3E}">
        <p14:creationId xmlns:p14="http://schemas.microsoft.com/office/powerpoint/2010/main" val="1025960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F213FC-66C6-4930-AAD8-6C0E37E6E5CB}" type="datetimeFigureOut">
              <a:rPr lang="en-US" smtClean="0"/>
              <a:pPr/>
              <a:t>9/6/2025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E5CB-9241-4665-889D-78B918CC363E}" type="slidenum">
              <a:rPr lang="en-US" smtClean="0"/>
              <a:pPr/>
              <a:t>‹#›</a:t>
            </a:fld>
            <a:endParaRPr lang="en-US"/>
          </a:p>
        </p:txBody>
      </p:sp>
    </p:spTree>
    <p:extLst>
      <p:ext uri="{BB962C8B-B14F-4D97-AF65-F5344CB8AC3E}">
        <p14:creationId xmlns:p14="http://schemas.microsoft.com/office/powerpoint/2010/main" val="3473006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What is CSS? </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3"/>
            <a:ext cx="11122927" cy="5073974"/>
          </a:xfrm>
          <a:prstGeom prst="rect">
            <a:avLst/>
          </a:prstGeom>
          <a:noFill/>
          <a:ln w="25400">
            <a:solidFill>
              <a:srgbClr val="860000"/>
            </a:solidFill>
          </a:ln>
        </p:spPr>
        <p:txBody>
          <a:bodyPr vert="horz" lIns="91440" tIns="45720" rIns="91440" bIns="45720" rtlCol="0">
            <a:normAutofit lnSpcReduction="10000"/>
          </a:bodyPr>
          <a:lstStyle/>
          <a:p>
            <a:pPr marL="457200" indent="-457200" algn="just">
              <a:lnSpc>
                <a:spcPct val="200000"/>
              </a:lnSpc>
              <a:buFont typeface="Wingdings" pitchFamily="2" charset="2"/>
              <a:buChar char="Ø"/>
            </a:pPr>
            <a:r>
              <a:rPr lang="en-US" sz="2800" b="1" dirty="0">
                <a:solidFill>
                  <a:srgbClr val="003300"/>
                </a:solidFill>
                <a:latin typeface="Times New Roman" panose="02020603050405020304" pitchFamily="18" charset="0"/>
                <a:cs typeface="Times New Roman" panose="02020603050405020304" pitchFamily="18" charset="0"/>
              </a:rPr>
              <a:t>CSS</a:t>
            </a:r>
            <a:r>
              <a:rPr lang="en-US" sz="2800" dirty="0">
                <a:solidFill>
                  <a:srgbClr val="003300"/>
                </a:solidFill>
                <a:latin typeface="Times New Roman" panose="02020603050405020304" pitchFamily="18" charset="0"/>
                <a:cs typeface="Times New Roman" panose="02020603050405020304" pitchFamily="18" charset="0"/>
              </a:rPr>
              <a:t> stands for </a:t>
            </a:r>
            <a:r>
              <a:rPr lang="en-US" sz="2800" b="1" dirty="0">
                <a:solidFill>
                  <a:srgbClr val="003300"/>
                </a:solidFill>
                <a:latin typeface="Times New Roman" panose="02020603050405020304" pitchFamily="18" charset="0"/>
                <a:cs typeface="Times New Roman" panose="02020603050405020304" pitchFamily="18" charset="0"/>
              </a:rPr>
              <a:t>C</a:t>
            </a:r>
            <a:r>
              <a:rPr lang="en-US" sz="2800" dirty="0">
                <a:solidFill>
                  <a:srgbClr val="003300"/>
                </a:solidFill>
                <a:latin typeface="Times New Roman" panose="02020603050405020304" pitchFamily="18" charset="0"/>
                <a:cs typeface="Times New Roman" panose="02020603050405020304" pitchFamily="18" charset="0"/>
              </a:rPr>
              <a:t>ascading </a:t>
            </a:r>
            <a:r>
              <a:rPr lang="en-US" sz="2800" b="1" dirty="0">
                <a:solidFill>
                  <a:srgbClr val="003300"/>
                </a:solidFill>
                <a:latin typeface="Times New Roman" panose="02020603050405020304" pitchFamily="18" charset="0"/>
                <a:cs typeface="Times New Roman" panose="02020603050405020304" pitchFamily="18" charset="0"/>
              </a:rPr>
              <a:t>S</a:t>
            </a:r>
            <a:r>
              <a:rPr lang="en-US" sz="2800" dirty="0">
                <a:solidFill>
                  <a:srgbClr val="003300"/>
                </a:solidFill>
                <a:latin typeface="Times New Roman" panose="02020603050405020304" pitchFamily="18" charset="0"/>
                <a:cs typeface="Times New Roman" panose="02020603050405020304" pitchFamily="18" charset="0"/>
              </a:rPr>
              <a:t>tyle </a:t>
            </a:r>
            <a:r>
              <a:rPr lang="en-US" sz="2800" b="1" dirty="0">
                <a:solidFill>
                  <a:srgbClr val="003300"/>
                </a:solidFill>
                <a:latin typeface="Times New Roman" panose="02020603050405020304" pitchFamily="18" charset="0"/>
                <a:cs typeface="Times New Roman" panose="02020603050405020304" pitchFamily="18" charset="0"/>
              </a:rPr>
              <a:t>S</a:t>
            </a:r>
            <a:r>
              <a:rPr lang="en-US" sz="2800" dirty="0">
                <a:solidFill>
                  <a:srgbClr val="003300"/>
                </a:solidFill>
                <a:latin typeface="Times New Roman" panose="02020603050405020304" pitchFamily="18" charset="0"/>
                <a:cs typeface="Times New Roman" panose="02020603050405020304" pitchFamily="18" charset="0"/>
              </a:rPr>
              <a:t>heets.</a:t>
            </a:r>
          </a:p>
          <a:p>
            <a:pPr marL="457200" indent="-457200"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CSS describes </a:t>
            </a:r>
            <a:r>
              <a:rPr lang="en-US" sz="2800" b="1" dirty="0">
                <a:solidFill>
                  <a:srgbClr val="003300"/>
                </a:solidFill>
                <a:latin typeface="Times New Roman" panose="02020603050405020304" pitchFamily="18" charset="0"/>
                <a:cs typeface="Times New Roman" panose="02020603050405020304" pitchFamily="18" charset="0"/>
              </a:rPr>
              <a:t>how HTML elements are to be displayed on screen or in other media.</a:t>
            </a:r>
            <a:endParaRPr lang="en-US" sz="2800" dirty="0">
              <a:solidFill>
                <a:srgbClr val="003300"/>
              </a:solidFill>
              <a:latin typeface="Times New Roman" panose="02020603050405020304" pitchFamily="18" charset="0"/>
              <a:cs typeface="Times New Roman" panose="02020603050405020304" pitchFamily="18" charset="0"/>
            </a:endParaRPr>
          </a:p>
          <a:p>
            <a:pPr marL="457200" indent="-457200"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CSS </a:t>
            </a:r>
            <a:r>
              <a:rPr lang="en-US" sz="2800" b="1" dirty="0">
                <a:solidFill>
                  <a:srgbClr val="003300"/>
                </a:solidFill>
                <a:latin typeface="Times New Roman" panose="02020603050405020304" pitchFamily="18" charset="0"/>
                <a:cs typeface="Times New Roman" panose="02020603050405020304" pitchFamily="18" charset="0"/>
              </a:rPr>
              <a:t>saves a lot of work</a:t>
            </a:r>
            <a:r>
              <a:rPr lang="en-US" sz="2800" dirty="0">
                <a:solidFill>
                  <a:srgbClr val="003300"/>
                </a:solidFill>
                <a:latin typeface="Times New Roman" panose="02020603050405020304" pitchFamily="18" charset="0"/>
                <a:cs typeface="Times New Roman" panose="02020603050405020304" pitchFamily="18" charset="0"/>
              </a:rPr>
              <a:t>. It can control the layout of multiple web pages all at once.</a:t>
            </a:r>
          </a:p>
          <a:p>
            <a:pPr marL="457200" indent="-457200"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External style sheets are stored in </a:t>
            </a:r>
            <a:r>
              <a:rPr lang="en-US" sz="2800" b="1" dirty="0">
                <a:solidFill>
                  <a:srgbClr val="003300"/>
                </a:solidFill>
                <a:latin typeface="Times New Roman" panose="02020603050405020304" pitchFamily="18" charset="0"/>
                <a:cs typeface="Times New Roman" panose="02020603050405020304" pitchFamily="18" charset="0"/>
              </a:rPr>
              <a:t>CSS files.</a:t>
            </a:r>
            <a:endParaRPr lang="en-US" sz="2800" dirty="0">
              <a:solidFill>
                <a:srgbClr val="003300"/>
              </a:solidFill>
              <a:latin typeface="Times New Roman" panose="02020603050405020304" pitchFamily="18" charset="0"/>
              <a:cs typeface="Times New Roman" panose="02020603050405020304" pitchFamily="18" charset="0"/>
            </a:endParaRP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09501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CSS Syntax</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lnSpcReduction="10000"/>
          </a:bodyPr>
          <a:lstStyle/>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A CSS rule consists of a selector and a declaration block.</a:t>
            </a:r>
          </a:p>
          <a:p>
            <a:pPr>
              <a:lnSpc>
                <a:spcPct val="150000"/>
              </a:lnSpc>
            </a:pPr>
            <a:endParaRPr lang="en-US" sz="2800" dirty="0">
              <a:solidFill>
                <a:srgbClr val="003300"/>
              </a:solidFill>
              <a:latin typeface="Times New Roman" panose="02020603050405020304" pitchFamily="18" charset="0"/>
              <a:cs typeface="Times New Roman" panose="02020603050405020304" pitchFamily="18" charset="0"/>
            </a:endParaRPr>
          </a:p>
          <a:p>
            <a:pPr>
              <a:lnSpc>
                <a:spcPct val="150000"/>
              </a:lnSpc>
            </a:pPr>
            <a:endParaRPr lang="en-US" sz="2800" dirty="0">
              <a:solidFill>
                <a:srgbClr val="003300"/>
              </a:solidFill>
              <a:latin typeface="Times New Roman" panose="02020603050405020304" pitchFamily="18" charset="0"/>
              <a:cs typeface="Times New Roman" panose="02020603050405020304" pitchFamily="18" charset="0"/>
            </a:endParaRPr>
          </a:p>
          <a:p>
            <a:pPr>
              <a:lnSpc>
                <a:spcPct val="150000"/>
              </a:lnSpc>
            </a:pPr>
            <a:endParaRPr lang="en-US" sz="2800" dirty="0">
              <a:solidFill>
                <a:srgbClr val="003300"/>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2600" dirty="0">
                <a:solidFill>
                  <a:srgbClr val="003300"/>
                </a:solidFill>
                <a:latin typeface="Times New Roman" panose="02020603050405020304" pitchFamily="18" charset="0"/>
                <a:cs typeface="Times New Roman" panose="02020603050405020304" pitchFamily="18" charset="0"/>
              </a:rPr>
              <a:t>The selector points to the HTML element you want to style.</a:t>
            </a:r>
          </a:p>
          <a:p>
            <a:pPr marL="457200" indent="-457200">
              <a:lnSpc>
                <a:spcPct val="150000"/>
              </a:lnSpc>
              <a:buFont typeface="Arial" panose="020B0604020202020204" pitchFamily="34" charset="0"/>
              <a:buChar char="•"/>
            </a:pPr>
            <a:r>
              <a:rPr lang="en-US" sz="2600" dirty="0">
                <a:solidFill>
                  <a:srgbClr val="003300"/>
                </a:solidFill>
                <a:latin typeface="Times New Roman" panose="02020603050405020304" pitchFamily="18" charset="0"/>
                <a:cs typeface="Times New Roman" panose="02020603050405020304" pitchFamily="18" charset="0"/>
              </a:rPr>
              <a:t>The declaration block contains one or more declarations separated by semicolons.</a:t>
            </a:r>
          </a:p>
          <a:p>
            <a:pPr marL="457200" indent="-457200">
              <a:lnSpc>
                <a:spcPct val="150000"/>
              </a:lnSpc>
              <a:buFont typeface="Arial" panose="020B0604020202020204" pitchFamily="34" charset="0"/>
              <a:buChar char="•"/>
            </a:pPr>
            <a:r>
              <a:rPr lang="en-US" sz="2600" dirty="0">
                <a:solidFill>
                  <a:srgbClr val="003300"/>
                </a:solidFill>
                <a:latin typeface="Times New Roman" panose="02020603050405020304" pitchFamily="18" charset="0"/>
                <a:cs typeface="Times New Roman" panose="02020603050405020304" pitchFamily="18" charset="0"/>
              </a:rPr>
              <a:t>Each declaration includes a CSS property name and a value, separated by a colon.</a:t>
            </a:r>
          </a:p>
          <a:p>
            <a:pPr marL="457200" indent="-457200">
              <a:lnSpc>
                <a:spcPct val="150000"/>
              </a:lnSpc>
              <a:buFont typeface="Arial" panose="020B0604020202020204" pitchFamily="34" charset="0"/>
              <a:buChar char="•"/>
            </a:pPr>
            <a:r>
              <a:rPr lang="en-US" sz="2600" dirty="0">
                <a:solidFill>
                  <a:srgbClr val="003300"/>
                </a:solidFill>
                <a:latin typeface="Times New Roman" panose="02020603050405020304" pitchFamily="18" charset="0"/>
                <a:cs typeface="Times New Roman" panose="02020603050405020304" pitchFamily="18" charset="0"/>
              </a:rPr>
              <a:t>Multiple CSS declarations are separated with semicolons, and declaration blocks are surrounded by curly braces.</a:t>
            </a: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56B2B69B-94BC-CBA0-8ACC-ACBF9C8B84A3}"/>
              </a:ext>
            </a:extLst>
          </p:cNvPr>
          <p:cNvPicPr>
            <a:picLocks noChangeAspect="1"/>
          </p:cNvPicPr>
          <p:nvPr/>
        </p:nvPicPr>
        <p:blipFill>
          <a:blip r:embed="rId3"/>
          <a:stretch>
            <a:fillRect/>
          </a:stretch>
        </p:blipFill>
        <p:spPr>
          <a:xfrm>
            <a:off x="2767793" y="1560327"/>
            <a:ext cx="7285837" cy="1868673"/>
          </a:xfrm>
          <a:prstGeom prst="rect">
            <a:avLst/>
          </a:prstGeom>
        </p:spPr>
      </p:pic>
    </p:spTree>
    <p:extLst>
      <p:ext uri="{BB962C8B-B14F-4D97-AF65-F5344CB8AC3E}">
        <p14:creationId xmlns:p14="http://schemas.microsoft.com/office/powerpoint/2010/main" val="2057004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5D24C-D694-45D2-642C-1BEDD7805EF4}"/>
            </a:ext>
          </a:extLst>
        </p:cNvPr>
        <p:cNvGrpSpPr/>
        <p:nvPr/>
      </p:nvGrpSpPr>
      <p:grpSpPr>
        <a:xfrm>
          <a:off x="0" y="0"/>
          <a:ext cx="0" cy="0"/>
          <a:chOff x="0" y="0"/>
          <a:chExt cx="0" cy="0"/>
        </a:xfrm>
      </p:grpSpPr>
      <p:sp>
        <p:nvSpPr>
          <p:cNvPr id="10" name="Title 12">
            <a:extLst>
              <a:ext uri="{FF2B5EF4-FFF2-40B4-BE49-F238E27FC236}">
                <a16:creationId xmlns:a16="http://schemas.microsoft.com/office/drawing/2014/main" id="{56F810B5-D203-0BAB-9061-0662519A2E2E}"/>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CSS SELECTORS</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73B46461-D883-74E7-3525-E01372626B4D}"/>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fontScale="92500" lnSpcReduction="10000"/>
          </a:bodyPr>
          <a:lstStyle/>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Element Selector</a:t>
            </a:r>
          </a:p>
          <a:p>
            <a:pPr>
              <a:lnSpc>
                <a:spcPct val="150000"/>
              </a:lnSpc>
              <a:buFont typeface="Wingdings" pitchFamily="2" charset="2"/>
              <a:buChar char="Ø"/>
            </a:pPr>
            <a:endParaRPr lang="en-US" sz="2800" dirty="0">
              <a:solidFill>
                <a:srgbClr val="003300"/>
              </a:solidFill>
              <a:latin typeface="Times New Roman" panose="02020603050405020304" pitchFamily="18" charset="0"/>
              <a:cs typeface="Times New Roman" panose="02020603050405020304" pitchFamily="18" charset="0"/>
            </a:endParaRPr>
          </a:p>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ID Selector</a:t>
            </a:r>
          </a:p>
          <a:p>
            <a:pPr>
              <a:lnSpc>
                <a:spcPct val="150000"/>
              </a:lnSpc>
              <a:buFont typeface="Wingdings" pitchFamily="2" charset="2"/>
              <a:buChar char="Ø"/>
            </a:pPr>
            <a:endParaRPr lang="en-US" sz="2800" dirty="0">
              <a:solidFill>
                <a:srgbClr val="003300"/>
              </a:solidFill>
              <a:latin typeface="Times New Roman" panose="02020603050405020304" pitchFamily="18" charset="0"/>
              <a:cs typeface="Times New Roman" panose="02020603050405020304" pitchFamily="18" charset="0"/>
            </a:endParaRPr>
          </a:p>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Class Selector</a:t>
            </a:r>
          </a:p>
          <a:p>
            <a:pPr>
              <a:lnSpc>
                <a:spcPct val="150000"/>
              </a:lnSpc>
              <a:buFont typeface="Wingdings" pitchFamily="2" charset="2"/>
              <a:buChar char="Ø"/>
            </a:pPr>
            <a:endParaRPr lang="en-US" sz="2800" dirty="0">
              <a:solidFill>
                <a:srgbClr val="003300"/>
              </a:solidFill>
              <a:latin typeface="Times New Roman" panose="02020603050405020304" pitchFamily="18" charset="0"/>
              <a:cs typeface="Times New Roman" panose="02020603050405020304" pitchFamily="18" charset="0"/>
            </a:endParaRPr>
          </a:p>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Group Selector</a:t>
            </a:r>
          </a:p>
          <a:p>
            <a:pPr>
              <a:lnSpc>
                <a:spcPct val="150000"/>
              </a:lnSpc>
              <a:buFont typeface="Wingdings" pitchFamily="2" charset="2"/>
              <a:buChar char="Ø"/>
            </a:pPr>
            <a:endParaRPr lang="en-US" sz="2800" dirty="0">
              <a:solidFill>
                <a:srgbClr val="003300"/>
              </a:solidFill>
              <a:latin typeface="Times New Roman" panose="02020603050405020304" pitchFamily="18" charset="0"/>
              <a:cs typeface="Times New Roman" panose="02020603050405020304" pitchFamily="18" charset="0"/>
            </a:endParaRPr>
          </a:p>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Universal Selector</a:t>
            </a:r>
            <a:endParaRPr kumimoji="0" lang="en-US" sz="2800" b="0" i="0" u="none" strike="noStrike" kern="1200" cap="none" spc="0" normalizeH="0" baseline="0" noProof="0" dirty="0">
              <a:ln>
                <a:noFill/>
              </a:ln>
              <a:solidFill>
                <a:srgbClr val="003300"/>
              </a:solidFill>
              <a:effectLst/>
              <a:uLnTx/>
              <a:uFillTx/>
              <a:latin typeface="Times New Roman" pitchFamily="18" charset="0"/>
              <a:cs typeface="Times New Roman" pitchFamily="18" charset="0"/>
            </a:endParaRPr>
          </a:p>
        </p:txBody>
      </p:sp>
      <p:pic>
        <p:nvPicPr>
          <p:cNvPr id="2050" name="Picture 2" descr="C:\Users\GANGA\Desktop\download.jpg">
            <a:extLst>
              <a:ext uri="{FF2B5EF4-FFF2-40B4-BE49-F238E27FC236}">
                <a16:creationId xmlns:a16="http://schemas.microsoft.com/office/drawing/2014/main" id="{E9B78FC9-5611-D698-E53A-7CB56A70F699}"/>
              </a:ext>
            </a:extLst>
          </p:cNvPr>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a:extLst>
              <a:ext uri="{FF2B5EF4-FFF2-40B4-BE49-F238E27FC236}">
                <a16:creationId xmlns:a16="http://schemas.microsoft.com/office/drawing/2014/main" id="{6818805F-028A-E6DF-7768-1E0873A24281}"/>
              </a:ext>
            </a:extLst>
          </p:cNvPr>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67EF756-8244-C1A2-81AC-2908EA5530DA}"/>
              </a:ext>
            </a:extLst>
          </p:cNvPr>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82760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CSS Selectors</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a:bodyPr>
          <a:lstStyle/>
          <a:p>
            <a:pPr>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CSS selectors are used to "find"  HTML elements based on their element name, id, class, attribute, and more.</a:t>
            </a:r>
          </a:p>
          <a:p>
            <a:pPr>
              <a:lnSpc>
                <a:spcPct val="200000"/>
              </a:lnSpc>
              <a:buNone/>
            </a:pPr>
            <a:r>
              <a:rPr lang="en-US" sz="2800" b="1" u="sng" dirty="0">
                <a:solidFill>
                  <a:srgbClr val="600000"/>
                </a:solidFill>
                <a:latin typeface="Times New Roman" panose="02020603050405020304" pitchFamily="18" charset="0"/>
                <a:cs typeface="Times New Roman" panose="02020603050405020304" pitchFamily="18" charset="0"/>
              </a:rPr>
              <a:t>The element Selector</a:t>
            </a:r>
          </a:p>
          <a:p>
            <a:pPr>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The element selector selects elements based on the element name.</a:t>
            </a:r>
          </a:p>
          <a:p>
            <a:pPr>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You can select all &lt;p&gt; elements on a page.</a:t>
            </a:r>
          </a:p>
          <a:p>
            <a:pPr>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In this case, all &lt;p&gt; elements will be center-aligned, with a red text color.</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20582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New Roman" panose="02020603050405020304" pitchFamily="18" charset="0"/>
                <a:cs typeface="Times New Roman" panose="02020603050405020304" pitchFamily="18" charset="0"/>
              </a:rPr>
              <a:t>Element Selector</a:t>
            </a:r>
            <a:endParaRPr lang="en-US" sz="3600" b="1" dirty="0">
              <a:solidFill>
                <a:srgbClr val="860000"/>
              </a:solidFill>
              <a:latin typeface="Marcellus"/>
            </a:endParaRP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fontScale="92500" lnSpcReduction="20000"/>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&lt;!DOCTYPE html&gt;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a:t>
            </a:r>
            <a:r>
              <a:rPr lang="en-US" sz="2800" dirty="0">
                <a:solidFill>
                  <a:srgbClr val="600000"/>
                </a:solidFill>
                <a:latin typeface="Times New Roman" panose="02020603050405020304" pitchFamily="18" charset="0"/>
                <a:cs typeface="Times New Roman" panose="02020603050405020304" pitchFamily="18" charset="0"/>
              </a:rPr>
              <a:t>p </a:t>
            </a:r>
          </a:p>
          <a:p>
            <a:pPr>
              <a:buNone/>
            </a:pPr>
            <a:r>
              <a:rPr lang="en-US" sz="2800" dirty="0">
                <a:solidFill>
                  <a:srgbClr val="600000"/>
                </a:solidFill>
                <a:latin typeface="Times New Roman" panose="02020603050405020304" pitchFamily="18" charset="0"/>
                <a:cs typeface="Times New Roman" panose="02020603050405020304" pitchFamily="18" charset="0"/>
              </a:rPr>
              <a:t>					{</a:t>
            </a:r>
          </a:p>
          <a:p>
            <a:pPr>
              <a:buNone/>
            </a:pPr>
            <a:r>
              <a:rPr lang="en-US" sz="2800" dirty="0">
                <a:solidFill>
                  <a:srgbClr val="600000"/>
                </a:solidFill>
                <a:latin typeface="Times New Roman" panose="02020603050405020304" pitchFamily="18" charset="0"/>
                <a:cs typeface="Times New Roman" panose="02020603050405020304" pitchFamily="18" charset="0"/>
              </a:rPr>
              <a:t>   						 text-align: center;</a:t>
            </a:r>
          </a:p>
          <a:p>
            <a:pPr>
              <a:buNone/>
            </a:pPr>
            <a:r>
              <a:rPr lang="en-US" sz="2800" dirty="0">
                <a:solidFill>
                  <a:srgbClr val="600000"/>
                </a:solidFill>
                <a:latin typeface="Times New Roman" panose="02020603050405020304" pitchFamily="18" charset="0"/>
                <a:cs typeface="Times New Roman" panose="02020603050405020304" pitchFamily="18" charset="0"/>
              </a:rPr>
              <a:t>    						  color: red;</a:t>
            </a:r>
          </a:p>
          <a:p>
            <a:pPr>
              <a:buNone/>
            </a:pPr>
            <a:r>
              <a:rPr lang="en-US" sz="2800" dirty="0">
                <a:solidFill>
                  <a:srgbClr val="600000"/>
                </a:solidFill>
                <a:latin typeface="Times New Roman" panose="02020603050405020304" pitchFamily="18" charset="0"/>
                <a:cs typeface="Times New Roman" panose="02020603050405020304" pitchFamily="18" charset="0"/>
              </a:rPr>
              <a:t>					} </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&lt;body&gt;</a:t>
            </a:r>
          </a:p>
          <a:p>
            <a:pPr>
              <a:buNone/>
            </a:pPr>
            <a:r>
              <a:rPr lang="en-US" sz="2800" dirty="0">
                <a:solidFill>
                  <a:srgbClr val="003300"/>
                </a:solidFill>
                <a:latin typeface="Times New Roman" panose="02020603050405020304" pitchFamily="18" charset="0"/>
                <a:cs typeface="Times New Roman" panose="02020603050405020304" pitchFamily="18" charset="0"/>
              </a:rPr>
              <a:t>&lt;p&gt;Every paragraph will be affected by the style.&lt;/p&gt;</a:t>
            </a:r>
          </a:p>
          <a:p>
            <a:pPr>
              <a:buNone/>
            </a:pPr>
            <a:r>
              <a:rPr lang="en-US" sz="2800" dirty="0">
                <a:solidFill>
                  <a:srgbClr val="003300"/>
                </a:solidFill>
                <a:latin typeface="Times New Roman" panose="02020603050405020304" pitchFamily="18" charset="0"/>
                <a:cs typeface="Times New Roman" panose="02020603050405020304" pitchFamily="18" charset="0"/>
              </a:rPr>
              <a:t>&lt;p id="para1"&gt;Me too!&lt;/p&gt;</a:t>
            </a:r>
          </a:p>
          <a:p>
            <a:pPr>
              <a:buNone/>
            </a:pPr>
            <a:r>
              <a:rPr lang="en-US" sz="2800" dirty="0">
                <a:solidFill>
                  <a:srgbClr val="003300"/>
                </a:solidFill>
                <a:latin typeface="Times New Roman" panose="02020603050405020304" pitchFamily="18" charset="0"/>
                <a:cs typeface="Times New Roman" panose="02020603050405020304" pitchFamily="18" charset="0"/>
              </a:rPr>
              <a:t>&lt;p&gt;And me!&lt;/p&gt;</a:t>
            </a:r>
          </a:p>
          <a:p>
            <a:pPr>
              <a:buNone/>
            </a:pPr>
            <a:r>
              <a:rPr lang="en-US" sz="2800" dirty="0">
                <a:solidFill>
                  <a:srgbClr val="003300"/>
                </a:solidFill>
                <a:latin typeface="Times New Roman" panose="02020603050405020304" pitchFamily="18" charset="0"/>
                <a:cs typeface="Times New Roman" panose="02020603050405020304" pitchFamily="18" charset="0"/>
              </a:rPr>
              <a:t>&lt;/body&gt;</a:t>
            </a:r>
          </a:p>
          <a:p>
            <a:pPr>
              <a:buNone/>
            </a:pPr>
            <a:r>
              <a:rPr lang="en-US" sz="2800" dirty="0">
                <a:solidFill>
                  <a:srgbClr val="003300"/>
                </a:solidFill>
                <a:latin typeface="Times New Roman" panose="02020603050405020304" pitchFamily="18" charset="0"/>
                <a:cs typeface="Times New Roman" panose="02020603050405020304"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840305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New Roman" panose="02020603050405020304" pitchFamily="18" charset="0"/>
                <a:cs typeface="Times New Roman" panose="02020603050405020304" pitchFamily="18" charset="0"/>
              </a:rPr>
              <a:t>The Id Selector</a:t>
            </a: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a:bodyPr>
          <a:lstStyle/>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The id selector uses the id attribute of an HTML element to select a specific element.</a:t>
            </a:r>
          </a:p>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The id of an element should be unique within a page, so the id selector is used to select one unique element!</a:t>
            </a:r>
          </a:p>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To select an element with a specific id, write a </a:t>
            </a:r>
            <a:r>
              <a:rPr lang="en-US" sz="2800" b="1" dirty="0">
                <a:solidFill>
                  <a:srgbClr val="600000"/>
                </a:solidFill>
                <a:latin typeface="Times New Roman" panose="02020603050405020304" pitchFamily="18" charset="0"/>
                <a:cs typeface="Times New Roman" panose="02020603050405020304" pitchFamily="18" charset="0"/>
              </a:rPr>
              <a:t>hash (#) character</a:t>
            </a:r>
            <a:r>
              <a:rPr lang="en-US" sz="2800" dirty="0">
                <a:solidFill>
                  <a:srgbClr val="003300"/>
                </a:solidFill>
                <a:latin typeface="Times New Roman" panose="02020603050405020304" pitchFamily="18" charset="0"/>
                <a:cs typeface="Times New Roman" panose="02020603050405020304" pitchFamily="18" charset="0"/>
              </a:rPr>
              <a:t>, followed by the id of the element.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2297036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0781732"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Id Selector</a:t>
            </a:r>
            <a:endParaRPr kumimoji="0" lang="en-US" sz="3600" b="1" i="0" u="none" strike="noStrike" kern="1200" cap="none" spc="0" normalizeH="0" baseline="0" noProof="0" dirty="0">
              <a:ln>
                <a:noFill/>
              </a:ln>
              <a:solidFill>
                <a:srgbClr val="860000"/>
              </a:solidFill>
              <a:effectLst/>
              <a:uLnTx/>
              <a:uFillTx/>
              <a:latin typeface="Marcellus"/>
              <a:ea typeface="+mj-ea"/>
              <a:cs typeface="+mj-c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2"/>
            <a:ext cx="10781731" cy="5679281"/>
          </a:xfrm>
          <a:prstGeom prst="rect">
            <a:avLst/>
          </a:prstGeom>
          <a:noFill/>
          <a:ln w="25400">
            <a:solidFill>
              <a:srgbClr val="860000"/>
            </a:solidFill>
          </a:ln>
        </p:spPr>
        <p:txBody>
          <a:bodyPr vert="horz" lIns="91440" tIns="45720" rIns="91440" bIns="45720" rtlCol="0">
            <a:normAutofit fontScale="85000" lnSpcReduction="20000"/>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&lt;!DOCTYPE html&gt;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600000"/>
                </a:solidFill>
                <a:latin typeface="Times New Roman" panose="02020603050405020304" pitchFamily="18" charset="0"/>
                <a:cs typeface="Times New Roman" panose="02020603050405020304" pitchFamily="18" charset="0"/>
              </a:rPr>
              <a:t>				#para1</a:t>
            </a:r>
          </a:p>
          <a:p>
            <a:pPr>
              <a:buNone/>
            </a:pPr>
            <a:r>
              <a:rPr lang="en-US" sz="2800" dirty="0">
                <a:solidFill>
                  <a:srgbClr val="600000"/>
                </a:solidFill>
                <a:latin typeface="Times New Roman" panose="02020603050405020304" pitchFamily="18" charset="0"/>
                <a:cs typeface="Times New Roman" panose="02020603050405020304" pitchFamily="18" charset="0"/>
              </a:rPr>
              <a:t> 					{</a:t>
            </a:r>
          </a:p>
          <a:p>
            <a:pPr>
              <a:buNone/>
            </a:pPr>
            <a:r>
              <a:rPr lang="en-US" sz="2800" dirty="0">
                <a:solidFill>
                  <a:srgbClr val="600000"/>
                </a:solidFill>
                <a:latin typeface="Times New Roman" panose="02020603050405020304" pitchFamily="18" charset="0"/>
                <a:cs typeface="Times New Roman" panose="02020603050405020304" pitchFamily="18" charset="0"/>
              </a:rPr>
              <a:t>  					  text-align: center;</a:t>
            </a:r>
          </a:p>
          <a:p>
            <a:pPr>
              <a:buNone/>
            </a:pPr>
            <a:r>
              <a:rPr lang="en-US" sz="2800" dirty="0">
                <a:solidFill>
                  <a:srgbClr val="600000"/>
                </a:solidFill>
                <a:latin typeface="Times New Roman" panose="02020603050405020304" pitchFamily="18" charset="0"/>
                <a:cs typeface="Times New Roman" panose="02020603050405020304" pitchFamily="18" charset="0"/>
              </a:rPr>
              <a:t>   					 color: red;</a:t>
            </a:r>
          </a:p>
          <a:p>
            <a:pPr>
              <a:buNone/>
            </a:pPr>
            <a:r>
              <a:rPr lang="en-US" sz="2800" dirty="0">
                <a:solidFill>
                  <a:srgbClr val="600000"/>
                </a:solidFill>
                <a:latin typeface="Times New Roman" panose="02020603050405020304" pitchFamily="18" charset="0"/>
                <a:cs typeface="Times New Roman" panose="02020603050405020304" pitchFamily="18" charset="0"/>
              </a:rPr>
              <a:t>					}</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&lt;p id="para1"&gt;Hello World!&lt;/p&gt;</a:t>
            </a:r>
          </a:p>
          <a:p>
            <a:pPr>
              <a:buNone/>
            </a:pPr>
            <a:r>
              <a:rPr lang="en-US" sz="2800" dirty="0">
                <a:solidFill>
                  <a:srgbClr val="003300"/>
                </a:solidFill>
                <a:latin typeface="Times New Roman" panose="02020603050405020304" pitchFamily="18" charset="0"/>
                <a:cs typeface="Times New Roman" panose="02020603050405020304" pitchFamily="18" charset="0"/>
              </a:rPr>
              <a:t>				&lt;p&gt;This paragraph is not affected by the style.&lt;/p&gt;</a:t>
            </a:r>
          </a:p>
          <a:p>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5" name="Rectangle 14"/>
          <p:cNvSpPr/>
          <p:nvPr/>
        </p:nvSpPr>
        <p:spPr>
          <a:xfrm>
            <a:off x="11191167" y="0"/>
            <a:ext cx="259311" cy="551369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1450472" y="0"/>
            <a:ext cx="741528" cy="5882183"/>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1191166" y="5915467"/>
            <a:ext cx="1000833" cy="915237"/>
          </a:xfrm>
          <a:prstGeom prst="rect">
            <a:avLst/>
          </a:prstGeom>
          <a:noFill/>
          <a:ln>
            <a:solidFill>
              <a:srgbClr val="860000"/>
            </a:solidFill>
          </a:ln>
        </p:spPr>
      </p:pic>
    </p:spTree>
    <p:extLst>
      <p:ext uri="{BB962C8B-B14F-4D97-AF65-F5344CB8AC3E}">
        <p14:creationId xmlns:p14="http://schemas.microsoft.com/office/powerpoint/2010/main" val="1035261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Class Selector</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3"/>
            <a:ext cx="11122927" cy="5073974"/>
          </a:xfrm>
          <a:prstGeom prst="rect">
            <a:avLst/>
          </a:prstGeom>
          <a:noFill/>
          <a:ln w="25400">
            <a:solidFill>
              <a:srgbClr val="860000"/>
            </a:solidFill>
          </a:ln>
        </p:spPr>
        <p:txBody>
          <a:bodyPr vert="horz" lIns="91440" tIns="45720" rIns="91440" bIns="45720" rtlCol="0">
            <a:normAutofit/>
          </a:bodyPr>
          <a:lstStyle/>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The class selector selects elements with a specific class attribute.</a:t>
            </a:r>
          </a:p>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To select elements with a specific class, write a </a:t>
            </a:r>
            <a:r>
              <a:rPr lang="en-US" sz="2800" b="1" dirty="0">
                <a:solidFill>
                  <a:srgbClr val="600000"/>
                </a:solidFill>
                <a:latin typeface="Times New Roman" panose="02020603050405020304" pitchFamily="18" charset="0"/>
                <a:cs typeface="Times New Roman" panose="02020603050405020304" pitchFamily="18" charset="0"/>
              </a:rPr>
              <a:t>period (.) character</a:t>
            </a:r>
            <a:r>
              <a:rPr lang="en-US" sz="2800" dirty="0">
                <a:solidFill>
                  <a:srgbClr val="003300"/>
                </a:solidFill>
                <a:latin typeface="Times New Roman" panose="02020603050405020304" pitchFamily="18" charset="0"/>
                <a:cs typeface="Times New Roman" panose="02020603050405020304" pitchFamily="18" charset="0"/>
              </a:rPr>
              <a:t>, followed by the name of the class.</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p:cNvPicPr>
            <a:picLocks noChangeAspect="1" noChangeArrowheads="1"/>
          </p:cNvPicPr>
          <p:nvPr/>
        </p:nvPicPr>
        <p:blipFill>
          <a:blip r:embed="rId3"/>
          <a:srcRect/>
          <a:stretch>
            <a:fillRect/>
          </a:stretch>
        </p:blipFill>
        <p:spPr bwMode="auto">
          <a:xfrm>
            <a:off x="552870" y="3886200"/>
            <a:ext cx="9983511" cy="1600200"/>
          </a:xfrm>
          <a:prstGeom prst="rect">
            <a:avLst/>
          </a:prstGeom>
          <a:noFill/>
          <a:ln w="9525">
            <a:noFill/>
            <a:miter lim="800000"/>
            <a:headEnd/>
            <a:tailEnd/>
          </a:ln>
          <a:effectLst/>
        </p:spPr>
      </p:pic>
    </p:spTree>
    <p:extLst>
      <p:ext uri="{BB962C8B-B14F-4D97-AF65-F5344CB8AC3E}">
        <p14:creationId xmlns:p14="http://schemas.microsoft.com/office/powerpoint/2010/main" val="2345520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Class Selector</a:t>
            </a: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fontScale="77500" lnSpcReduction="20000"/>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&lt;!DOCTYPE html&gt;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lvl="5"/>
            <a:r>
              <a:rPr lang="en-US" sz="2800" dirty="0">
                <a:solidFill>
                  <a:srgbClr val="600000"/>
                </a:solidFill>
                <a:latin typeface="Times New Roman" panose="02020603050405020304" pitchFamily="18" charset="0"/>
                <a:cs typeface="Times New Roman" panose="02020603050405020304" pitchFamily="18" charset="0"/>
              </a:rPr>
              <a:t>.center</a:t>
            </a:r>
          </a:p>
          <a:p>
            <a:pPr lvl="5"/>
            <a:r>
              <a:rPr lang="en-US" sz="2800" dirty="0">
                <a:solidFill>
                  <a:srgbClr val="600000"/>
                </a:solidFill>
                <a:latin typeface="Times New Roman" panose="02020603050405020304" pitchFamily="18" charset="0"/>
                <a:cs typeface="Times New Roman" panose="02020603050405020304" pitchFamily="18" charset="0"/>
              </a:rPr>
              <a:t> {</a:t>
            </a:r>
          </a:p>
          <a:p>
            <a:pPr lvl="5"/>
            <a:r>
              <a:rPr lang="en-US" sz="2800" dirty="0">
                <a:solidFill>
                  <a:srgbClr val="600000"/>
                </a:solidFill>
                <a:latin typeface="Times New Roman" panose="02020603050405020304" pitchFamily="18" charset="0"/>
                <a:cs typeface="Times New Roman" panose="02020603050405020304" pitchFamily="18" charset="0"/>
              </a:rPr>
              <a:t>    text-align: center;</a:t>
            </a:r>
          </a:p>
          <a:p>
            <a:pPr lvl="5"/>
            <a:r>
              <a:rPr lang="en-US" sz="2800" dirty="0">
                <a:solidFill>
                  <a:srgbClr val="600000"/>
                </a:solidFill>
                <a:latin typeface="Times New Roman" panose="02020603050405020304" pitchFamily="18" charset="0"/>
                <a:cs typeface="Times New Roman" panose="02020603050405020304" pitchFamily="18" charset="0"/>
              </a:rPr>
              <a:t>    color: red;</a:t>
            </a:r>
          </a:p>
          <a:p>
            <a:pPr lvl="5"/>
            <a:r>
              <a:rPr lang="en-US" sz="2800" dirty="0">
                <a:solidFill>
                  <a:srgbClr val="600000"/>
                </a:solidFill>
                <a:latin typeface="Times New Roman" panose="02020603050405020304" pitchFamily="18" charset="0"/>
                <a:cs typeface="Times New Roman" panose="02020603050405020304" pitchFamily="18" charset="0"/>
              </a:rPr>
              <a: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&lt;h1 class="center"&gt;Red and center-aligned heading&lt;/h1&gt;</a:t>
            </a:r>
          </a:p>
          <a:p>
            <a:pPr>
              <a:buNone/>
            </a:pPr>
            <a:r>
              <a:rPr lang="en-US" sz="2800" dirty="0">
                <a:solidFill>
                  <a:srgbClr val="003300"/>
                </a:solidFill>
                <a:latin typeface="Times New Roman" panose="02020603050405020304" pitchFamily="18" charset="0"/>
                <a:cs typeface="Times New Roman" panose="02020603050405020304" pitchFamily="18" charset="0"/>
              </a:rPr>
              <a:t>					&lt;p class="center"&gt;Red and center-aligned paragraph.&lt;/p&gt; </a:t>
            </a:r>
          </a:p>
          <a:p>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08096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Class Selector</a:t>
            </a: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fontScale="62500" lnSpcReduction="20000"/>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&lt;!DOCTYPE html&gt;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lvl="4"/>
            <a:r>
              <a:rPr lang="en-US" sz="2800" dirty="0">
                <a:solidFill>
                  <a:srgbClr val="600000"/>
                </a:solidFill>
                <a:latin typeface="Times New Roman" panose="02020603050405020304" pitchFamily="18" charset="0"/>
                <a:cs typeface="Times New Roman" panose="02020603050405020304" pitchFamily="18" charset="0"/>
              </a:rPr>
              <a:t>.intro </a:t>
            </a:r>
          </a:p>
          <a:p>
            <a:pPr lvl="4"/>
            <a:r>
              <a:rPr lang="en-US" sz="2800" dirty="0">
                <a:solidFill>
                  <a:srgbClr val="600000"/>
                </a:solidFill>
                <a:latin typeface="Times New Roman" panose="02020603050405020304" pitchFamily="18" charset="0"/>
                <a:cs typeface="Times New Roman" panose="02020603050405020304" pitchFamily="18" charset="0"/>
              </a:rPr>
              <a:t>{</a:t>
            </a:r>
          </a:p>
          <a:p>
            <a:pPr lvl="4"/>
            <a:r>
              <a:rPr lang="en-US" sz="2800" dirty="0">
                <a:solidFill>
                  <a:srgbClr val="600000"/>
                </a:solidFill>
                <a:latin typeface="Times New Roman" panose="02020603050405020304" pitchFamily="18" charset="0"/>
                <a:cs typeface="Times New Roman" panose="02020603050405020304" pitchFamily="18" charset="0"/>
              </a:rPr>
              <a:t>  color: blue;</a:t>
            </a:r>
          </a:p>
          <a:p>
            <a:pPr lvl="4"/>
            <a:r>
              <a:rPr lang="en-US" sz="2800" dirty="0">
                <a:solidFill>
                  <a:srgbClr val="600000"/>
                </a:solidFill>
                <a:latin typeface="Times New Roman" panose="02020603050405020304" pitchFamily="18" charset="0"/>
                <a:cs typeface="Times New Roman" panose="02020603050405020304" pitchFamily="18" charset="0"/>
              </a:rPr>
              <a:t>  text-align: center;</a:t>
            </a:r>
          </a:p>
          <a:p>
            <a:pPr lvl="4"/>
            <a:r>
              <a:rPr lang="en-US" sz="2800" dirty="0">
                <a:solidFill>
                  <a:srgbClr val="600000"/>
                </a:solidFill>
                <a:latin typeface="Times New Roman" panose="02020603050405020304" pitchFamily="18" charset="0"/>
                <a:cs typeface="Times New Roman" panose="02020603050405020304" pitchFamily="18" charset="0"/>
              </a:rPr>
              <a: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lvl="4"/>
            <a:r>
              <a:rPr lang="en-US" sz="2800" dirty="0">
                <a:solidFill>
                  <a:srgbClr val="600000"/>
                </a:solidFill>
                <a:latin typeface="Times New Roman" panose="02020603050405020304" pitchFamily="18" charset="0"/>
                <a:cs typeface="Times New Roman" panose="02020603050405020304" pitchFamily="18" charset="0"/>
              </a:rPr>
              <a:t>.important </a:t>
            </a:r>
          </a:p>
          <a:p>
            <a:pPr lvl="4"/>
            <a:r>
              <a:rPr lang="en-US" sz="2800" dirty="0">
                <a:solidFill>
                  <a:srgbClr val="600000"/>
                </a:solidFill>
                <a:latin typeface="Times New Roman" panose="02020603050405020304" pitchFamily="18" charset="0"/>
                <a:cs typeface="Times New Roman" panose="02020603050405020304" pitchFamily="18" charset="0"/>
              </a:rPr>
              <a:t>{</a:t>
            </a:r>
          </a:p>
          <a:p>
            <a:pPr lvl="4"/>
            <a:r>
              <a:rPr lang="en-US" sz="2800" dirty="0">
                <a:solidFill>
                  <a:srgbClr val="600000"/>
                </a:solidFill>
                <a:latin typeface="Times New Roman" panose="02020603050405020304" pitchFamily="18" charset="0"/>
                <a:cs typeface="Times New Roman" panose="02020603050405020304" pitchFamily="18" charset="0"/>
              </a:rPr>
              <a:t>  background-color: yellow;</a:t>
            </a:r>
          </a:p>
          <a:p>
            <a:pPr lvl="4"/>
            <a:r>
              <a:rPr lang="en-US" sz="2800" dirty="0">
                <a:solidFill>
                  <a:srgbClr val="600000"/>
                </a:solidFill>
                <a:latin typeface="Times New Roman" panose="02020603050405020304" pitchFamily="18" charset="0"/>
                <a:cs typeface="Times New Roman" panose="02020603050405020304" pitchFamily="18" charset="0"/>
              </a:rPr>
              <a: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&lt;h1 class="intro important"&gt;Header 1&lt;/h1&gt;</a:t>
            </a:r>
          </a:p>
          <a:p>
            <a:pPr>
              <a:buNone/>
            </a:pPr>
            <a:r>
              <a:rPr lang="en-US" sz="2800" dirty="0">
                <a:solidFill>
                  <a:srgbClr val="003300"/>
                </a:solidFill>
                <a:latin typeface="Times New Roman" panose="02020603050405020304" pitchFamily="18" charset="0"/>
                <a:cs typeface="Times New Roman" panose="02020603050405020304" pitchFamily="18" charset="0"/>
              </a:rPr>
              <a:t>		&lt;p&gt;A paragraph.&lt;/p&gt;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p:cNvPicPr>
            <a:picLocks noChangeAspect="1" noChangeArrowheads="1"/>
          </p:cNvPicPr>
          <p:nvPr/>
        </p:nvPicPr>
        <p:blipFill>
          <a:blip r:embed="rId3"/>
          <a:srcRect/>
          <a:stretch>
            <a:fillRect/>
          </a:stretch>
        </p:blipFill>
        <p:spPr bwMode="auto">
          <a:xfrm>
            <a:off x="5372770" y="991276"/>
            <a:ext cx="6334125" cy="1038225"/>
          </a:xfrm>
          <a:prstGeom prst="rect">
            <a:avLst/>
          </a:prstGeom>
          <a:noFill/>
          <a:ln w="9525">
            <a:noFill/>
            <a:miter lim="800000"/>
            <a:headEnd/>
            <a:tailEnd/>
          </a:ln>
          <a:effectLst/>
        </p:spPr>
      </p:pic>
    </p:spTree>
    <p:extLst>
      <p:ext uri="{BB962C8B-B14F-4D97-AF65-F5344CB8AC3E}">
        <p14:creationId xmlns:p14="http://schemas.microsoft.com/office/powerpoint/2010/main" val="2024290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dirty="0">
                <a:solidFill>
                  <a:srgbClr val="600000"/>
                </a:solidFill>
                <a:latin typeface="Times New Roman" panose="02020603050405020304" pitchFamily="18" charset="0"/>
                <a:cs typeface="Times New Roman" panose="02020603050405020304" pitchFamily="18" charset="0"/>
              </a:rPr>
              <a:t>Group Selectors</a:t>
            </a:r>
            <a:endParaRPr lang="en-US" sz="3600" b="1" dirty="0">
              <a:solidFill>
                <a:srgbClr val="600000"/>
              </a:solidFill>
              <a:latin typeface="Times New Roman" panose="02020603050405020304" pitchFamily="18" charset="0"/>
              <a:cs typeface="Times New Roman" panose="02020603050405020304" pitchFamily="18" charset="0"/>
            </a:endParaRP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fontScale="85000" lnSpcReduction="20000"/>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&lt;!DOCTYPE html&gt;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lvl="4"/>
            <a:r>
              <a:rPr lang="en-US" sz="2800" dirty="0">
                <a:solidFill>
                  <a:srgbClr val="600000"/>
                </a:solidFill>
                <a:latin typeface="Times New Roman" panose="02020603050405020304" pitchFamily="18" charset="0"/>
                <a:cs typeface="Times New Roman" panose="02020603050405020304" pitchFamily="18" charset="0"/>
              </a:rPr>
              <a:t>h1, h2, p </a:t>
            </a:r>
          </a:p>
          <a:p>
            <a:pPr lvl="4"/>
            <a:r>
              <a:rPr lang="en-US" sz="2800" dirty="0">
                <a:solidFill>
                  <a:srgbClr val="600000"/>
                </a:solidFill>
                <a:latin typeface="Times New Roman" panose="02020603050405020304" pitchFamily="18" charset="0"/>
                <a:cs typeface="Times New Roman" panose="02020603050405020304" pitchFamily="18" charset="0"/>
              </a:rPr>
              <a:t>{</a:t>
            </a:r>
          </a:p>
          <a:p>
            <a:pPr lvl="4"/>
            <a:r>
              <a:rPr lang="en-US" sz="2800" dirty="0">
                <a:solidFill>
                  <a:srgbClr val="600000"/>
                </a:solidFill>
                <a:latin typeface="Times New Roman" panose="02020603050405020304" pitchFamily="18" charset="0"/>
                <a:cs typeface="Times New Roman" panose="02020603050405020304" pitchFamily="18" charset="0"/>
              </a:rPr>
              <a:t>    text-align: center;</a:t>
            </a:r>
          </a:p>
          <a:p>
            <a:pPr lvl="4"/>
            <a:r>
              <a:rPr lang="en-US" sz="2800" dirty="0">
                <a:solidFill>
                  <a:srgbClr val="600000"/>
                </a:solidFill>
                <a:latin typeface="Times New Roman" panose="02020603050405020304" pitchFamily="18" charset="0"/>
                <a:cs typeface="Times New Roman" panose="02020603050405020304" pitchFamily="18" charset="0"/>
              </a:rPr>
              <a:t>    color: red;</a:t>
            </a:r>
          </a:p>
          <a:p>
            <a:pPr lvl="4"/>
            <a:r>
              <a:rPr lang="en-US" sz="2800" dirty="0">
                <a:solidFill>
                  <a:srgbClr val="600000"/>
                </a:solidFill>
                <a:latin typeface="Times New Roman" panose="02020603050405020304" pitchFamily="18" charset="0"/>
                <a:cs typeface="Times New Roman" panose="02020603050405020304" pitchFamily="18" charset="0"/>
              </a:rPr>
              <a: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lvl="4"/>
            <a:r>
              <a:rPr lang="en-US" sz="2800" dirty="0">
                <a:solidFill>
                  <a:srgbClr val="003300"/>
                </a:solidFill>
                <a:latin typeface="Times New Roman" panose="02020603050405020304" pitchFamily="18" charset="0"/>
                <a:cs typeface="Times New Roman" panose="02020603050405020304" pitchFamily="18" charset="0"/>
              </a:rPr>
              <a:t>&lt;h1&gt;Hello World!&lt;/h1&gt;</a:t>
            </a:r>
          </a:p>
          <a:p>
            <a:pPr lvl="4"/>
            <a:r>
              <a:rPr lang="en-US" sz="2800" dirty="0">
                <a:solidFill>
                  <a:srgbClr val="003300"/>
                </a:solidFill>
                <a:latin typeface="Times New Roman" panose="02020603050405020304" pitchFamily="18" charset="0"/>
                <a:cs typeface="Times New Roman" panose="02020603050405020304" pitchFamily="18" charset="0"/>
              </a:rPr>
              <a:t>&lt;h2&gt;Smaller heading!&lt;/h2&gt;</a:t>
            </a:r>
          </a:p>
          <a:p>
            <a:pPr lvl="4"/>
            <a:r>
              <a:rPr lang="en-US" sz="2800" dirty="0">
                <a:solidFill>
                  <a:srgbClr val="003300"/>
                </a:solidFill>
                <a:latin typeface="Times New Roman" panose="02020603050405020304" pitchFamily="18" charset="0"/>
                <a:cs typeface="Times New Roman" panose="02020603050405020304" pitchFamily="18" charset="0"/>
              </a:rPr>
              <a:t>&lt;p&gt;This is a paragraph.&lt;/p&gt;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106330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New Roman" panose="02020603050405020304" pitchFamily="18" charset="0"/>
                <a:cs typeface="Times New Roman" panose="02020603050405020304" pitchFamily="18" charset="0"/>
              </a:rPr>
              <a:t>Universal Selectors</a:t>
            </a: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fontScale="70000" lnSpcReduction="20000"/>
          </a:bodyPr>
          <a:lstStyle/>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&lt;html&gt;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	&lt;head&gt;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		&lt;title&gt;Simple Example of CSS universal selectors &lt;/title&gt;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			&lt;style&gt;</a:t>
            </a:r>
          </a:p>
          <a:p>
            <a:pPr lvl="4">
              <a:lnSpc>
                <a:spcPct val="120000"/>
              </a:lnSpc>
            </a:pPr>
            <a:r>
              <a:rPr lang="en-US" sz="2800" dirty="0">
                <a:solidFill>
                  <a:srgbClr val="600000"/>
                </a:solidFill>
                <a:latin typeface="Times New Roman" panose="02020603050405020304" pitchFamily="18" charset="0"/>
                <a:cs typeface="Times New Roman" panose="02020603050405020304" pitchFamily="18" charset="0"/>
              </a:rPr>
              <a:t>* </a:t>
            </a:r>
          </a:p>
          <a:p>
            <a:pPr lvl="4">
              <a:lnSpc>
                <a:spcPct val="120000"/>
              </a:lnSpc>
            </a:pPr>
            <a:r>
              <a:rPr lang="en-US" sz="2800" dirty="0">
                <a:solidFill>
                  <a:srgbClr val="600000"/>
                </a:solidFill>
                <a:latin typeface="Times New Roman" panose="02020603050405020304" pitchFamily="18" charset="0"/>
                <a:cs typeface="Times New Roman" panose="02020603050405020304" pitchFamily="18" charset="0"/>
              </a:rPr>
              <a:t>	{</a:t>
            </a:r>
          </a:p>
          <a:p>
            <a:pPr lvl="4">
              <a:lnSpc>
                <a:spcPct val="120000"/>
              </a:lnSpc>
            </a:pPr>
            <a:r>
              <a:rPr lang="en-US" sz="2800" dirty="0">
                <a:solidFill>
                  <a:srgbClr val="600000"/>
                </a:solidFill>
                <a:latin typeface="Times New Roman" panose="02020603050405020304" pitchFamily="18" charset="0"/>
                <a:cs typeface="Times New Roman" panose="02020603050405020304" pitchFamily="18" charset="0"/>
              </a:rPr>
              <a:t>	color: blue; </a:t>
            </a:r>
          </a:p>
          <a:p>
            <a:pPr lvl="4">
              <a:lnSpc>
                <a:spcPct val="120000"/>
              </a:lnSpc>
            </a:pPr>
            <a:r>
              <a:rPr lang="en-US" sz="2800" dirty="0">
                <a:solidFill>
                  <a:srgbClr val="600000"/>
                </a:solidFill>
                <a:latin typeface="Times New Roman" panose="02020603050405020304" pitchFamily="18" charset="0"/>
                <a:cs typeface="Times New Roman" panose="02020603050405020304" pitchFamily="18" charset="0"/>
              </a:rPr>
              <a:t>	background: silver; </a:t>
            </a:r>
          </a:p>
          <a:p>
            <a:pPr lvl="4">
              <a:lnSpc>
                <a:spcPct val="120000"/>
              </a:lnSpc>
            </a:pPr>
            <a:r>
              <a:rPr lang="en-US" sz="2800" dirty="0">
                <a:solidFill>
                  <a:srgbClr val="600000"/>
                </a:solidFill>
                <a:latin typeface="Times New Roman" panose="02020603050405020304" pitchFamily="18" charset="0"/>
                <a:cs typeface="Times New Roman" panose="02020603050405020304" pitchFamily="18" charset="0"/>
              </a:rPr>
              <a:t>	}</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	&lt;/head&gt;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&lt;body&gt;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&lt;h1&gt;Example of CSS.&lt;/h2&gt;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&lt;h2&gt;Example of grouping of CSS universal selectors.&lt;/h2&gt;</a:t>
            </a:r>
          </a:p>
          <a:p>
            <a:pPr algn="just">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&lt;p&gt;</a:t>
            </a:r>
            <a:r>
              <a:rPr lang="en-US" sz="2900" dirty="0">
                <a:solidFill>
                  <a:srgbClr val="003300"/>
                </a:solidFill>
                <a:latin typeface="Times New Roman" panose="02020603050405020304" pitchFamily="18" charset="0"/>
                <a:cs typeface="Times New Roman" panose="02020603050405020304" pitchFamily="18" charset="0"/>
              </a:rPr>
              <a:t>CHAITANYA BHARATHI INSTITUTE OF TECHNOLOGY, established in the Year 1979, esteemed as the Premier Engineering Institute in the States of Telangana and Andhra Pradesh</a:t>
            </a:r>
            <a:r>
              <a:rPr lang="en-US" sz="2800" dirty="0">
                <a:solidFill>
                  <a:srgbClr val="003300"/>
                </a:solidFill>
                <a:latin typeface="Times New Roman" panose="02020603050405020304" pitchFamily="18" charset="0"/>
                <a:cs typeface="Times New Roman" panose="02020603050405020304" pitchFamily="18" charset="0"/>
              </a:rPr>
              <a:t>.&lt;/p&gt;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&lt;/body&gt;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983146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0781732"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C</a:t>
            </a:r>
            <a:r>
              <a:rPr lang="en-US" sz="3600" dirty="0">
                <a:solidFill>
                  <a:srgbClr val="600000"/>
                </a:solidFill>
                <a:latin typeface="Times New Roman" panose="02020603050405020304" pitchFamily="18" charset="0"/>
                <a:cs typeface="Times New Roman" panose="02020603050405020304" pitchFamily="18" charset="0"/>
              </a:rPr>
              <a:t>ascading </a:t>
            </a:r>
            <a:r>
              <a:rPr lang="en-US" sz="3600" b="1" dirty="0">
                <a:solidFill>
                  <a:srgbClr val="600000"/>
                </a:solidFill>
                <a:latin typeface="Times New Roman" panose="02020603050405020304" pitchFamily="18" charset="0"/>
                <a:cs typeface="Times New Roman" panose="02020603050405020304" pitchFamily="18" charset="0"/>
              </a:rPr>
              <a:t>S</a:t>
            </a:r>
            <a:r>
              <a:rPr lang="en-US" sz="3600" dirty="0">
                <a:solidFill>
                  <a:srgbClr val="600000"/>
                </a:solidFill>
                <a:latin typeface="Times New Roman" panose="02020603050405020304" pitchFamily="18" charset="0"/>
                <a:cs typeface="Times New Roman" panose="02020603050405020304" pitchFamily="18" charset="0"/>
              </a:rPr>
              <a:t>tyle </a:t>
            </a:r>
            <a:r>
              <a:rPr lang="en-US" sz="3600" b="1" dirty="0">
                <a:solidFill>
                  <a:srgbClr val="600000"/>
                </a:solidFill>
                <a:latin typeface="Times New Roman" panose="02020603050405020304" pitchFamily="18" charset="0"/>
                <a:cs typeface="Times New Roman" panose="02020603050405020304" pitchFamily="18" charset="0"/>
              </a:rPr>
              <a:t>S</a:t>
            </a:r>
            <a:r>
              <a:rPr lang="en-US" sz="3600" dirty="0">
                <a:solidFill>
                  <a:srgbClr val="600000"/>
                </a:solidFill>
                <a:latin typeface="Times New Roman" panose="02020603050405020304" pitchFamily="18" charset="0"/>
                <a:cs typeface="Times New Roman" panose="02020603050405020304" pitchFamily="18" charset="0"/>
              </a:rPr>
              <a:t>heets</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2"/>
            <a:ext cx="10781731" cy="5679281"/>
          </a:xfrm>
          <a:prstGeom prst="rect">
            <a:avLst/>
          </a:prstGeom>
          <a:noFill/>
          <a:ln w="25400">
            <a:solidFill>
              <a:srgbClr val="860000"/>
            </a:solidFill>
          </a:ln>
        </p:spPr>
        <p:txBody>
          <a:bodyPr vert="horz" lIns="91440" tIns="45720" rIns="91440" bIns="45720" rtlCol="0">
            <a:normAutofit/>
          </a:bodyPr>
          <a:lstStyle/>
          <a:p>
            <a:pPr>
              <a:lnSpc>
                <a:spcPct val="3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There are three ways of inserting a style sheet:</a:t>
            </a:r>
          </a:p>
          <a:p>
            <a:pPr marL="514350" indent="-514350">
              <a:lnSpc>
                <a:spcPct val="300000"/>
              </a:lnSpc>
              <a:buFont typeface="+mj-lt"/>
              <a:buAutoNum type="arabicPeriod"/>
            </a:pPr>
            <a:r>
              <a:rPr lang="en-US" sz="2800" dirty="0">
                <a:solidFill>
                  <a:srgbClr val="003300"/>
                </a:solidFill>
                <a:latin typeface="Times New Roman" panose="02020603050405020304" pitchFamily="18" charset="0"/>
                <a:cs typeface="Times New Roman" panose="02020603050405020304" pitchFamily="18" charset="0"/>
              </a:rPr>
              <a:t>	External style sheet</a:t>
            </a:r>
          </a:p>
          <a:p>
            <a:pPr marL="514350" indent="-514350">
              <a:lnSpc>
                <a:spcPct val="300000"/>
              </a:lnSpc>
              <a:buFont typeface="+mj-lt"/>
              <a:buAutoNum type="arabicPeriod"/>
            </a:pPr>
            <a:r>
              <a:rPr lang="en-US" sz="2800" dirty="0">
                <a:solidFill>
                  <a:srgbClr val="003300"/>
                </a:solidFill>
                <a:latin typeface="Times New Roman" panose="02020603050405020304" pitchFamily="18" charset="0"/>
                <a:cs typeface="Times New Roman" panose="02020603050405020304" pitchFamily="18" charset="0"/>
              </a:rPr>
              <a:t>	Internal style sheet</a:t>
            </a:r>
          </a:p>
          <a:p>
            <a:pPr marL="514350" indent="-514350">
              <a:lnSpc>
                <a:spcPct val="300000"/>
              </a:lnSpc>
              <a:buFont typeface="+mj-lt"/>
              <a:buAutoNum type="arabicPeriod"/>
            </a:pPr>
            <a:r>
              <a:rPr lang="en-US" sz="2800" dirty="0">
                <a:solidFill>
                  <a:srgbClr val="003300"/>
                </a:solidFill>
                <a:latin typeface="Times New Roman" panose="02020603050405020304" pitchFamily="18" charset="0"/>
                <a:cs typeface="Times New Roman" panose="02020603050405020304" pitchFamily="18" charset="0"/>
              </a:rPr>
              <a:t>	Inline style</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5" name="Rectangle 14"/>
          <p:cNvSpPr/>
          <p:nvPr/>
        </p:nvSpPr>
        <p:spPr>
          <a:xfrm>
            <a:off x="11191167" y="0"/>
            <a:ext cx="259311" cy="551369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1450472" y="0"/>
            <a:ext cx="741528" cy="5882183"/>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1191166" y="5915467"/>
            <a:ext cx="1000833" cy="915237"/>
          </a:xfrm>
          <a:prstGeom prst="rect">
            <a:avLst/>
          </a:prstGeom>
          <a:noFill/>
          <a:ln>
            <a:solidFill>
              <a:srgbClr val="860000"/>
            </a:solidFill>
          </a:ln>
        </p:spPr>
      </p:pic>
    </p:spTree>
    <p:extLst>
      <p:ext uri="{BB962C8B-B14F-4D97-AF65-F5344CB8AC3E}">
        <p14:creationId xmlns:p14="http://schemas.microsoft.com/office/powerpoint/2010/main" val="389098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External Style Sheet</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3"/>
            <a:ext cx="11122927" cy="5073974"/>
          </a:xfrm>
          <a:prstGeom prst="rect">
            <a:avLst/>
          </a:prstGeom>
          <a:noFill/>
          <a:ln w="25400">
            <a:solidFill>
              <a:srgbClr val="860000"/>
            </a:solidFill>
          </a:ln>
        </p:spPr>
        <p:txBody>
          <a:bodyPr vert="horz" lIns="91440" tIns="45720" rIns="91440" bIns="45720" rtlCol="0">
            <a:normAutofit lnSpcReduction="10000"/>
          </a:bodyPr>
          <a:lstStyle/>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With an external style sheet, you can </a:t>
            </a:r>
            <a:r>
              <a:rPr lang="en-US" sz="2800" b="1" dirty="0">
                <a:solidFill>
                  <a:srgbClr val="600000"/>
                </a:solidFill>
                <a:latin typeface="Times New Roman" panose="02020603050405020304" pitchFamily="18" charset="0"/>
                <a:cs typeface="Times New Roman" panose="02020603050405020304" pitchFamily="18" charset="0"/>
              </a:rPr>
              <a:t>change the look of an entire website </a:t>
            </a:r>
            <a:r>
              <a:rPr lang="en-US" sz="2800" dirty="0">
                <a:solidFill>
                  <a:srgbClr val="003300"/>
                </a:solidFill>
                <a:latin typeface="Times New Roman" panose="02020603050405020304" pitchFamily="18" charset="0"/>
                <a:cs typeface="Times New Roman" panose="02020603050405020304" pitchFamily="18" charset="0"/>
              </a:rPr>
              <a:t>by changing just one file!</a:t>
            </a:r>
          </a:p>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Each page must include a reference to the external style sheet file inside the &lt;link&gt; element. </a:t>
            </a:r>
          </a:p>
          <a:p>
            <a:pPr algn="just">
              <a:lnSpc>
                <a:spcPct val="20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The style sheet file must be saved with a </a:t>
            </a:r>
            <a:r>
              <a:rPr lang="en-US" sz="2800" b="1" dirty="0">
                <a:solidFill>
                  <a:srgbClr val="600000"/>
                </a:solidFill>
                <a:latin typeface="Times New Roman" panose="02020603050405020304" pitchFamily="18" charset="0"/>
                <a:cs typeface="Times New Roman" panose="02020603050405020304" pitchFamily="18" charset="0"/>
              </a:rPr>
              <a:t>.</a:t>
            </a:r>
            <a:r>
              <a:rPr lang="en-US" sz="2800" b="1" dirty="0" err="1">
                <a:solidFill>
                  <a:srgbClr val="600000"/>
                </a:solidFill>
                <a:latin typeface="Times New Roman" panose="02020603050405020304" pitchFamily="18" charset="0"/>
                <a:cs typeface="Times New Roman" panose="02020603050405020304" pitchFamily="18" charset="0"/>
              </a:rPr>
              <a:t>css</a:t>
            </a:r>
            <a:r>
              <a:rPr lang="en-US" sz="2800" b="1" dirty="0">
                <a:solidFill>
                  <a:srgbClr val="600000"/>
                </a:solidFill>
                <a:latin typeface="Times New Roman" panose="02020603050405020304" pitchFamily="18" charset="0"/>
                <a:cs typeface="Times New Roman" panose="02020603050405020304" pitchFamily="18" charset="0"/>
              </a:rPr>
              <a:t> </a:t>
            </a:r>
            <a:r>
              <a:rPr lang="en-US" sz="2800" dirty="0">
                <a:solidFill>
                  <a:srgbClr val="003300"/>
                </a:solidFill>
                <a:latin typeface="Times New Roman" panose="02020603050405020304" pitchFamily="18" charset="0"/>
                <a:cs typeface="Times New Roman" panose="02020603050405020304" pitchFamily="18" charset="0"/>
              </a:rPr>
              <a:t>extension.</a:t>
            </a:r>
          </a:p>
          <a:p>
            <a:pPr algn="ctr">
              <a:lnSpc>
                <a:spcPct val="200000"/>
              </a:lnSpc>
            </a:pPr>
            <a:r>
              <a:rPr lang="en-US" sz="2800" b="1" dirty="0">
                <a:solidFill>
                  <a:srgbClr val="600000"/>
                </a:solidFill>
                <a:latin typeface="Times New Roman" panose="02020603050405020304" pitchFamily="18" charset="0"/>
                <a:cs typeface="Times New Roman" panose="02020603050405020304" pitchFamily="18" charset="0"/>
              </a:rPr>
              <a:t>&lt;link </a:t>
            </a:r>
            <a:r>
              <a:rPr lang="en-US" sz="2800" b="1" dirty="0" err="1">
                <a:solidFill>
                  <a:srgbClr val="600000"/>
                </a:solidFill>
                <a:latin typeface="Times New Roman" panose="02020603050405020304" pitchFamily="18" charset="0"/>
                <a:cs typeface="Times New Roman" panose="02020603050405020304" pitchFamily="18" charset="0"/>
              </a:rPr>
              <a:t>rel</a:t>
            </a:r>
            <a:r>
              <a:rPr lang="en-US" sz="2800" b="1" dirty="0">
                <a:solidFill>
                  <a:srgbClr val="600000"/>
                </a:solidFill>
                <a:latin typeface="Times New Roman" panose="02020603050405020304" pitchFamily="18" charset="0"/>
                <a:cs typeface="Times New Roman" panose="02020603050405020304" pitchFamily="18" charset="0"/>
              </a:rPr>
              <a:t>=“stylesheet” type=“text/</a:t>
            </a:r>
            <a:r>
              <a:rPr lang="en-US" sz="2800" b="1" dirty="0" err="1">
                <a:solidFill>
                  <a:srgbClr val="600000"/>
                </a:solidFill>
                <a:latin typeface="Times New Roman" panose="02020603050405020304" pitchFamily="18" charset="0"/>
                <a:cs typeface="Times New Roman" panose="02020603050405020304" pitchFamily="18" charset="0"/>
              </a:rPr>
              <a:t>css</a:t>
            </a:r>
            <a:r>
              <a:rPr lang="en-US" sz="2800" b="1" dirty="0">
                <a:solidFill>
                  <a:srgbClr val="600000"/>
                </a:solidFill>
                <a:latin typeface="Times New Roman" panose="02020603050405020304" pitchFamily="18" charset="0"/>
                <a:cs typeface="Times New Roman" panose="02020603050405020304" pitchFamily="18" charset="0"/>
              </a:rPr>
              <a:t>” </a:t>
            </a:r>
            <a:r>
              <a:rPr lang="en-US" sz="2800" b="1" dirty="0" err="1">
                <a:solidFill>
                  <a:srgbClr val="600000"/>
                </a:solidFill>
                <a:latin typeface="Times New Roman" panose="02020603050405020304" pitchFamily="18" charset="0"/>
                <a:cs typeface="Times New Roman" panose="02020603050405020304" pitchFamily="18" charset="0"/>
              </a:rPr>
              <a:t>href</a:t>
            </a:r>
            <a:r>
              <a:rPr lang="en-US" sz="2800" b="1" dirty="0">
                <a:solidFill>
                  <a:srgbClr val="600000"/>
                </a:solidFill>
                <a:latin typeface="Times New Roman" panose="02020603050405020304" pitchFamily="18" charset="0"/>
                <a:cs typeface="Times New Roman" panose="02020603050405020304" pitchFamily="18" charset="0"/>
              </a:rPr>
              <a:t>=“cbitexternal.css”&gt;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92245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External Style Sheet</a:t>
            </a: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&lt;!DOCTYPE html&gt;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a:t>
            </a:r>
            <a:r>
              <a:rPr lang="en-US" sz="2800" dirty="0">
                <a:solidFill>
                  <a:srgbClr val="600000"/>
                </a:solidFill>
                <a:latin typeface="Times New Roman" panose="02020603050405020304" pitchFamily="18" charset="0"/>
                <a:cs typeface="Times New Roman" panose="02020603050405020304" pitchFamily="18" charset="0"/>
              </a:rPr>
              <a:t>&lt;link </a:t>
            </a:r>
            <a:r>
              <a:rPr lang="en-US" sz="2800" dirty="0" err="1">
                <a:solidFill>
                  <a:srgbClr val="600000"/>
                </a:solidFill>
                <a:latin typeface="Times New Roman" panose="02020603050405020304" pitchFamily="18" charset="0"/>
                <a:cs typeface="Times New Roman" panose="02020603050405020304" pitchFamily="18" charset="0"/>
              </a:rPr>
              <a:t>rel</a:t>
            </a:r>
            <a:r>
              <a:rPr lang="en-US" sz="2800" dirty="0">
                <a:solidFill>
                  <a:srgbClr val="600000"/>
                </a:solidFill>
                <a:latin typeface="Times New Roman" panose="02020603050405020304" pitchFamily="18" charset="0"/>
                <a:cs typeface="Times New Roman" panose="02020603050405020304" pitchFamily="18" charset="0"/>
              </a:rPr>
              <a:t>="stylesheet" type="text/</a:t>
            </a:r>
            <a:r>
              <a:rPr lang="en-US" sz="2800" dirty="0" err="1">
                <a:solidFill>
                  <a:srgbClr val="600000"/>
                </a:solidFill>
                <a:latin typeface="Times New Roman" panose="02020603050405020304" pitchFamily="18" charset="0"/>
                <a:cs typeface="Times New Roman" panose="02020603050405020304" pitchFamily="18" charset="0"/>
              </a:rPr>
              <a:t>css</a:t>
            </a:r>
            <a:r>
              <a:rPr lang="en-US" sz="2800" dirty="0">
                <a:solidFill>
                  <a:srgbClr val="600000"/>
                </a:solidFill>
                <a:latin typeface="Times New Roman" panose="02020603050405020304" pitchFamily="18" charset="0"/>
                <a:cs typeface="Times New Roman" panose="02020603050405020304" pitchFamily="18" charset="0"/>
              </a:rPr>
              <a:t>” </a:t>
            </a:r>
            <a:r>
              <a:rPr lang="en-US" sz="2800" dirty="0" err="1">
                <a:solidFill>
                  <a:srgbClr val="600000"/>
                </a:solidFill>
                <a:latin typeface="Times New Roman" panose="02020603050405020304" pitchFamily="18" charset="0"/>
                <a:cs typeface="Times New Roman" panose="02020603050405020304" pitchFamily="18" charset="0"/>
              </a:rPr>
              <a:t>href</a:t>
            </a:r>
            <a:r>
              <a:rPr lang="en-US" sz="2800" dirty="0">
                <a:solidFill>
                  <a:srgbClr val="600000"/>
                </a:solidFill>
                <a:latin typeface="Times New Roman" panose="02020603050405020304" pitchFamily="18" charset="0"/>
                <a:cs typeface="Times New Roman" panose="02020603050405020304" pitchFamily="18" charset="0"/>
              </a:rPr>
              <a:t>=“cbitexternal.css"&gt;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endParaRPr lang="en-US" sz="2800" dirty="0">
              <a:solidFill>
                <a:srgbClr val="003300"/>
              </a:solidFill>
              <a:latin typeface="Times New Roman" panose="02020603050405020304" pitchFamily="18" charset="0"/>
              <a:cs typeface="Times New Roman" panose="02020603050405020304" pitchFamily="18" charset="0"/>
            </a:endParaRPr>
          </a:p>
          <a:p>
            <a:pPr lvl="3"/>
            <a:r>
              <a:rPr lang="en-US" sz="2800" dirty="0">
                <a:solidFill>
                  <a:srgbClr val="003300"/>
                </a:solidFill>
                <a:latin typeface="Times New Roman" panose="02020603050405020304" pitchFamily="18" charset="0"/>
                <a:cs typeface="Times New Roman" panose="02020603050405020304" pitchFamily="18" charset="0"/>
              </a:rPr>
              <a:t>&lt;h1&gt;This is a heading&lt;/h1&gt;</a:t>
            </a:r>
          </a:p>
          <a:p>
            <a:pPr lvl="3"/>
            <a:r>
              <a:rPr lang="en-US" sz="2800" dirty="0">
                <a:solidFill>
                  <a:srgbClr val="003300"/>
                </a:solidFill>
                <a:latin typeface="Times New Roman" panose="02020603050405020304" pitchFamily="18" charset="0"/>
                <a:cs typeface="Times New Roman" panose="02020603050405020304" pitchFamily="18" charset="0"/>
              </a:rPr>
              <a:t>&lt;p&gt;This is a paragraph.&lt;/p&gt;</a:t>
            </a:r>
          </a:p>
          <a:p>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08530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"cbitexternal.css" </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a:bodyPr>
          <a:lstStyle/>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body</a:t>
            </a:r>
          </a:p>
          <a:p>
            <a:pPr>
              <a:buNone/>
            </a:pPr>
            <a:r>
              <a:rPr lang="en-US" sz="2800" dirty="0">
                <a:solidFill>
                  <a:srgbClr val="003300"/>
                </a:solidFill>
                <a:latin typeface="Times New Roman" panose="02020603050405020304" pitchFamily="18" charset="0"/>
                <a:cs typeface="Times New Roman" panose="02020603050405020304" pitchFamily="18" charset="0"/>
              </a:rPr>
              <a:t>  {</a:t>
            </a:r>
            <a:br>
              <a:rPr lang="en-US" sz="2800" dirty="0">
                <a:solidFill>
                  <a:srgbClr val="003300"/>
                </a:solidFill>
                <a:latin typeface="Times New Roman" panose="02020603050405020304" pitchFamily="18" charset="0"/>
                <a:cs typeface="Times New Roman" panose="02020603050405020304" pitchFamily="18" charset="0"/>
              </a:rPr>
            </a:br>
            <a:r>
              <a:rPr lang="en-US" sz="2800" dirty="0">
                <a:solidFill>
                  <a:srgbClr val="003300"/>
                </a:solidFill>
                <a:latin typeface="Times New Roman" panose="02020603050405020304" pitchFamily="18" charset="0"/>
                <a:cs typeface="Times New Roman" panose="02020603050405020304" pitchFamily="18" charset="0"/>
              </a:rPr>
              <a:t>    background-color: </a:t>
            </a:r>
            <a:r>
              <a:rPr lang="en-US" sz="2800" dirty="0" err="1">
                <a:solidFill>
                  <a:srgbClr val="003300"/>
                </a:solidFill>
                <a:latin typeface="Times New Roman" panose="02020603050405020304" pitchFamily="18" charset="0"/>
                <a:cs typeface="Times New Roman" panose="02020603050405020304" pitchFamily="18" charset="0"/>
              </a:rPr>
              <a:t>lightblue</a:t>
            </a:r>
            <a:r>
              <a:rPr lang="en-US" sz="2800" dirty="0">
                <a:solidFill>
                  <a:srgbClr val="003300"/>
                </a:solidFill>
                <a:latin typeface="Times New Roman" panose="02020603050405020304" pitchFamily="18" charset="0"/>
                <a:cs typeface="Times New Roman" panose="02020603050405020304" pitchFamily="18" charset="0"/>
              </a:rPr>
              <a:t>;</a:t>
            </a:r>
            <a:br>
              <a:rPr lang="en-US" sz="2800" dirty="0">
                <a:solidFill>
                  <a:srgbClr val="003300"/>
                </a:solidFill>
                <a:latin typeface="Times New Roman" panose="02020603050405020304" pitchFamily="18" charset="0"/>
                <a:cs typeface="Times New Roman" panose="02020603050405020304" pitchFamily="18" charset="0"/>
              </a:rPr>
            </a:br>
            <a:r>
              <a:rPr lang="en-US" sz="2800" dirty="0">
                <a:solidFill>
                  <a:srgbClr val="003300"/>
                </a:solidFill>
                <a:latin typeface="Times New Roman" panose="02020603050405020304" pitchFamily="18" charset="0"/>
                <a:cs typeface="Times New Roman" panose="02020603050405020304" pitchFamily="18" charset="0"/>
              </a:rPr>
              <a:t>  }</a:t>
            </a:r>
            <a:br>
              <a:rPr lang="en-US" sz="2800" dirty="0">
                <a:solidFill>
                  <a:srgbClr val="003300"/>
                </a:solidFill>
                <a:latin typeface="Times New Roman" panose="02020603050405020304" pitchFamily="18" charset="0"/>
                <a:cs typeface="Times New Roman" panose="02020603050405020304" pitchFamily="18" charset="0"/>
              </a:rPr>
            </a:b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h1 </a:t>
            </a:r>
          </a:p>
          <a:p>
            <a:pPr>
              <a:buNone/>
            </a:pPr>
            <a:r>
              <a:rPr lang="en-US" sz="2800" dirty="0">
                <a:solidFill>
                  <a:srgbClr val="003300"/>
                </a:solidFill>
                <a:latin typeface="Times New Roman" panose="02020603050405020304" pitchFamily="18" charset="0"/>
                <a:cs typeface="Times New Roman" panose="02020603050405020304" pitchFamily="18" charset="0"/>
              </a:rPr>
              <a:t>  {</a:t>
            </a:r>
            <a:br>
              <a:rPr lang="en-US" sz="2800" dirty="0">
                <a:solidFill>
                  <a:srgbClr val="003300"/>
                </a:solidFill>
                <a:latin typeface="Times New Roman" panose="02020603050405020304" pitchFamily="18" charset="0"/>
                <a:cs typeface="Times New Roman" panose="02020603050405020304" pitchFamily="18" charset="0"/>
              </a:rPr>
            </a:br>
            <a:r>
              <a:rPr lang="en-US" sz="2800" dirty="0">
                <a:solidFill>
                  <a:srgbClr val="003300"/>
                </a:solidFill>
                <a:latin typeface="Times New Roman" panose="02020603050405020304" pitchFamily="18" charset="0"/>
                <a:cs typeface="Times New Roman" panose="02020603050405020304" pitchFamily="18" charset="0"/>
              </a:rPr>
              <a:t>    color: navy;</a:t>
            </a:r>
            <a:br>
              <a:rPr lang="en-US" sz="2800" dirty="0">
                <a:solidFill>
                  <a:srgbClr val="003300"/>
                </a:solidFill>
                <a:latin typeface="Times New Roman" panose="02020603050405020304" pitchFamily="18" charset="0"/>
                <a:cs typeface="Times New Roman" panose="02020603050405020304" pitchFamily="18" charset="0"/>
              </a:rPr>
            </a:br>
            <a:r>
              <a:rPr lang="en-US" sz="2800" dirty="0">
                <a:solidFill>
                  <a:srgbClr val="003300"/>
                </a:solidFill>
                <a:latin typeface="Times New Roman" panose="02020603050405020304" pitchFamily="18" charset="0"/>
                <a:cs typeface="Times New Roman" panose="02020603050405020304" pitchFamily="18" charset="0"/>
              </a:rPr>
              <a:t>    margin-left: 20px;</a:t>
            </a:r>
            <a:br>
              <a:rPr lang="en-US" sz="2800" dirty="0">
                <a:solidFill>
                  <a:srgbClr val="003300"/>
                </a:solidFill>
                <a:latin typeface="Times New Roman" panose="02020603050405020304" pitchFamily="18" charset="0"/>
                <a:cs typeface="Times New Roman" panose="02020603050405020304" pitchFamily="18" charset="0"/>
              </a:rPr>
            </a:br>
            <a:r>
              <a:rPr lang="en-US" sz="2800" dirty="0">
                <a:solidFill>
                  <a:srgbClr val="003300"/>
                </a:solidFill>
                <a:latin typeface="Times New Roman" panose="02020603050405020304" pitchFamily="18" charset="0"/>
                <a:cs typeface="Times New Roman" panose="02020603050405020304" pitchFamily="18" charset="0"/>
              </a:rPr>
              <a: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291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dirty="0">
                <a:solidFill>
                  <a:srgbClr val="600000"/>
                </a:solidFill>
                <a:latin typeface="Times New Roman" panose="02020603050405020304" pitchFamily="18" charset="0"/>
                <a:cs typeface="Times New Roman" panose="02020603050405020304" pitchFamily="18" charset="0"/>
              </a:rPr>
              <a:t>Internal Style Sheet</a:t>
            </a:r>
            <a:endParaRPr lang="en-US" sz="3600" b="1" dirty="0">
              <a:solidFill>
                <a:srgbClr val="600000"/>
              </a:solidFill>
              <a:latin typeface="Times New Roman" panose="02020603050405020304" pitchFamily="18" charset="0"/>
              <a:cs typeface="Times New Roman" panose="02020603050405020304" pitchFamily="18" charset="0"/>
            </a:endParaRP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fontScale="92500" lnSpcReduction="10000"/>
          </a:bodyPr>
          <a:lstStyle/>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An internal style sheet may be used if one </a:t>
            </a:r>
            <a:r>
              <a:rPr lang="en-US" sz="2800" b="1" dirty="0">
                <a:solidFill>
                  <a:srgbClr val="600000"/>
                </a:solidFill>
                <a:latin typeface="Times New Roman" panose="02020603050405020304" pitchFamily="18" charset="0"/>
                <a:cs typeface="Times New Roman" panose="02020603050405020304" pitchFamily="18" charset="0"/>
              </a:rPr>
              <a:t>single page has a unique style</a:t>
            </a:r>
            <a:r>
              <a:rPr lang="en-US" sz="2800" dirty="0">
                <a:solidFill>
                  <a:srgbClr val="003300"/>
                </a:solidFill>
                <a:latin typeface="Times New Roman" panose="02020603050405020304" pitchFamily="18" charset="0"/>
                <a:cs typeface="Times New Roman" panose="02020603050405020304" pitchFamily="18" charset="0"/>
              </a:rPr>
              <a:t>.</a:t>
            </a:r>
          </a:p>
          <a:p>
            <a:pPr>
              <a:lnSpc>
                <a:spcPct val="1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Internal styles are defined within the </a:t>
            </a:r>
            <a:r>
              <a:rPr lang="en-US" sz="2800" b="1" dirty="0">
                <a:solidFill>
                  <a:srgbClr val="003300"/>
                </a:solidFill>
                <a:latin typeface="Times New Roman" panose="02020603050405020304" pitchFamily="18" charset="0"/>
                <a:cs typeface="Times New Roman" panose="02020603050405020304" pitchFamily="18" charset="0"/>
              </a:rPr>
              <a:t>&lt;style&gt; </a:t>
            </a:r>
            <a:r>
              <a:rPr lang="en-US" sz="2800" dirty="0">
                <a:solidFill>
                  <a:srgbClr val="003300"/>
                </a:solidFill>
                <a:latin typeface="Times New Roman" panose="02020603050405020304" pitchFamily="18" charset="0"/>
                <a:cs typeface="Times New Roman" panose="02020603050405020304" pitchFamily="18" charset="0"/>
              </a:rPr>
              <a:t>element, inside the </a:t>
            </a:r>
            <a:r>
              <a:rPr lang="en-US" sz="2800" b="1" dirty="0">
                <a:solidFill>
                  <a:srgbClr val="003300"/>
                </a:solidFill>
                <a:latin typeface="Times New Roman" panose="02020603050405020304" pitchFamily="18" charset="0"/>
                <a:cs typeface="Times New Roman" panose="02020603050405020304" pitchFamily="18" charset="0"/>
              </a:rPr>
              <a:t>&lt;head&gt; </a:t>
            </a:r>
            <a:r>
              <a:rPr lang="en-US" sz="2800" dirty="0">
                <a:solidFill>
                  <a:srgbClr val="003300"/>
                </a:solidFill>
                <a:latin typeface="Times New Roman" panose="02020603050405020304" pitchFamily="18" charset="0"/>
                <a:cs typeface="Times New Roman" panose="02020603050405020304" pitchFamily="18" charset="0"/>
              </a:rPr>
              <a:t>section of an HTML page.</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&lt;head&gt;</a:t>
            </a: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		&lt;style&gt;</a:t>
            </a: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				Selector</a:t>
            </a: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						{ </a:t>
            </a: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						property: value </a:t>
            </a: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						}</a:t>
            </a: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		&lt;/style&gt;</a:t>
            </a:r>
          </a:p>
          <a:p>
            <a:pPr lvl="8">
              <a:lnSpc>
                <a:spcPct val="120000"/>
              </a:lnSpc>
            </a:pPr>
            <a:r>
              <a:rPr lang="en-US" sz="2800" b="1" dirty="0">
                <a:solidFill>
                  <a:srgbClr val="600000"/>
                </a:solidFill>
                <a:latin typeface="Times New Roman" panose="02020603050405020304" pitchFamily="18" charset="0"/>
                <a:cs typeface="Times New Roman" panose="02020603050405020304" pitchFamily="18" charset="0"/>
              </a:rPr>
              <a:t>&lt;/head&gt;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2728649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dirty="0">
                <a:solidFill>
                  <a:srgbClr val="600000"/>
                </a:solidFill>
                <a:latin typeface="Times New Roman" panose="02020603050405020304" pitchFamily="18" charset="0"/>
                <a:cs typeface="Times New Roman" panose="02020603050405020304" pitchFamily="18" charset="0"/>
              </a:rPr>
              <a:t>Internal Style Sheet</a:t>
            </a:r>
            <a:endParaRPr lang="en-US" sz="3600" b="1" dirty="0">
              <a:solidFill>
                <a:srgbClr val="860000"/>
              </a:solidFill>
              <a:latin typeface="Marcellus"/>
            </a:endParaRP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fontScale="77500" lnSpcReduction="20000"/>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a:t>
            </a:r>
            <a:r>
              <a:rPr lang="en-US" sz="2800" dirty="0">
                <a:solidFill>
                  <a:srgbClr val="600000"/>
                </a:solidFill>
                <a:latin typeface="Times New Roman" panose="02020603050405020304" pitchFamily="18" charset="0"/>
                <a:cs typeface="Times New Roman" panose="02020603050405020304" pitchFamily="18" charset="0"/>
              </a:rPr>
              <a:t>&lt;style&gt;</a:t>
            </a:r>
          </a:p>
          <a:p>
            <a:pPr lvl="2"/>
            <a:r>
              <a:rPr lang="en-US" sz="2800" dirty="0">
                <a:solidFill>
                  <a:srgbClr val="600000"/>
                </a:solidFill>
                <a:latin typeface="Times New Roman" panose="02020603050405020304" pitchFamily="18" charset="0"/>
                <a:cs typeface="Times New Roman" panose="02020603050405020304" pitchFamily="18" charset="0"/>
              </a:rPr>
              <a:t>	body</a:t>
            </a:r>
          </a:p>
          <a:p>
            <a:pPr lvl="2"/>
            <a:r>
              <a:rPr lang="en-US" sz="2800" dirty="0">
                <a:solidFill>
                  <a:srgbClr val="600000"/>
                </a:solidFill>
                <a:latin typeface="Times New Roman" panose="02020603050405020304" pitchFamily="18" charset="0"/>
                <a:cs typeface="Times New Roman" panose="02020603050405020304" pitchFamily="18" charset="0"/>
              </a:rPr>
              <a:t> 	{</a:t>
            </a:r>
          </a:p>
          <a:p>
            <a:pPr lvl="2"/>
            <a:r>
              <a:rPr lang="en-US" sz="2800" dirty="0">
                <a:solidFill>
                  <a:srgbClr val="600000"/>
                </a:solidFill>
                <a:latin typeface="Times New Roman" panose="02020603050405020304" pitchFamily="18" charset="0"/>
                <a:cs typeface="Times New Roman" panose="02020603050405020304" pitchFamily="18" charset="0"/>
              </a:rPr>
              <a:t>   		 background-color: linen;</a:t>
            </a:r>
          </a:p>
          <a:p>
            <a:pPr lvl="2"/>
            <a:r>
              <a:rPr lang="en-US" sz="2800" dirty="0">
                <a:solidFill>
                  <a:srgbClr val="600000"/>
                </a:solidFill>
                <a:latin typeface="Times New Roman" panose="02020603050405020304" pitchFamily="18" charset="0"/>
                <a:cs typeface="Times New Roman" panose="02020603050405020304" pitchFamily="18" charset="0"/>
              </a:rPr>
              <a:t>	}</a:t>
            </a:r>
          </a:p>
          <a:p>
            <a:pPr lvl="2"/>
            <a:r>
              <a:rPr lang="en-US" sz="2800" dirty="0">
                <a:solidFill>
                  <a:srgbClr val="600000"/>
                </a:solidFill>
                <a:latin typeface="Times New Roman" panose="02020603050405020304" pitchFamily="18" charset="0"/>
                <a:cs typeface="Times New Roman" panose="02020603050405020304" pitchFamily="18" charset="0"/>
              </a:rPr>
              <a:t>	h1</a:t>
            </a:r>
          </a:p>
          <a:p>
            <a:pPr lvl="2"/>
            <a:r>
              <a:rPr lang="en-US" sz="2800" dirty="0">
                <a:solidFill>
                  <a:srgbClr val="600000"/>
                </a:solidFill>
                <a:latin typeface="Times New Roman" panose="02020603050405020304" pitchFamily="18" charset="0"/>
                <a:cs typeface="Times New Roman" panose="02020603050405020304" pitchFamily="18" charset="0"/>
              </a:rPr>
              <a:t> 	{</a:t>
            </a:r>
          </a:p>
          <a:p>
            <a:pPr lvl="2"/>
            <a:r>
              <a:rPr lang="en-US" sz="2800" dirty="0">
                <a:solidFill>
                  <a:srgbClr val="600000"/>
                </a:solidFill>
                <a:latin typeface="Times New Roman" panose="02020603050405020304" pitchFamily="18" charset="0"/>
                <a:cs typeface="Times New Roman" panose="02020603050405020304" pitchFamily="18" charset="0"/>
              </a:rPr>
              <a:t>    		color: maroon;</a:t>
            </a:r>
          </a:p>
          <a:p>
            <a:pPr lvl="2"/>
            <a:r>
              <a:rPr lang="en-US" sz="2800" dirty="0">
                <a:solidFill>
                  <a:srgbClr val="600000"/>
                </a:solidFill>
                <a:latin typeface="Times New Roman" panose="02020603050405020304" pitchFamily="18" charset="0"/>
                <a:cs typeface="Times New Roman" panose="02020603050405020304" pitchFamily="18" charset="0"/>
              </a:rPr>
              <a:t>    		margin-left: 40px;</a:t>
            </a:r>
          </a:p>
          <a:p>
            <a:pPr lvl="2"/>
            <a:r>
              <a:rPr lang="en-US" sz="2800" dirty="0">
                <a:solidFill>
                  <a:srgbClr val="600000"/>
                </a:solidFill>
                <a:latin typeface="Times New Roman" panose="02020603050405020304" pitchFamily="18" charset="0"/>
                <a:cs typeface="Times New Roman" panose="02020603050405020304" pitchFamily="18" charset="0"/>
              </a:rPr>
              <a:t>	} </a:t>
            </a:r>
          </a:p>
          <a:p>
            <a:pPr>
              <a:buNone/>
            </a:pPr>
            <a:r>
              <a:rPr lang="en-US" sz="2800" dirty="0">
                <a:solidFill>
                  <a:srgbClr val="6000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&lt;h1&gt;This is a heading&lt;/h1&gt;</a:t>
            </a:r>
          </a:p>
          <a:p>
            <a:pPr>
              <a:buNone/>
            </a:pPr>
            <a:r>
              <a:rPr lang="en-US" sz="2800" dirty="0">
                <a:solidFill>
                  <a:srgbClr val="003300"/>
                </a:solidFill>
                <a:latin typeface="Times New Roman" panose="02020603050405020304" pitchFamily="18" charset="0"/>
                <a:cs typeface="Times New Roman" panose="02020603050405020304" pitchFamily="18" charset="0"/>
              </a:rPr>
              <a:t>		&lt;p&gt;This is a paragraph.&lt;/p&gt;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r>
              <a:rPr lang="en-US" sz="2800" dirty="0">
                <a:solidFill>
                  <a:srgbClr val="003300"/>
                </a:solidFill>
                <a:latin typeface="Times New Roman" panose="02020603050405020304" pitchFamily="18" charset="0"/>
                <a:cs typeface="Times New Roman" panose="02020603050405020304"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979732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0781732"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Inline Styles</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2"/>
            <a:ext cx="10781731" cy="5679281"/>
          </a:xfrm>
          <a:prstGeom prst="rect">
            <a:avLst/>
          </a:prstGeom>
          <a:noFill/>
          <a:ln w="25400">
            <a:solidFill>
              <a:srgbClr val="860000"/>
            </a:solidFill>
          </a:ln>
        </p:spPr>
        <p:txBody>
          <a:bodyPr vert="horz" lIns="91440" tIns="45720" rIns="91440" bIns="45720" rtlCol="0">
            <a:normAutofit/>
          </a:bodyPr>
          <a:lstStyle/>
          <a:p>
            <a:pPr marL="457200" indent="-457200" algn="just">
              <a:lnSpc>
                <a:spcPct val="250000"/>
              </a:lnSpc>
              <a:buFont typeface="Wingdings" panose="05000000000000000000"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An inline style may be used to apply a unique style for a single element.</a:t>
            </a:r>
          </a:p>
          <a:p>
            <a:pPr marL="457200" indent="-457200" algn="just">
              <a:lnSpc>
                <a:spcPct val="250000"/>
              </a:lnSpc>
              <a:buFont typeface="Wingdings" panose="05000000000000000000"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To use inline styles, add the style attribute to the relevant element. The style attribute can contain any CSS property.</a:t>
            </a:r>
          </a:p>
          <a:p>
            <a:pPr algn="ctr">
              <a:lnSpc>
                <a:spcPct val="250000"/>
              </a:lnSpc>
            </a:pPr>
            <a:r>
              <a:rPr lang="en-US" sz="2800" b="1" dirty="0">
                <a:solidFill>
                  <a:srgbClr val="600000"/>
                </a:solidFill>
                <a:latin typeface="Times New Roman" panose="02020603050405020304" pitchFamily="18" charset="0"/>
                <a:cs typeface="Times New Roman" panose="02020603050405020304" pitchFamily="18" charset="0"/>
              </a:rPr>
              <a:t>&lt;tag style=“</a:t>
            </a:r>
            <a:r>
              <a:rPr lang="en-US" sz="2800" b="1" dirty="0" err="1">
                <a:solidFill>
                  <a:srgbClr val="600000"/>
                </a:solidFill>
                <a:latin typeface="Times New Roman" panose="02020603050405020304" pitchFamily="18" charset="0"/>
                <a:cs typeface="Times New Roman" panose="02020603050405020304" pitchFamily="18" charset="0"/>
              </a:rPr>
              <a:t>property:value</a:t>
            </a:r>
            <a:r>
              <a:rPr lang="en-US" sz="2800" b="1" dirty="0">
                <a:solidFill>
                  <a:srgbClr val="600000"/>
                </a:solidFill>
                <a:latin typeface="Times New Roman" panose="02020603050405020304" pitchFamily="18" charset="0"/>
                <a:cs typeface="Times New Roman" panose="02020603050405020304" pitchFamily="18" charset="0"/>
              </a:rPr>
              <a:t>&gt;content&lt;/tag&gt;</a:t>
            </a:r>
          </a:p>
        </p:txBody>
      </p:sp>
      <p:sp>
        <p:nvSpPr>
          <p:cNvPr id="15" name="Rectangle 14"/>
          <p:cNvSpPr/>
          <p:nvPr/>
        </p:nvSpPr>
        <p:spPr>
          <a:xfrm>
            <a:off x="11191167" y="0"/>
            <a:ext cx="259311" cy="551369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1450472" y="0"/>
            <a:ext cx="741528" cy="5882183"/>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1191166" y="5915467"/>
            <a:ext cx="1000833" cy="915237"/>
          </a:xfrm>
          <a:prstGeom prst="rect">
            <a:avLst/>
          </a:prstGeom>
          <a:noFill/>
          <a:ln>
            <a:solidFill>
              <a:srgbClr val="860000"/>
            </a:solidFill>
          </a:ln>
        </p:spPr>
      </p:pic>
    </p:spTree>
    <p:extLst>
      <p:ext uri="{BB962C8B-B14F-4D97-AF65-F5344CB8AC3E}">
        <p14:creationId xmlns:p14="http://schemas.microsoft.com/office/powerpoint/2010/main" val="4270285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Inline Styles</a:t>
            </a: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3"/>
            <a:ext cx="11122927" cy="5073974"/>
          </a:xfrm>
          <a:prstGeom prst="rect">
            <a:avLst/>
          </a:prstGeom>
          <a:noFill/>
          <a:ln w="25400">
            <a:solidFill>
              <a:srgbClr val="860000"/>
            </a:solidFill>
          </a:ln>
        </p:spPr>
        <p:txBody>
          <a:bodyPr vert="horz" lIns="91440" tIns="45720" rIns="91440" bIns="45720" rtlCol="0">
            <a:normAutofit/>
          </a:bodyPr>
          <a:lstStyle/>
          <a:p>
            <a:pPr>
              <a:lnSpc>
                <a:spcPct val="150000"/>
              </a:lnSpc>
              <a:buNone/>
            </a:pPr>
            <a:r>
              <a:rPr lang="en-US" sz="2200" dirty="0">
                <a:solidFill>
                  <a:srgbClr val="003300"/>
                </a:solidFill>
                <a:latin typeface="Times New Roman" panose="02020603050405020304" pitchFamily="18" charset="0"/>
                <a:cs typeface="Times New Roman" panose="02020603050405020304" pitchFamily="18" charset="0"/>
              </a:rPr>
              <a:t>&lt;!DOCTYPE html&gt;</a:t>
            </a:r>
          </a:p>
          <a:p>
            <a:pPr>
              <a:lnSpc>
                <a:spcPct val="150000"/>
              </a:lnSpc>
              <a:buNone/>
            </a:pPr>
            <a:r>
              <a:rPr lang="en-US" sz="2200" dirty="0">
                <a:solidFill>
                  <a:srgbClr val="003300"/>
                </a:solidFill>
                <a:latin typeface="Times New Roman" panose="02020603050405020304" pitchFamily="18" charset="0"/>
                <a:cs typeface="Times New Roman" panose="02020603050405020304" pitchFamily="18" charset="0"/>
              </a:rPr>
              <a:t>&lt;html&gt;</a:t>
            </a:r>
          </a:p>
          <a:p>
            <a:pPr>
              <a:lnSpc>
                <a:spcPct val="150000"/>
              </a:lnSpc>
              <a:buNone/>
            </a:pPr>
            <a:r>
              <a:rPr lang="en-US" sz="2200" dirty="0">
                <a:solidFill>
                  <a:srgbClr val="003300"/>
                </a:solidFill>
                <a:latin typeface="Times New Roman" panose="02020603050405020304" pitchFamily="18" charset="0"/>
                <a:cs typeface="Times New Roman" panose="02020603050405020304" pitchFamily="18" charset="0"/>
              </a:rPr>
              <a:t>&lt;body&gt;</a:t>
            </a:r>
          </a:p>
          <a:p>
            <a:pPr>
              <a:lnSpc>
                <a:spcPct val="150000"/>
              </a:lnSpc>
            </a:pPr>
            <a:endParaRPr lang="en-US" sz="2200" dirty="0">
              <a:solidFill>
                <a:srgbClr val="003300"/>
              </a:solidFill>
              <a:latin typeface="Times New Roman" panose="02020603050405020304" pitchFamily="18" charset="0"/>
              <a:cs typeface="Times New Roman" panose="02020603050405020304" pitchFamily="18" charset="0"/>
            </a:endParaRPr>
          </a:p>
          <a:p>
            <a:pPr>
              <a:lnSpc>
                <a:spcPct val="150000"/>
              </a:lnSpc>
              <a:buNone/>
            </a:pPr>
            <a:r>
              <a:rPr lang="en-US" sz="2200" dirty="0">
                <a:solidFill>
                  <a:srgbClr val="003300"/>
                </a:solidFill>
                <a:latin typeface="Times New Roman" panose="02020603050405020304" pitchFamily="18" charset="0"/>
                <a:cs typeface="Times New Roman" panose="02020603050405020304" pitchFamily="18" charset="0"/>
              </a:rPr>
              <a:t>&lt;h1 style="color:blue;margin-left:30px;"&gt;This is a heading.&lt;/h1&gt;</a:t>
            </a:r>
          </a:p>
          <a:p>
            <a:pPr>
              <a:lnSpc>
                <a:spcPct val="150000"/>
              </a:lnSpc>
              <a:buNone/>
            </a:pPr>
            <a:r>
              <a:rPr lang="en-US" sz="2200" dirty="0">
                <a:solidFill>
                  <a:srgbClr val="003300"/>
                </a:solidFill>
                <a:latin typeface="Times New Roman" panose="02020603050405020304" pitchFamily="18" charset="0"/>
                <a:cs typeface="Times New Roman" panose="02020603050405020304" pitchFamily="18" charset="0"/>
              </a:rPr>
              <a:t>&lt;p&gt;This is a paragraph.&lt;/p&gt;</a:t>
            </a:r>
          </a:p>
          <a:p>
            <a:pPr>
              <a:lnSpc>
                <a:spcPct val="150000"/>
              </a:lnSpc>
            </a:pPr>
            <a:endParaRPr lang="en-US" sz="2200" dirty="0">
              <a:solidFill>
                <a:srgbClr val="003300"/>
              </a:solidFill>
              <a:latin typeface="Times New Roman" panose="02020603050405020304" pitchFamily="18" charset="0"/>
              <a:cs typeface="Times New Roman" panose="02020603050405020304" pitchFamily="18" charset="0"/>
            </a:endParaRPr>
          </a:p>
          <a:p>
            <a:pPr>
              <a:lnSpc>
                <a:spcPct val="150000"/>
              </a:lnSpc>
              <a:buNone/>
            </a:pPr>
            <a:r>
              <a:rPr lang="en-US" sz="2200" dirty="0">
                <a:solidFill>
                  <a:srgbClr val="003300"/>
                </a:solidFill>
                <a:latin typeface="Times New Roman" panose="02020603050405020304" pitchFamily="18" charset="0"/>
                <a:cs typeface="Times New Roman" panose="02020603050405020304" pitchFamily="18" charset="0"/>
              </a:rPr>
              <a:t>&lt;/body&gt;</a:t>
            </a:r>
          </a:p>
          <a:p>
            <a:pPr>
              <a:lnSpc>
                <a:spcPct val="150000"/>
              </a:lnSpc>
              <a:buNone/>
            </a:pPr>
            <a:r>
              <a:rPr lang="en-US" sz="2200" dirty="0">
                <a:solidFill>
                  <a:srgbClr val="003300"/>
                </a:solidFill>
                <a:latin typeface="Times New Roman" panose="02020603050405020304" pitchFamily="18" charset="0"/>
                <a:cs typeface="Times New Roman" panose="02020603050405020304"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99143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CSS Background Color</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fontScale="40000" lnSpcReduction="20000"/>
          </a:bodyPr>
          <a:lstStyle/>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&lt;html&gt;</a:t>
            </a:r>
          </a:p>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&lt;head&gt;</a:t>
            </a:r>
          </a:p>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&lt;style&gt;</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h1 </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background-color: green;</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a:t>
            </a:r>
          </a:p>
          <a:p>
            <a:pPr lvl="3">
              <a:lnSpc>
                <a:spcPct val="120000"/>
              </a:lnSpc>
            </a:pPr>
            <a:endParaRPr lang="en-US" sz="2800" b="1" dirty="0">
              <a:solidFill>
                <a:srgbClr val="003300"/>
              </a:solidFill>
              <a:latin typeface="Times New Roman" panose="02020603050405020304" pitchFamily="18" charset="0"/>
              <a:cs typeface="Times New Roman" panose="02020603050405020304" pitchFamily="18" charset="0"/>
            </a:endParaRP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div </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background-color: </a:t>
            </a:r>
            <a:r>
              <a:rPr lang="en-US" sz="2800" b="1" dirty="0" err="1">
                <a:solidFill>
                  <a:srgbClr val="003300"/>
                </a:solidFill>
                <a:latin typeface="Times New Roman" panose="02020603050405020304" pitchFamily="18" charset="0"/>
                <a:cs typeface="Times New Roman" panose="02020603050405020304" pitchFamily="18" charset="0"/>
              </a:rPr>
              <a:t>lightblue</a:t>
            </a:r>
            <a:r>
              <a:rPr lang="en-US" sz="2800" b="1" dirty="0">
                <a:solidFill>
                  <a:srgbClr val="003300"/>
                </a:solidFill>
                <a:latin typeface="Times New Roman" panose="02020603050405020304" pitchFamily="18" charset="0"/>
                <a:cs typeface="Times New Roman" panose="02020603050405020304" pitchFamily="18" charset="0"/>
              </a:rPr>
              <a:t>;</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a:t>
            </a:r>
          </a:p>
          <a:p>
            <a:pPr lvl="3">
              <a:lnSpc>
                <a:spcPct val="120000"/>
              </a:lnSpc>
            </a:pPr>
            <a:endParaRPr lang="en-US" sz="2800" b="1" dirty="0">
              <a:solidFill>
                <a:srgbClr val="003300"/>
              </a:solidFill>
              <a:latin typeface="Times New Roman" panose="02020603050405020304" pitchFamily="18" charset="0"/>
              <a:cs typeface="Times New Roman" panose="02020603050405020304" pitchFamily="18" charset="0"/>
            </a:endParaRP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p </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background-color: yellow;</a:t>
            </a:r>
          </a:p>
          <a:p>
            <a:pPr lvl="3">
              <a:lnSpc>
                <a:spcPct val="120000"/>
              </a:lnSpc>
            </a:pPr>
            <a:r>
              <a:rPr lang="en-US" sz="2800" b="1" dirty="0">
                <a:solidFill>
                  <a:srgbClr val="003300"/>
                </a:solidFill>
                <a:latin typeface="Times New Roman" panose="02020603050405020304" pitchFamily="18" charset="0"/>
                <a:cs typeface="Times New Roman" panose="02020603050405020304" pitchFamily="18" charset="0"/>
              </a:rPr>
              <a:t>}</a:t>
            </a:r>
          </a:p>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&lt;/style&gt;</a:t>
            </a:r>
          </a:p>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&lt;/head&gt;</a:t>
            </a:r>
          </a:p>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	&lt;body&gt;</a:t>
            </a:r>
          </a:p>
          <a:p>
            <a:pPr>
              <a:lnSpc>
                <a:spcPct val="120000"/>
              </a:lnSpc>
            </a:pPr>
            <a:endParaRPr lang="en-US" sz="2800" b="1" dirty="0">
              <a:solidFill>
                <a:srgbClr val="003300"/>
              </a:solidFill>
              <a:latin typeface="Times New Roman" panose="02020603050405020304" pitchFamily="18" charset="0"/>
              <a:cs typeface="Times New Roman" panose="02020603050405020304" pitchFamily="18" charset="0"/>
            </a:endParaRPr>
          </a:p>
          <a:p>
            <a:pPr lvl="1">
              <a:lnSpc>
                <a:spcPct val="120000"/>
              </a:lnSpc>
            </a:pPr>
            <a:r>
              <a:rPr lang="en-US" sz="2800" b="1" dirty="0">
                <a:solidFill>
                  <a:srgbClr val="003300"/>
                </a:solidFill>
                <a:latin typeface="Times New Roman" panose="02020603050405020304" pitchFamily="18" charset="0"/>
                <a:cs typeface="Times New Roman" panose="02020603050405020304" pitchFamily="18" charset="0"/>
              </a:rPr>
              <a:t>&lt;h1&gt;CSS background-color example!&lt;/h1&gt;</a:t>
            </a:r>
          </a:p>
          <a:p>
            <a:pPr lvl="1">
              <a:lnSpc>
                <a:spcPct val="120000"/>
              </a:lnSpc>
            </a:pPr>
            <a:r>
              <a:rPr lang="en-US" sz="2800" b="1" dirty="0">
                <a:solidFill>
                  <a:srgbClr val="003300"/>
                </a:solidFill>
                <a:latin typeface="Times New Roman" panose="02020603050405020304" pitchFamily="18" charset="0"/>
                <a:cs typeface="Times New Roman" panose="02020603050405020304" pitchFamily="18" charset="0"/>
              </a:rPr>
              <a:t>&lt;div&gt;</a:t>
            </a:r>
          </a:p>
          <a:p>
            <a:pPr lvl="1">
              <a:lnSpc>
                <a:spcPct val="120000"/>
              </a:lnSpc>
            </a:pPr>
            <a:r>
              <a:rPr lang="en-US" sz="2800" b="1" dirty="0">
                <a:solidFill>
                  <a:srgbClr val="003300"/>
                </a:solidFill>
                <a:latin typeface="Times New Roman" panose="02020603050405020304" pitchFamily="18" charset="0"/>
                <a:cs typeface="Times New Roman" panose="02020603050405020304" pitchFamily="18" charset="0"/>
              </a:rPr>
              <a:t>This is a text inside a div element.</a:t>
            </a:r>
          </a:p>
          <a:p>
            <a:pPr lvl="1">
              <a:lnSpc>
                <a:spcPct val="120000"/>
              </a:lnSpc>
            </a:pPr>
            <a:r>
              <a:rPr lang="en-US" sz="2800" b="1" dirty="0">
                <a:solidFill>
                  <a:srgbClr val="003300"/>
                </a:solidFill>
                <a:latin typeface="Times New Roman" panose="02020603050405020304" pitchFamily="18" charset="0"/>
                <a:cs typeface="Times New Roman" panose="02020603050405020304" pitchFamily="18" charset="0"/>
              </a:rPr>
              <a:t>&lt;p&gt;This paragraph has its own background color.&lt;/p&gt;</a:t>
            </a:r>
          </a:p>
          <a:p>
            <a:pPr lvl="1">
              <a:lnSpc>
                <a:spcPct val="120000"/>
              </a:lnSpc>
            </a:pPr>
            <a:r>
              <a:rPr lang="en-US" sz="2800" b="1" dirty="0">
                <a:solidFill>
                  <a:srgbClr val="003300"/>
                </a:solidFill>
                <a:latin typeface="Times New Roman" panose="02020603050405020304" pitchFamily="18" charset="0"/>
                <a:cs typeface="Times New Roman" panose="02020603050405020304" pitchFamily="18" charset="0"/>
              </a:rPr>
              <a:t>We are still in the div element.</a:t>
            </a:r>
          </a:p>
          <a:p>
            <a:pPr lvl="1">
              <a:lnSpc>
                <a:spcPct val="120000"/>
              </a:lnSpc>
            </a:pPr>
            <a:r>
              <a:rPr lang="en-US" sz="2800" b="1" dirty="0">
                <a:solidFill>
                  <a:srgbClr val="003300"/>
                </a:solidFill>
                <a:latin typeface="Times New Roman" panose="02020603050405020304" pitchFamily="18" charset="0"/>
                <a:cs typeface="Times New Roman" panose="02020603050405020304" pitchFamily="18" charset="0"/>
              </a:rPr>
              <a:t>&lt;/div&gt;</a:t>
            </a:r>
          </a:p>
          <a:p>
            <a:pPr>
              <a:lnSpc>
                <a:spcPct val="120000"/>
              </a:lnSpc>
            </a:pPr>
            <a:endParaRPr lang="en-US" sz="2800" b="1" dirty="0">
              <a:solidFill>
                <a:srgbClr val="003300"/>
              </a:solidFill>
              <a:latin typeface="Times New Roman" panose="02020603050405020304" pitchFamily="18" charset="0"/>
              <a:cs typeface="Times New Roman" panose="02020603050405020304" pitchFamily="18" charset="0"/>
            </a:endParaRPr>
          </a:p>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&lt;/body&gt;</a:t>
            </a:r>
          </a:p>
          <a:p>
            <a:pPr>
              <a:lnSpc>
                <a:spcPct val="120000"/>
              </a:lnSpc>
            </a:pPr>
            <a:r>
              <a:rPr lang="en-US" sz="2800" b="1" dirty="0">
                <a:solidFill>
                  <a:srgbClr val="003300"/>
                </a:solidFill>
                <a:latin typeface="Times New Roman" panose="02020603050405020304" pitchFamily="18" charset="0"/>
                <a:cs typeface="Times New Roman" panose="02020603050405020304"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0742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CSS Background Image</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fontScale="85000" lnSpcReduction="20000"/>
          </a:bodyPr>
          <a:lstStyle/>
          <a:p>
            <a:pPr>
              <a:buNone/>
            </a:pPr>
            <a:r>
              <a:rPr lang="en-US" sz="2800" dirty="0">
                <a:solidFill>
                  <a:srgbClr val="003300"/>
                </a:solidFill>
                <a:latin typeface="Times New Roman" panose="02020603050405020304" pitchFamily="18" charset="0"/>
                <a:cs typeface="Times New Roman" panose="02020603050405020304" pitchFamily="18" charset="0"/>
              </a:rPr>
              <a:t>&lt;html&gt;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lvl="4"/>
            <a:r>
              <a:rPr lang="en-US" sz="2800" dirty="0">
                <a:solidFill>
                  <a:srgbClr val="003300"/>
                </a:solidFill>
                <a:latin typeface="Times New Roman" panose="02020603050405020304" pitchFamily="18" charset="0"/>
                <a:cs typeface="Times New Roman" panose="02020603050405020304" pitchFamily="18" charset="0"/>
              </a:rPr>
              <a:t>body </a:t>
            </a:r>
          </a:p>
          <a:p>
            <a:pPr lvl="4"/>
            <a:r>
              <a:rPr lang="en-US" sz="2800" dirty="0">
                <a:solidFill>
                  <a:srgbClr val="003300"/>
                </a:solidFill>
                <a:latin typeface="Times New Roman" panose="02020603050405020304" pitchFamily="18" charset="0"/>
                <a:cs typeface="Times New Roman" panose="02020603050405020304" pitchFamily="18" charset="0"/>
              </a:rPr>
              <a:t>{</a:t>
            </a:r>
          </a:p>
          <a:p>
            <a:pPr lvl="4"/>
            <a:r>
              <a:rPr lang="en-US" sz="2800" dirty="0">
                <a:solidFill>
                  <a:srgbClr val="003300"/>
                </a:solidFill>
                <a:latin typeface="Times New Roman" panose="02020603050405020304" pitchFamily="18" charset="0"/>
                <a:cs typeface="Times New Roman" panose="02020603050405020304" pitchFamily="18" charset="0"/>
              </a:rPr>
              <a:t>    background-image: </a:t>
            </a:r>
            <a:r>
              <a:rPr lang="en-US" sz="2800" dirty="0" err="1">
                <a:solidFill>
                  <a:srgbClr val="003300"/>
                </a:solidFill>
                <a:latin typeface="Times New Roman" panose="02020603050405020304" pitchFamily="18" charset="0"/>
                <a:cs typeface="Times New Roman" panose="02020603050405020304" pitchFamily="18" charset="0"/>
              </a:rPr>
              <a:t>url</a:t>
            </a:r>
            <a:r>
              <a:rPr lang="en-US" sz="2800" dirty="0">
                <a:solidFill>
                  <a:srgbClr val="003300"/>
                </a:solidFill>
                <a:latin typeface="Times New Roman" panose="02020603050405020304" pitchFamily="18" charset="0"/>
                <a:cs typeface="Times New Roman" panose="02020603050405020304" pitchFamily="18" charset="0"/>
              </a:rPr>
              <a:t>("paper.gif");</a:t>
            </a:r>
          </a:p>
          <a:p>
            <a:pPr lvl="4"/>
            <a:r>
              <a:rPr lang="en-US" sz="2800" dirty="0">
                <a:solidFill>
                  <a:srgbClr val="003300"/>
                </a:solidFill>
                <a:latin typeface="Times New Roman" panose="02020603050405020304" pitchFamily="18" charset="0"/>
                <a:cs typeface="Times New Roman" panose="02020603050405020304" pitchFamily="18" charset="0"/>
              </a:rPr>
              <a: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		&lt;h1&gt;Hello World!&lt;/h1&gt;</a:t>
            </a:r>
          </a:p>
          <a:p>
            <a:pPr>
              <a:lnSpc>
                <a:spcPct val="120000"/>
              </a:lnSpc>
              <a:buNone/>
            </a:pPr>
            <a:r>
              <a:rPr lang="en-US" sz="2800" dirty="0">
                <a:solidFill>
                  <a:srgbClr val="003300"/>
                </a:solidFill>
                <a:latin typeface="Times New Roman" panose="02020603050405020304" pitchFamily="18" charset="0"/>
                <a:cs typeface="Times New Roman" panose="02020603050405020304" pitchFamily="18" charset="0"/>
              </a:rPr>
              <a:t>		&lt;p&gt;This page has an image as the background!&lt;/p&gt;</a:t>
            </a:r>
          </a:p>
          <a:p>
            <a:pPr>
              <a:buNone/>
            </a:pPr>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	&lt;/body&gt;</a:t>
            </a:r>
          </a:p>
          <a:p>
            <a:pPr>
              <a:buNone/>
            </a:pPr>
            <a:r>
              <a:rPr lang="en-US" sz="2800" dirty="0">
                <a:solidFill>
                  <a:srgbClr val="003300"/>
                </a:solidFill>
                <a:latin typeface="Times New Roman" panose="02020603050405020304" pitchFamily="18" charset="0"/>
                <a:cs typeface="Times New Roman" panose="02020603050405020304"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14681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New Roman" panose="02020603050405020304" pitchFamily="18" charset="0"/>
                <a:cs typeface="Times New Roman" panose="02020603050405020304" pitchFamily="18" charset="0"/>
              </a:rPr>
              <a:t>CSS Background</a:t>
            </a: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a:bodyPr>
          <a:lstStyle/>
          <a:p>
            <a:pPr>
              <a:lnSpc>
                <a:spcPct val="2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background-color</a:t>
            </a:r>
          </a:p>
          <a:p>
            <a:pPr>
              <a:lnSpc>
                <a:spcPct val="2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background-image</a:t>
            </a:r>
          </a:p>
          <a:p>
            <a:pPr>
              <a:lnSpc>
                <a:spcPct val="2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background-repeat</a:t>
            </a:r>
          </a:p>
          <a:p>
            <a:pPr>
              <a:lnSpc>
                <a:spcPct val="2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background-attachment</a:t>
            </a:r>
          </a:p>
          <a:p>
            <a:pPr>
              <a:lnSpc>
                <a:spcPct val="250000"/>
              </a:lnSpc>
              <a:buFont typeface="Wingdings" pitchFamily="2" charset="2"/>
              <a:buChar char="Ø"/>
            </a:pPr>
            <a:r>
              <a:rPr lang="en-US" sz="2800" dirty="0">
                <a:solidFill>
                  <a:srgbClr val="003300"/>
                </a:solidFill>
                <a:latin typeface="Times New Roman" panose="02020603050405020304" pitchFamily="18" charset="0"/>
                <a:cs typeface="Times New Roman" panose="02020603050405020304" pitchFamily="18" charset="0"/>
              </a:rPr>
              <a:t>background-position</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476936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New Roman" panose="02020603050405020304" pitchFamily="18" charset="0"/>
                <a:cs typeface="Times New Roman" panose="02020603050405020304" pitchFamily="18" charset="0"/>
              </a:rPr>
              <a:t>The CSS Box Model</a:t>
            </a: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a:bodyPr>
          <a:lstStyle/>
          <a:p>
            <a:pPr algn="just">
              <a:lnSpc>
                <a:spcPct val="200000"/>
              </a:lnSpc>
              <a:buFont typeface="Wingdings" pitchFamily="2" charset="2"/>
              <a:buChar char="Ø"/>
            </a:pPr>
            <a:r>
              <a:rPr lang="en-US" sz="2200" dirty="0">
                <a:solidFill>
                  <a:srgbClr val="003300"/>
                </a:solidFill>
                <a:latin typeface="Times New Roman" panose="02020603050405020304" pitchFamily="18" charset="0"/>
                <a:cs typeface="Times New Roman" panose="02020603050405020304" pitchFamily="18" charset="0"/>
              </a:rPr>
              <a:t>All HTML elements can be considered as boxes. In CSS, the term "box model" is used when talking about design and layout.</a:t>
            </a:r>
          </a:p>
          <a:p>
            <a:pPr algn="just">
              <a:lnSpc>
                <a:spcPct val="200000"/>
              </a:lnSpc>
              <a:buFont typeface="Wingdings" pitchFamily="2" charset="2"/>
              <a:buChar char="Ø"/>
            </a:pPr>
            <a:r>
              <a:rPr lang="en-US" sz="2200" dirty="0">
                <a:solidFill>
                  <a:srgbClr val="003300"/>
                </a:solidFill>
                <a:latin typeface="Times New Roman" panose="02020603050405020304" pitchFamily="18" charset="0"/>
                <a:cs typeface="Times New Roman" panose="02020603050405020304" pitchFamily="18" charset="0"/>
              </a:rPr>
              <a:t>The CSS box model is essentially a box that wraps around every HTML element. </a:t>
            </a:r>
          </a:p>
          <a:p>
            <a:pPr algn="just">
              <a:lnSpc>
                <a:spcPct val="200000"/>
              </a:lnSpc>
              <a:buFont typeface="Wingdings" pitchFamily="2" charset="2"/>
              <a:buChar char="Ø"/>
            </a:pPr>
            <a:r>
              <a:rPr lang="en-US" sz="2200" dirty="0">
                <a:solidFill>
                  <a:srgbClr val="003300"/>
                </a:solidFill>
                <a:latin typeface="Times New Roman" panose="02020603050405020304" pitchFamily="18" charset="0"/>
                <a:cs typeface="Times New Roman" panose="02020603050405020304" pitchFamily="18" charset="0"/>
              </a:rPr>
              <a:t>Each Rectangular Box contains 4 edges.</a:t>
            </a:r>
          </a:p>
          <a:p>
            <a:pPr lvl="5" algn="just">
              <a:lnSpc>
                <a:spcPct val="200000"/>
              </a:lnSpc>
              <a:buFont typeface="Wingdings" pitchFamily="2" charset="2"/>
              <a:buChar char="Ø"/>
            </a:pPr>
            <a:r>
              <a:rPr lang="en-US" sz="2200" dirty="0">
                <a:solidFill>
                  <a:srgbClr val="600000"/>
                </a:solidFill>
                <a:latin typeface="Times New Roman" panose="02020603050405020304" pitchFamily="18" charset="0"/>
                <a:cs typeface="Times New Roman" panose="02020603050405020304" pitchFamily="18" charset="0"/>
              </a:rPr>
              <a:t>Content Edge</a:t>
            </a:r>
          </a:p>
          <a:p>
            <a:pPr lvl="5" algn="just">
              <a:lnSpc>
                <a:spcPct val="200000"/>
              </a:lnSpc>
              <a:buFont typeface="Wingdings" pitchFamily="2" charset="2"/>
              <a:buChar char="Ø"/>
            </a:pPr>
            <a:r>
              <a:rPr lang="en-US" sz="2200" dirty="0">
                <a:solidFill>
                  <a:srgbClr val="600000"/>
                </a:solidFill>
                <a:latin typeface="Times New Roman" panose="02020603050405020304" pitchFamily="18" charset="0"/>
                <a:cs typeface="Times New Roman" panose="02020603050405020304" pitchFamily="18" charset="0"/>
              </a:rPr>
              <a:t>Padding Edge</a:t>
            </a:r>
          </a:p>
          <a:p>
            <a:pPr lvl="5" algn="just">
              <a:lnSpc>
                <a:spcPct val="200000"/>
              </a:lnSpc>
              <a:buFont typeface="Wingdings" pitchFamily="2" charset="2"/>
              <a:buChar char="Ø"/>
            </a:pPr>
            <a:r>
              <a:rPr lang="en-US" sz="2200" dirty="0">
                <a:solidFill>
                  <a:srgbClr val="600000"/>
                </a:solidFill>
                <a:latin typeface="Times New Roman" panose="02020603050405020304" pitchFamily="18" charset="0"/>
                <a:cs typeface="Times New Roman" panose="02020603050405020304" pitchFamily="18" charset="0"/>
              </a:rPr>
              <a:t>Border Edge</a:t>
            </a:r>
          </a:p>
          <a:p>
            <a:pPr lvl="5" algn="just">
              <a:lnSpc>
                <a:spcPct val="200000"/>
              </a:lnSpc>
              <a:buFont typeface="Wingdings" pitchFamily="2" charset="2"/>
              <a:buChar char="Ø"/>
            </a:pPr>
            <a:r>
              <a:rPr lang="en-US" sz="2200" dirty="0">
                <a:solidFill>
                  <a:srgbClr val="600000"/>
                </a:solidFill>
                <a:latin typeface="Times New Roman" panose="02020603050405020304" pitchFamily="18" charset="0"/>
                <a:cs typeface="Times New Roman" panose="02020603050405020304" pitchFamily="18" charset="0"/>
              </a:rPr>
              <a:t>Margin Edge</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4057530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0781732"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CSS Box Model</a:t>
            </a:r>
            <a:endParaRPr kumimoji="0" lang="en-US" sz="3600" b="1" i="0" u="none" strike="noStrike" kern="1200" cap="none" spc="0" normalizeH="0" baseline="0" noProof="0" dirty="0">
              <a:ln>
                <a:noFill/>
              </a:ln>
              <a:solidFill>
                <a:srgbClr val="860000"/>
              </a:solidFill>
              <a:effectLst/>
              <a:uLnTx/>
              <a:uFillTx/>
              <a:latin typeface="Marcellus"/>
              <a:ea typeface="+mj-ea"/>
              <a:cs typeface="+mj-c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2"/>
            <a:ext cx="10781731" cy="5679281"/>
          </a:xfrm>
          <a:prstGeom prst="rect">
            <a:avLst/>
          </a:prstGeom>
          <a:noFill/>
          <a:ln w="25400">
            <a:solidFill>
              <a:srgbClr val="860000"/>
            </a:solidFill>
          </a:ln>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5" name="Rectangle 14"/>
          <p:cNvSpPr/>
          <p:nvPr/>
        </p:nvSpPr>
        <p:spPr>
          <a:xfrm>
            <a:off x="11191167" y="0"/>
            <a:ext cx="259311" cy="551369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1450472" y="0"/>
            <a:ext cx="741528" cy="5882183"/>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1191166" y="5915467"/>
            <a:ext cx="1000833" cy="915237"/>
          </a:xfrm>
          <a:prstGeom prst="rect">
            <a:avLst/>
          </a:prstGeom>
          <a:noFill/>
          <a:ln>
            <a:solidFill>
              <a:srgbClr val="860000"/>
            </a:solidFill>
          </a:ln>
        </p:spPr>
      </p:pic>
      <p:pic>
        <p:nvPicPr>
          <p:cNvPr id="7" name="Picture 2"/>
          <p:cNvPicPr>
            <a:picLocks noChangeAspect="1" noChangeArrowheads="1"/>
          </p:cNvPicPr>
          <p:nvPr/>
        </p:nvPicPr>
        <p:blipFill>
          <a:blip r:embed="rId3"/>
          <a:srcRect/>
          <a:stretch>
            <a:fillRect/>
          </a:stretch>
        </p:blipFill>
        <p:spPr bwMode="auto">
          <a:xfrm>
            <a:off x="304800" y="1017732"/>
            <a:ext cx="10532918" cy="5740778"/>
          </a:xfrm>
          <a:prstGeom prst="rect">
            <a:avLst/>
          </a:prstGeom>
          <a:noFill/>
          <a:ln w="9525">
            <a:noFill/>
            <a:miter lim="800000"/>
            <a:headEnd/>
            <a:tailEnd/>
          </a:ln>
          <a:effectLst/>
        </p:spPr>
      </p:pic>
    </p:spTree>
    <p:extLst>
      <p:ext uri="{BB962C8B-B14F-4D97-AF65-F5344CB8AC3E}">
        <p14:creationId xmlns:p14="http://schemas.microsoft.com/office/powerpoint/2010/main" val="904419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CSS Box Model</a:t>
            </a:r>
            <a:endParaRPr kumimoji="0" lang="en-US" sz="3600" b="1" i="0" u="none" strike="noStrike" kern="1200" cap="none" spc="0" normalizeH="0" baseline="0" noProof="0" dirty="0">
              <a:ln>
                <a:noFill/>
              </a:ln>
              <a:solidFill>
                <a:srgbClr val="600000"/>
              </a:solidFill>
              <a:effectLst/>
              <a:uLnTx/>
              <a:uFillTx/>
              <a:latin typeface="Times New Roman" panose="02020603050405020304" pitchFamily="18" charset="0"/>
              <a:ea typeface="+mj-ea"/>
              <a:cs typeface="Times New Roman" panose="02020603050405020304"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3"/>
            <a:ext cx="11122927" cy="5073974"/>
          </a:xfrm>
          <a:prstGeom prst="rect">
            <a:avLst/>
          </a:prstGeom>
          <a:noFill/>
          <a:ln w="25400">
            <a:solidFill>
              <a:srgbClr val="860000"/>
            </a:solidFill>
          </a:ln>
        </p:spPr>
        <p:txBody>
          <a:bodyPr vert="horz" lIns="91440" tIns="45720" rIns="91440" bIns="45720" rtlCol="0">
            <a:normAutofit/>
          </a:bodyPr>
          <a:lstStyle/>
          <a:p>
            <a:pPr algn="just">
              <a:lnSpc>
                <a:spcPct val="250000"/>
              </a:lnSpc>
              <a:buFont typeface="Wingdings" pitchFamily="2" charset="2"/>
              <a:buChar char="Ø"/>
            </a:pPr>
            <a:r>
              <a:rPr lang="en-US" sz="2800" b="1" dirty="0">
                <a:solidFill>
                  <a:srgbClr val="600000"/>
                </a:solidFill>
                <a:latin typeface="Times New Roman" panose="02020603050405020304" pitchFamily="18" charset="0"/>
                <a:cs typeface="Times New Roman" panose="02020603050405020304" pitchFamily="18" charset="0"/>
              </a:rPr>
              <a:t>Content</a:t>
            </a:r>
            <a:r>
              <a:rPr lang="en-US" sz="2800" dirty="0">
                <a:solidFill>
                  <a:srgbClr val="600000"/>
                </a:solidFill>
                <a:latin typeface="Times New Roman" panose="02020603050405020304" pitchFamily="18" charset="0"/>
                <a:cs typeface="Times New Roman" panose="02020603050405020304" pitchFamily="18" charset="0"/>
              </a:rPr>
              <a:t> </a:t>
            </a:r>
            <a:r>
              <a:rPr lang="en-US" sz="2800" dirty="0">
                <a:solidFill>
                  <a:srgbClr val="003300"/>
                </a:solidFill>
                <a:latin typeface="Times New Roman" panose="02020603050405020304" pitchFamily="18" charset="0"/>
                <a:cs typeface="Times New Roman" panose="02020603050405020304" pitchFamily="18" charset="0"/>
              </a:rPr>
              <a:t>- The content of the box, where text and images appear.</a:t>
            </a:r>
          </a:p>
          <a:p>
            <a:pPr algn="just">
              <a:lnSpc>
                <a:spcPct val="250000"/>
              </a:lnSpc>
              <a:buFont typeface="Wingdings" pitchFamily="2" charset="2"/>
              <a:buChar char="Ø"/>
            </a:pPr>
            <a:r>
              <a:rPr lang="en-US" sz="2800" b="1" dirty="0">
                <a:solidFill>
                  <a:srgbClr val="600000"/>
                </a:solidFill>
                <a:latin typeface="Times New Roman" panose="02020603050405020304" pitchFamily="18" charset="0"/>
                <a:cs typeface="Times New Roman" panose="02020603050405020304" pitchFamily="18" charset="0"/>
              </a:rPr>
              <a:t>Padding</a:t>
            </a:r>
            <a:r>
              <a:rPr lang="en-US" sz="2800" dirty="0">
                <a:solidFill>
                  <a:srgbClr val="003300"/>
                </a:solidFill>
                <a:latin typeface="Times New Roman" panose="02020603050405020304" pitchFamily="18" charset="0"/>
                <a:cs typeface="Times New Roman" panose="02020603050405020304" pitchFamily="18" charset="0"/>
              </a:rPr>
              <a:t> - Clears an area around the content. The padding is transparent.</a:t>
            </a:r>
          </a:p>
          <a:p>
            <a:pPr algn="just">
              <a:lnSpc>
                <a:spcPct val="250000"/>
              </a:lnSpc>
              <a:buFont typeface="Wingdings" pitchFamily="2" charset="2"/>
              <a:buChar char="Ø"/>
            </a:pPr>
            <a:r>
              <a:rPr lang="en-US" sz="2800" b="1" dirty="0">
                <a:solidFill>
                  <a:srgbClr val="600000"/>
                </a:solidFill>
                <a:latin typeface="Times New Roman" panose="02020603050405020304" pitchFamily="18" charset="0"/>
                <a:cs typeface="Times New Roman" panose="02020603050405020304" pitchFamily="18" charset="0"/>
              </a:rPr>
              <a:t>Border</a:t>
            </a:r>
            <a:r>
              <a:rPr lang="en-US" sz="2800" dirty="0">
                <a:solidFill>
                  <a:srgbClr val="003300"/>
                </a:solidFill>
                <a:latin typeface="Times New Roman" panose="02020603050405020304" pitchFamily="18" charset="0"/>
                <a:cs typeface="Times New Roman" panose="02020603050405020304" pitchFamily="18" charset="0"/>
              </a:rPr>
              <a:t> - A border that goes around the padding and content.</a:t>
            </a:r>
          </a:p>
          <a:p>
            <a:pPr algn="just">
              <a:lnSpc>
                <a:spcPct val="250000"/>
              </a:lnSpc>
              <a:buFont typeface="Wingdings" pitchFamily="2" charset="2"/>
              <a:buChar char="Ø"/>
            </a:pPr>
            <a:r>
              <a:rPr lang="en-US" sz="2800" b="1" dirty="0">
                <a:solidFill>
                  <a:srgbClr val="600000"/>
                </a:solidFill>
                <a:latin typeface="Times New Roman" panose="02020603050405020304" pitchFamily="18" charset="0"/>
                <a:cs typeface="Times New Roman" panose="02020603050405020304" pitchFamily="18" charset="0"/>
              </a:rPr>
              <a:t>Margin</a:t>
            </a:r>
            <a:r>
              <a:rPr lang="en-US" sz="2800" dirty="0">
                <a:solidFill>
                  <a:srgbClr val="600000"/>
                </a:solidFill>
                <a:latin typeface="Times New Roman" panose="02020603050405020304" pitchFamily="18" charset="0"/>
                <a:cs typeface="Times New Roman" panose="02020603050405020304" pitchFamily="18" charset="0"/>
              </a:rPr>
              <a:t> </a:t>
            </a:r>
            <a:r>
              <a:rPr lang="en-US" sz="2800" dirty="0">
                <a:solidFill>
                  <a:srgbClr val="003300"/>
                </a:solidFill>
                <a:latin typeface="Times New Roman" panose="02020603050405020304" pitchFamily="18" charset="0"/>
                <a:cs typeface="Times New Roman" panose="02020603050405020304" pitchFamily="18" charset="0"/>
              </a:rPr>
              <a:t>- Clears an area outside the border. The margin is transparent.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84594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CSS Box Model</a:t>
            </a:r>
            <a:endParaRPr lang="en-US" sz="3600" b="1" dirty="0">
              <a:solidFill>
                <a:srgbClr val="860000"/>
              </a:solidFill>
              <a:latin typeface="Marcellu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p:cNvPicPr>
            <a:picLocks noChangeAspect="1" noChangeArrowheads="1"/>
          </p:cNvPicPr>
          <p:nvPr/>
        </p:nvPicPr>
        <p:blipFill>
          <a:blip r:embed="rId3"/>
          <a:srcRect/>
          <a:stretch>
            <a:fillRect/>
          </a:stretch>
        </p:blipFill>
        <p:spPr bwMode="auto">
          <a:xfrm>
            <a:off x="304800" y="990600"/>
            <a:ext cx="11374582" cy="5029200"/>
          </a:xfrm>
          <a:prstGeom prst="rect">
            <a:avLst/>
          </a:prstGeom>
          <a:noFill/>
          <a:ln w="9525">
            <a:noFill/>
            <a:miter lim="800000"/>
            <a:headEnd/>
            <a:tailEnd/>
          </a:ln>
          <a:effectLst/>
        </p:spPr>
      </p:pic>
      <p:pic>
        <p:nvPicPr>
          <p:cNvPr id="9" name="Picture 3"/>
          <p:cNvPicPr>
            <a:picLocks noChangeAspect="1" noChangeArrowheads="1"/>
          </p:cNvPicPr>
          <p:nvPr/>
        </p:nvPicPr>
        <p:blipFill>
          <a:blip r:embed="rId4"/>
          <a:srcRect/>
          <a:stretch>
            <a:fillRect/>
          </a:stretch>
        </p:blipFill>
        <p:spPr bwMode="auto">
          <a:xfrm>
            <a:off x="5794661" y="2514600"/>
            <a:ext cx="4800600" cy="1219200"/>
          </a:xfrm>
          <a:prstGeom prst="rect">
            <a:avLst/>
          </a:prstGeom>
          <a:noFill/>
          <a:ln w="9525">
            <a:noFill/>
            <a:miter lim="800000"/>
            <a:headEnd/>
            <a:tailEnd/>
          </a:ln>
          <a:effectLst/>
        </p:spPr>
      </p:pic>
      <p:pic>
        <p:nvPicPr>
          <p:cNvPr id="12" name="Picture 4"/>
          <p:cNvPicPr>
            <a:picLocks noChangeAspect="1" noChangeArrowheads="1"/>
          </p:cNvPicPr>
          <p:nvPr/>
        </p:nvPicPr>
        <p:blipFill>
          <a:blip r:embed="rId5"/>
          <a:srcRect/>
          <a:stretch>
            <a:fillRect/>
          </a:stretch>
        </p:blipFill>
        <p:spPr bwMode="auto">
          <a:xfrm>
            <a:off x="5794661" y="1371600"/>
            <a:ext cx="4953000" cy="1066800"/>
          </a:xfrm>
          <a:prstGeom prst="rect">
            <a:avLst/>
          </a:prstGeom>
          <a:noFill/>
          <a:ln w="9525">
            <a:noFill/>
            <a:miter lim="800000"/>
            <a:headEnd/>
            <a:tailEnd/>
          </a:ln>
          <a:effectLst/>
        </p:spPr>
      </p:pic>
      <p:pic>
        <p:nvPicPr>
          <p:cNvPr id="13" name="Picture 5"/>
          <p:cNvPicPr>
            <a:picLocks noChangeAspect="1" noChangeArrowheads="1"/>
          </p:cNvPicPr>
          <p:nvPr/>
        </p:nvPicPr>
        <p:blipFill>
          <a:blip r:embed="rId6"/>
          <a:srcRect/>
          <a:stretch>
            <a:fillRect/>
          </a:stretch>
        </p:blipFill>
        <p:spPr bwMode="auto">
          <a:xfrm>
            <a:off x="5794661" y="3733800"/>
            <a:ext cx="4876800" cy="1143000"/>
          </a:xfrm>
          <a:prstGeom prst="rect">
            <a:avLst/>
          </a:prstGeom>
          <a:noFill/>
          <a:ln w="9525">
            <a:noFill/>
            <a:miter lim="800000"/>
            <a:headEnd/>
            <a:tailEnd/>
          </a:ln>
          <a:effectLst/>
        </p:spPr>
      </p:pic>
      <p:pic>
        <p:nvPicPr>
          <p:cNvPr id="15" name="Picture 6"/>
          <p:cNvPicPr>
            <a:picLocks noChangeAspect="1" noChangeArrowheads="1"/>
          </p:cNvPicPr>
          <p:nvPr/>
        </p:nvPicPr>
        <p:blipFill>
          <a:blip r:embed="rId7"/>
          <a:srcRect/>
          <a:stretch>
            <a:fillRect/>
          </a:stretch>
        </p:blipFill>
        <p:spPr bwMode="auto">
          <a:xfrm>
            <a:off x="5794661" y="4876800"/>
            <a:ext cx="4876800" cy="1143000"/>
          </a:xfrm>
          <a:prstGeom prst="rect">
            <a:avLst/>
          </a:prstGeom>
          <a:noFill/>
          <a:ln w="9525">
            <a:noFill/>
            <a:miter lim="800000"/>
            <a:headEnd/>
            <a:tailEnd/>
          </a:ln>
          <a:effectLst/>
        </p:spPr>
      </p:pic>
    </p:spTree>
    <p:extLst>
      <p:ext uri="{BB962C8B-B14F-4D97-AF65-F5344CB8AC3E}">
        <p14:creationId xmlns:p14="http://schemas.microsoft.com/office/powerpoint/2010/main" val="2230032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New Roman" panose="02020603050405020304" pitchFamily="18" charset="0"/>
                <a:cs typeface="Times New Roman" panose="02020603050405020304" pitchFamily="18" charset="0"/>
              </a:rPr>
              <a:t>The CSS Box Model</a:t>
            </a:r>
            <a:endParaRPr lang="en-US" sz="3600" b="1" dirty="0">
              <a:solidFill>
                <a:srgbClr val="860000"/>
              </a:solidFill>
              <a:latin typeface="Marcellu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fontScale="55000" lnSpcReduction="20000"/>
          </a:bodyPr>
          <a:lstStyle/>
          <a:p>
            <a:r>
              <a:rPr lang="en-US" sz="2800" dirty="0">
                <a:solidFill>
                  <a:srgbClr val="003300"/>
                </a:solidFill>
                <a:latin typeface="Times New Roman" panose="02020603050405020304" pitchFamily="18" charset="0"/>
                <a:cs typeface="Times New Roman" panose="02020603050405020304" pitchFamily="18" charset="0"/>
              </a:rPr>
              <a:t>&lt;!DOCTYPE html&gt;</a:t>
            </a:r>
          </a:p>
          <a:p>
            <a:pPr>
              <a:buNone/>
            </a:pPr>
            <a:r>
              <a:rPr lang="en-US" sz="2800" dirty="0">
                <a:solidFill>
                  <a:srgbClr val="003300"/>
                </a:solidFill>
                <a:latin typeface="Times New Roman" panose="02020603050405020304" pitchFamily="18" charset="0"/>
                <a:cs typeface="Times New Roman" panose="02020603050405020304" pitchFamily="18" charset="0"/>
              </a:rPr>
              <a:t>	&lt;html&gt;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lvl="4"/>
            <a:r>
              <a:rPr lang="en-US" sz="2800" dirty="0">
                <a:solidFill>
                  <a:srgbClr val="003300"/>
                </a:solidFill>
                <a:latin typeface="Times New Roman" panose="02020603050405020304" pitchFamily="18" charset="0"/>
                <a:cs typeface="Times New Roman" panose="02020603050405020304" pitchFamily="18" charset="0"/>
              </a:rPr>
              <a:t>div</a:t>
            </a:r>
          </a:p>
          <a:p>
            <a:pPr lvl="4"/>
            <a:r>
              <a:rPr lang="en-US" sz="2800" dirty="0">
                <a:solidFill>
                  <a:srgbClr val="003300"/>
                </a:solidFill>
                <a:latin typeface="Times New Roman" panose="02020603050405020304" pitchFamily="18" charset="0"/>
                <a:cs typeface="Times New Roman" panose="02020603050405020304" pitchFamily="18" charset="0"/>
              </a:rPr>
              <a:t> {</a:t>
            </a:r>
          </a:p>
          <a:p>
            <a:pPr lvl="4"/>
            <a:r>
              <a:rPr lang="en-US" sz="2800" dirty="0">
                <a:solidFill>
                  <a:srgbClr val="003300"/>
                </a:solidFill>
                <a:latin typeface="Times New Roman" panose="02020603050405020304" pitchFamily="18" charset="0"/>
                <a:cs typeface="Times New Roman" panose="02020603050405020304" pitchFamily="18" charset="0"/>
              </a:rPr>
              <a:t>    background-color: </a:t>
            </a:r>
            <a:r>
              <a:rPr lang="en-US" sz="2800" dirty="0" err="1">
                <a:solidFill>
                  <a:srgbClr val="003300"/>
                </a:solidFill>
                <a:latin typeface="Times New Roman" panose="02020603050405020304" pitchFamily="18" charset="0"/>
                <a:cs typeface="Times New Roman" panose="02020603050405020304" pitchFamily="18" charset="0"/>
              </a:rPr>
              <a:t>lightgrey</a:t>
            </a:r>
            <a:r>
              <a:rPr lang="en-US" sz="2800" dirty="0">
                <a:solidFill>
                  <a:srgbClr val="003300"/>
                </a:solidFill>
                <a:latin typeface="Times New Roman" panose="02020603050405020304" pitchFamily="18" charset="0"/>
                <a:cs typeface="Times New Roman" panose="02020603050405020304" pitchFamily="18" charset="0"/>
              </a:rPr>
              <a:t>;</a:t>
            </a:r>
          </a:p>
          <a:p>
            <a:pPr lvl="4"/>
            <a:r>
              <a:rPr lang="en-US" sz="2800" dirty="0">
                <a:solidFill>
                  <a:srgbClr val="003300"/>
                </a:solidFill>
                <a:latin typeface="Times New Roman" panose="02020603050405020304" pitchFamily="18" charset="0"/>
                <a:cs typeface="Times New Roman" panose="02020603050405020304" pitchFamily="18" charset="0"/>
              </a:rPr>
              <a:t>    width: 300px;</a:t>
            </a:r>
          </a:p>
          <a:p>
            <a:pPr lvl="4"/>
            <a:r>
              <a:rPr lang="en-US" sz="2800" dirty="0">
                <a:solidFill>
                  <a:srgbClr val="003300"/>
                </a:solidFill>
                <a:latin typeface="Times New Roman" panose="02020603050405020304" pitchFamily="18" charset="0"/>
                <a:cs typeface="Times New Roman" panose="02020603050405020304" pitchFamily="18" charset="0"/>
              </a:rPr>
              <a:t>    border: 25px solid green;</a:t>
            </a:r>
          </a:p>
          <a:p>
            <a:pPr lvl="4"/>
            <a:r>
              <a:rPr lang="en-US" sz="2800" dirty="0">
                <a:solidFill>
                  <a:srgbClr val="003300"/>
                </a:solidFill>
                <a:latin typeface="Times New Roman" panose="02020603050405020304" pitchFamily="18" charset="0"/>
                <a:cs typeface="Times New Roman" panose="02020603050405020304" pitchFamily="18" charset="0"/>
              </a:rPr>
              <a:t>    padding: 25px;</a:t>
            </a:r>
          </a:p>
          <a:p>
            <a:pPr lvl="4"/>
            <a:r>
              <a:rPr lang="en-US" sz="2800" dirty="0">
                <a:solidFill>
                  <a:srgbClr val="003300"/>
                </a:solidFill>
                <a:latin typeface="Times New Roman" panose="02020603050405020304" pitchFamily="18" charset="0"/>
                <a:cs typeface="Times New Roman" panose="02020603050405020304" pitchFamily="18" charset="0"/>
              </a:rPr>
              <a:t>    margin: 25px;</a:t>
            </a:r>
          </a:p>
          <a:p>
            <a:pPr lvl="4"/>
            <a:r>
              <a:rPr lang="en-US" sz="2800" dirty="0">
                <a:solidFill>
                  <a:srgbClr val="003300"/>
                </a:solidFill>
                <a:latin typeface="Times New Roman" panose="02020603050405020304" pitchFamily="18" charset="0"/>
                <a:cs typeface="Times New Roman" panose="02020603050405020304" pitchFamily="18" charset="0"/>
              </a:rPr>
              <a:t>}</a:t>
            </a:r>
          </a:p>
          <a:p>
            <a:pPr>
              <a:buNone/>
            </a:pPr>
            <a:r>
              <a:rPr lang="en-US" sz="2800" dirty="0">
                <a:solidFill>
                  <a:srgbClr val="003300"/>
                </a:solidFill>
                <a:latin typeface="Times New Roman" panose="02020603050405020304" pitchFamily="18" charset="0"/>
                <a:cs typeface="Times New Roman" panose="02020603050405020304" pitchFamily="18" charset="0"/>
              </a:rPr>
              <a:t>			&lt;/style&gt;</a:t>
            </a:r>
          </a:p>
          <a:p>
            <a:pPr>
              <a:buNone/>
            </a:pPr>
            <a:r>
              <a:rPr lang="en-US" sz="2800" dirty="0">
                <a:solidFill>
                  <a:srgbClr val="003300"/>
                </a:solidFill>
                <a:latin typeface="Times New Roman" panose="02020603050405020304" pitchFamily="18" charset="0"/>
                <a:cs typeface="Times New Roman" panose="02020603050405020304" pitchFamily="18" charset="0"/>
              </a:rPr>
              <a:t>		&lt;/head&gt;</a:t>
            </a:r>
          </a:p>
          <a:p>
            <a:pPr>
              <a:buNone/>
            </a:pPr>
            <a:r>
              <a:rPr lang="en-US" sz="2800" dirty="0">
                <a:solidFill>
                  <a:srgbClr val="003300"/>
                </a:solidFill>
                <a:latin typeface="Times New Roman" panose="02020603050405020304" pitchFamily="18" charset="0"/>
                <a:cs typeface="Times New Roman" panose="02020603050405020304" pitchFamily="18" charset="0"/>
              </a:rPr>
              <a:t>&lt;body&gt;</a:t>
            </a:r>
          </a:p>
          <a:p>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&lt;h2&gt;Demonstrating the Box Model&lt;/h2&gt;</a:t>
            </a:r>
          </a:p>
          <a:p>
            <a:endParaRPr lang="en-US" sz="2800" dirty="0">
              <a:solidFill>
                <a:srgbClr val="003300"/>
              </a:solidFill>
              <a:latin typeface="Times New Roman" panose="02020603050405020304" pitchFamily="18" charset="0"/>
              <a:cs typeface="Times New Roman" panose="02020603050405020304" pitchFamily="18" charset="0"/>
            </a:endParaRPr>
          </a:p>
          <a:p>
            <a:r>
              <a:rPr lang="en-US" sz="2800" dirty="0">
                <a:solidFill>
                  <a:srgbClr val="003300"/>
                </a:solidFill>
                <a:latin typeface="Times New Roman" panose="02020603050405020304" pitchFamily="18" charset="0"/>
                <a:cs typeface="Times New Roman" panose="02020603050405020304" pitchFamily="18" charset="0"/>
              </a:rPr>
              <a:t>&lt;p&gt;The CSS box model is essentially a box that wraps around every HTML element. It consists of: borders, padding, margins, and the actual content.&lt;/p&gt;</a:t>
            </a:r>
          </a:p>
          <a:p>
            <a:endParaRPr lang="en-US" sz="2800" dirty="0">
              <a:solidFill>
                <a:srgbClr val="003300"/>
              </a:solidFill>
              <a:latin typeface="Times New Roman" panose="02020603050405020304" pitchFamily="18" charset="0"/>
              <a:cs typeface="Times New Roman" panose="02020603050405020304" pitchFamily="18" charset="0"/>
            </a:endParaRPr>
          </a:p>
          <a:p>
            <a:r>
              <a:rPr lang="en-US" sz="2800" dirty="0">
                <a:solidFill>
                  <a:srgbClr val="003300"/>
                </a:solidFill>
                <a:latin typeface="Times New Roman" panose="02020603050405020304" pitchFamily="18" charset="0"/>
                <a:cs typeface="Times New Roman" panose="02020603050405020304" pitchFamily="18" charset="0"/>
              </a:rPr>
              <a:t>&lt;div&gt;This text is the actual content of the box. We have added a 25px padding, 25px margin and a 25px green border. </a:t>
            </a:r>
            <a:r>
              <a:rPr lang="en-US" sz="2800" dirty="0" err="1">
                <a:solidFill>
                  <a:srgbClr val="003300"/>
                </a:solidFill>
                <a:latin typeface="Times New Roman" panose="02020603050405020304" pitchFamily="18" charset="0"/>
                <a:cs typeface="Times New Roman" panose="02020603050405020304" pitchFamily="18" charset="0"/>
              </a:rPr>
              <a:t>Ut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enim</a:t>
            </a:r>
            <a:r>
              <a:rPr lang="en-US" sz="2800" dirty="0">
                <a:solidFill>
                  <a:srgbClr val="003300"/>
                </a:solidFill>
                <a:latin typeface="Times New Roman" panose="02020603050405020304" pitchFamily="18" charset="0"/>
                <a:cs typeface="Times New Roman" panose="02020603050405020304" pitchFamily="18" charset="0"/>
              </a:rPr>
              <a:t> ad minim </a:t>
            </a:r>
            <a:r>
              <a:rPr lang="en-US" sz="2800" dirty="0" err="1">
                <a:solidFill>
                  <a:srgbClr val="003300"/>
                </a:solidFill>
                <a:latin typeface="Times New Roman" panose="02020603050405020304" pitchFamily="18" charset="0"/>
                <a:cs typeface="Times New Roman" panose="02020603050405020304" pitchFamily="18" charset="0"/>
              </a:rPr>
              <a:t>veniam</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quis</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nostrud</a:t>
            </a:r>
            <a:r>
              <a:rPr lang="en-US" sz="2800" dirty="0">
                <a:solidFill>
                  <a:srgbClr val="003300"/>
                </a:solidFill>
                <a:latin typeface="Times New Roman" panose="02020603050405020304" pitchFamily="18" charset="0"/>
                <a:cs typeface="Times New Roman" panose="02020603050405020304" pitchFamily="18" charset="0"/>
              </a:rPr>
              <a:t> exercitation </a:t>
            </a:r>
            <a:r>
              <a:rPr lang="en-US" sz="2800" dirty="0" err="1">
                <a:solidFill>
                  <a:srgbClr val="003300"/>
                </a:solidFill>
                <a:latin typeface="Times New Roman" panose="02020603050405020304" pitchFamily="18" charset="0"/>
                <a:cs typeface="Times New Roman" panose="02020603050405020304" pitchFamily="18" charset="0"/>
              </a:rPr>
              <a:t>ullamco</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laboris</a:t>
            </a:r>
            <a:r>
              <a:rPr lang="en-US" sz="2800" dirty="0">
                <a:solidFill>
                  <a:srgbClr val="003300"/>
                </a:solidFill>
                <a:latin typeface="Times New Roman" panose="02020603050405020304" pitchFamily="18" charset="0"/>
                <a:cs typeface="Times New Roman" panose="02020603050405020304" pitchFamily="18" charset="0"/>
              </a:rPr>
              <a:t> nisi </a:t>
            </a:r>
            <a:r>
              <a:rPr lang="en-US" sz="2800" dirty="0" err="1">
                <a:solidFill>
                  <a:srgbClr val="003300"/>
                </a:solidFill>
                <a:latin typeface="Times New Roman" panose="02020603050405020304" pitchFamily="18" charset="0"/>
                <a:cs typeface="Times New Roman" panose="02020603050405020304" pitchFamily="18" charset="0"/>
              </a:rPr>
              <a:t>ut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aliquip</a:t>
            </a:r>
            <a:r>
              <a:rPr lang="en-US" sz="2800" dirty="0">
                <a:solidFill>
                  <a:srgbClr val="003300"/>
                </a:solidFill>
                <a:latin typeface="Times New Roman" panose="02020603050405020304" pitchFamily="18" charset="0"/>
                <a:cs typeface="Times New Roman" panose="02020603050405020304" pitchFamily="18" charset="0"/>
              </a:rPr>
              <a:t> ex </a:t>
            </a:r>
            <a:r>
              <a:rPr lang="en-US" sz="2800" dirty="0" err="1">
                <a:solidFill>
                  <a:srgbClr val="003300"/>
                </a:solidFill>
                <a:latin typeface="Times New Roman" panose="02020603050405020304" pitchFamily="18" charset="0"/>
                <a:cs typeface="Times New Roman" panose="02020603050405020304" pitchFamily="18" charset="0"/>
              </a:rPr>
              <a:t>ea</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commodo</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consequat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Duis</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aute</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irure</a:t>
            </a:r>
            <a:r>
              <a:rPr lang="en-US" sz="2800" dirty="0">
                <a:solidFill>
                  <a:srgbClr val="003300"/>
                </a:solidFill>
                <a:latin typeface="Times New Roman" panose="02020603050405020304" pitchFamily="18" charset="0"/>
                <a:cs typeface="Times New Roman" panose="02020603050405020304" pitchFamily="18" charset="0"/>
              </a:rPr>
              <a:t> dolor in </a:t>
            </a:r>
            <a:r>
              <a:rPr lang="en-US" sz="2800" dirty="0" err="1">
                <a:solidFill>
                  <a:srgbClr val="003300"/>
                </a:solidFill>
                <a:latin typeface="Times New Roman" panose="02020603050405020304" pitchFamily="18" charset="0"/>
                <a:cs typeface="Times New Roman" panose="02020603050405020304" pitchFamily="18" charset="0"/>
              </a:rPr>
              <a:t>reprehenderit</a:t>
            </a:r>
            <a:r>
              <a:rPr lang="en-US" sz="2800" dirty="0">
                <a:solidFill>
                  <a:srgbClr val="003300"/>
                </a:solidFill>
                <a:latin typeface="Times New Roman" panose="02020603050405020304" pitchFamily="18" charset="0"/>
                <a:cs typeface="Times New Roman" panose="02020603050405020304" pitchFamily="18" charset="0"/>
              </a:rPr>
              <a:t> in </a:t>
            </a:r>
            <a:r>
              <a:rPr lang="en-US" sz="2800" dirty="0" err="1">
                <a:solidFill>
                  <a:srgbClr val="003300"/>
                </a:solidFill>
                <a:latin typeface="Times New Roman" panose="02020603050405020304" pitchFamily="18" charset="0"/>
                <a:cs typeface="Times New Roman" panose="02020603050405020304" pitchFamily="18" charset="0"/>
              </a:rPr>
              <a:t>voluptate</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velit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esse</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cillum</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dolore</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eu</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fugiat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nulla</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pariatur</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Excepteur</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sint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occaecat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cupidatat</a:t>
            </a:r>
            <a:r>
              <a:rPr lang="en-US" sz="2800" dirty="0">
                <a:solidFill>
                  <a:srgbClr val="003300"/>
                </a:solidFill>
                <a:latin typeface="Times New Roman" panose="02020603050405020304" pitchFamily="18" charset="0"/>
                <a:cs typeface="Times New Roman" panose="02020603050405020304" pitchFamily="18" charset="0"/>
              </a:rPr>
              <a:t> non </a:t>
            </a:r>
            <a:r>
              <a:rPr lang="en-US" sz="2800" dirty="0" err="1">
                <a:solidFill>
                  <a:srgbClr val="003300"/>
                </a:solidFill>
                <a:latin typeface="Times New Roman" panose="02020603050405020304" pitchFamily="18" charset="0"/>
                <a:cs typeface="Times New Roman" panose="02020603050405020304" pitchFamily="18" charset="0"/>
              </a:rPr>
              <a:t>proident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sunt</a:t>
            </a:r>
            <a:r>
              <a:rPr lang="en-US" sz="2800" dirty="0">
                <a:solidFill>
                  <a:srgbClr val="003300"/>
                </a:solidFill>
                <a:latin typeface="Times New Roman" panose="02020603050405020304" pitchFamily="18" charset="0"/>
                <a:cs typeface="Times New Roman" panose="02020603050405020304" pitchFamily="18" charset="0"/>
              </a:rPr>
              <a:t> in culpa qui </a:t>
            </a:r>
            <a:r>
              <a:rPr lang="en-US" sz="2800" dirty="0" err="1">
                <a:solidFill>
                  <a:srgbClr val="003300"/>
                </a:solidFill>
                <a:latin typeface="Times New Roman" panose="02020603050405020304" pitchFamily="18" charset="0"/>
                <a:cs typeface="Times New Roman" panose="02020603050405020304" pitchFamily="18" charset="0"/>
              </a:rPr>
              <a:t>officia</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deserunt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mollit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anim</a:t>
            </a:r>
            <a:r>
              <a:rPr lang="en-US" sz="2800" dirty="0">
                <a:solidFill>
                  <a:srgbClr val="003300"/>
                </a:solidFill>
                <a:latin typeface="Times New Roman" panose="02020603050405020304" pitchFamily="18" charset="0"/>
                <a:cs typeface="Times New Roman" panose="02020603050405020304" pitchFamily="18" charset="0"/>
              </a:rPr>
              <a:t> id </a:t>
            </a:r>
            <a:r>
              <a:rPr lang="en-US" sz="2800" dirty="0" err="1">
                <a:solidFill>
                  <a:srgbClr val="003300"/>
                </a:solidFill>
                <a:latin typeface="Times New Roman" panose="02020603050405020304" pitchFamily="18" charset="0"/>
                <a:cs typeface="Times New Roman" panose="02020603050405020304" pitchFamily="18" charset="0"/>
              </a:rPr>
              <a:t>est</a:t>
            </a:r>
            <a:r>
              <a:rPr lang="en-US" sz="2800" dirty="0">
                <a:solidFill>
                  <a:srgbClr val="003300"/>
                </a:solidFill>
                <a:latin typeface="Times New Roman" panose="02020603050405020304" pitchFamily="18" charset="0"/>
                <a:cs typeface="Times New Roman" panose="02020603050405020304" pitchFamily="18" charset="0"/>
              </a:rPr>
              <a:t> </a:t>
            </a:r>
            <a:r>
              <a:rPr lang="en-US" sz="2800" dirty="0" err="1">
                <a:solidFill>
                  <a:srgbClr val="003300"/>
                </a:solidFill>
                <a:latin typeface="Times New Roman" panose="02020603050405020304" pitchFamily="18" charset="0"/>
                <a:cs typeface="Times New Roman" panose="02020603050405020304" pitchFamily="18" charset="0"/>
              </a:rPr>
              <a:t>laborum</a:t>
            </a:r>
            <a:r>
              <a:rPr lang="en-US" sz="2800" dirty="0">
                <a:solidFill>
                  <a:srgbClr val="003300"/>
                </a:solidFill>
                <a:latin typeface="Times New Roman" panose="02020603050405020304" pitchFamily="18" charset="0"/>
                <a:cs typeface="Times New Roman" panose="02020603050405020304" pitchFamily="18" charset="0"/>
              </a:rPr>
              <a:t>.&lt;/div&gt;</a:t>
            </a:r>
          </a:p>
          <a:p>
            <a:endParaRPr lang="en-US" sz="2800" dirty="0">
              <a:solidFill>
                <a:srgbClr val="003300"/>
              </a:solidFill>
              <a:latin typeface="Times New Roman" panose="02020603050405020304" pitchFamily="18" charset="0"/>
              <a:cs typeface="Times New Roman" panose="02020603050405020304" pitchFamily="18" charset="0"/>
            </a:endParaRPr>
          </a:p>
          <a:p>
            <a:pPr>
              <a:buNone/>
            </a:pPr>
            <a:r>
              <a:rPr lang="en-US" sz="2800" dirty="0">
                <a:solidFill>
                  <a:srgbClr val="003300"/>
                </a:solidFill>
                <a:latin typeface="Times New Roman" panose="02020603050405020304" pitchFamily="18" charset="0"/>
                <a:cs typeface="Times New Roman" panose="02020603050405020304" pitchFamily="18" charset="0"/>
              </a:rPr>
              <a:t>&lt;/body&gt;</a:t>
            </a:r>
          </a:p>
          <a:p>
            <a:pPr>
              <a:buNone/>
            </a:pPr>
            <a:r>
              <a:rPr lang="en-US" sz="2800" dirty="0">
                <a:solidFill>
                  <a:srgbClr val="003300"/>
                </a:solidFill>
                <a:latin typeface="Times New Roman" panose="02020603050405020304" pitchFamily="18" charset="0"/>
                <a:cs typeface="Times New Roman" panose="02020603050405020304" pitchFamily="18" charset="0"/>
              </a:rPr>
              <a:t>&lt;/html&gt;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a:blip r:embed="rId3"/>
          <a:stretch>
            <a:fillRect/>
          </a:stretch>
        </p:blipFill>
        <p:spPr>
          <a:xfrm>
            <a:off x="7527780" y="893524"/>
            <a:ext cx="3952875" cy="2971800"/>
          </a:xfrm>
          <a:prstGeom prst="rect">
            <a:avLst/>
          </a:prstGeom>
        </p:spPr>
      </p:pic>
    </p:spTree>
    <p:extLst>
      <p:ext uri="{BB962C8B-B14F-4D97-AF65-F5344CB8AC3E}">
        <p14:creationId xmlns:p14="http://schemas.microsoft.com/office/powerpoint/2010/main" val="4038833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pitchFamily="18" charset="0"/>
                <a:cs typeface="Times" pitchFamily="18" charset="0"/>
              </a:rPr>
              <a:t>CSS POSITIONING</a:t>
            </a: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a:bodyPr>
          <a:lstStyle/>
          <a:p>
            <a:pPr algn="just">
              <a:lnSpc>
                <a:spcPct val="200000"/>
              </a:lnSpc>
              <a:buFont typeface="Wingdings" pitchFamily="2" charset="2"/>
              <a:buChar char="Ø"/>
            </a:pPr>
            <a:r>
              <a:rPr lang="en-US" sz="2800" dirty="0">
                <a:solidFill>
                  <a:srgbClr val="071D01"/>
                </a:solidFill>
                <a:latin typeface="Times" pitchFamily="18" charset="0"/>
                <a:cs typeface="Times" pitchFamily="18" charset="0"/>
              </a:rPr>
              <a:t>The CSS position property defines the position of an element where generally the top, right, bottom, and left properties will determine the position of the element. </a:t>
            </a:r>
          </a:p>
          <a:p>
            <a:pPr algn="just">
              <a:lnSpc>
                <a:spcPct val="200000"/>
              </a:lnSpc>
              <a:buFont typeface="Wingdings" pitchFamily="2" charset="2"/>
              <a:buChar char="Ø"/>
            </a:pPr>
            <a:r>
              <a:rPr lang="en-US" sz="2800" dirty="0">
                <a:solidFill>
                  <a:srgbClr val="071D01"/>
                </a:solidFill>
                <a:latin typeface="Times" pitchFamily="18" charset="0"/>
                <a:cs typeface="Times" pitchFamily="18" charset="0"/>
              </a:rPr>
              <a:t>However, these properties will not work unless the position property is set first. They also work differently depending on the position value.</a:t>
            </a:r>
          </a:p>
          <a:p>
            <a:pPr algn="ctr">
              <a:lnSpc>
                <a:spcPct val="200000"/>
              </a:lnSpc>
            </a:pPr>
            <a:r>
              <a:rPr lang="en-US" sz="4400" b="1" dirty="0">
                <a:solidFill>
                  <a:srgbClr val="600000"/>
                </a:solidFill>
                <a:latin typeface="Times" pitchFamily="18" charset="0"/>
                <a:cs typeface="Times" pitchFamily="18" charset="0"/>
              </a:rPr>
              <a:t>position: value;</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233759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0781732"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pitchFamily="18" charset="0"/>
                <a:cs typeface="Times" pitchFamily="18" charset="0"/>
              </a:rPr>
              <a:t>CSS POSITIONING</a:t>
            </a:r>
            <a:endParaRPr kumimoji="0" lang="en-US" sz="3600" b="1" i="0" u="none" strike="noStrike" kern="1200" cap="none" spc="0" normalizeH="0" baseline="0" noProof="0" dirty="0">
              <a:ln>
                <a:noFill/>
              </a:ln>
              <a:solidFill>
                <a:srgbClr val="860000"/>
              </a:solidFill>
              <a:effectLst/>
              <a:uLnTx/>
              <a:uFillTx/>
              <a:latin typeface="Marcellus"/>
              <a:ea typeface="+mj-ea"/>
              <a:cs typeface="+mj-c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2"/>
            <a:ext cx="10781731" cy="5679281"/>
          </a:xfrm>
          <a:prstGeom prst="rect">
            <a:avLst/>
          </a:prstGeom>
          <a:noFill/>
          <a:ln w="25400">
            <a:solidFill>
              <a:srgbClr val="860000"/>
            </a:solidFill>
          </a:ln>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5" name="Rectangle 14"/>
          <p:cNvSpPr/>
          <p:nvPr/>
        </p:nvSpPr>
        <p:spPr>
          <a:xfrm>
            <a:off x="11191167" y="0"/>
            <a:ext cx="259311" cy="551369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1450472" y="0"/>
            <a:ext cx="741528" cy="5882183"/>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1191166" y="5915467"/>
            <a:ext cx="1000833" cy="915237"/>
          </a:xfrm>
          <a:prstGeom prst="rect">
            <a:avLst/>
          </a:prstGeom>
          <a:noFill/>
          <a:ln>
            <a:solidFill>
              <a:srgbClr val="860000"/>
            </a:solidFill>
          </a:ln>
        </p:spPr>
      </p:pic>
      <p:pic>
        <p:nvPicPr>
          <p:cNvPr id="7" name="Picture 2"/>
          <p:cNvPicPr>
            <a:picLocks noChangeAspect="1" noChangeArrowheads="1"/>
          </p:cNvPicPr>
          <p:nvPr/>
        </p:nvPicPr>
        <p:blipFill>
          <a:blip r:embed="rId3"/>
          <a:srcRect/>
          <a:stretch>
            <a:fillRect/>
          </a:stretch>
        </p:blipFill>
        <p:spPr bwMode="auto">
          <a:xfrm>
            <a:off x="441565" y="1277873"/>
            <a:ext cx="10226143" cy="5158997"/>
          </a:xfrm>
          <a:prstGeom prst="rect">
            <a:avLst/>
          </a:prstGeom>
          <a:noFill/>
          <a:ln w="57150">
            <a:solidFill>
              <a:srgbClr val="071D01"/>
            </a:solidFill>
            <a:miter lim="800000"/>
            <a:headEnd/>
            <a:tailEnd/>
          </a:ln>
          <a:effectLst/>
        </p:spPr>
      </p:pic>
    </p:spTree>
    <p:extLst>
      <p:ext uri="{BB962C8B-B14F-4D97-AF65-F5344CB8AC3E}">
        <p14:creationId xmlns:p14="http://schemas.microsoft.com/office/powerpoint/2010/main" val="1501293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pitchFamily="18" charset="0"/>
                <a:cs typeface="Times" pitchFamily="18" charset="0"/>
              </a:rPr>
              <a:t>STATIC POSITION</a:t>
            </a:r>
            <a:endParaRPr kumimoji="0" lang="en-US" sz="3600" b="1" i="0" u="none" strike="noStrike" kern="1200" cap="none" spc="0" normalizeH="0" baseline="0" noProof="0" dirty="0">
              <a:ln>
                <a:noFill/>
              </a:ln>
              <a:solidFill>
                <a:srgbClr val="600000"/>
              </a:solidFill>
              <a:effectLst/>
              <a:uLnTx/>
              <a:uFillTx/>
              <a:latin typeface="Times" pitchFamily="18" charset="0"/>
              <a:ea typeface="+mj-ea"/>
              <a:cs typeface="Times"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3"/>
            <a:ext cx="11122927" cy="5073974"/>
          </a:xfrm>
          <a:prstGeom prst="rect">
            <a:avLst/>
          </a:prstGeom>
          <a:noFill/>
          <a:ln w="25400">
            <a:solidFill>
              <a:srgbClr val="860000"/>
            </a:solidFill>
          </a:ln>
        </p:spPr>
        <p:txBody>
          <a:bodyPr vert="horz" lIns="91440" tIns="45720" rIns="91440" bIns="45720" rtlCol="0">
            <a:normAutofit lnSpcReduction="10000"/>
          </a:bodyPr>
          <a:lstStyle/>
          <a:p>
            <a:pPr algn="ctr">
              <a:lnSpc>
                <a:spcPct val="200000"/>
              </a:lnSpc>
            </a:pPr>
            <a:r>
              <a:rPr lang="en-US" sz="2800" b="1" dirty="0">
                <a:solidFill>
                  <a:srgbClr val="600000"/>
                </a:solidFill>
                <a:latin typeface="Times" pitchFamily="18" charset="0"/>
                <a:cs typeface="Times" pitchFamily="18" charset="0"/>
              </a:rPr>
              <a:t>position: static;</a:t>
            </a:r>
          </a:p>
          <a:p>
            <a:pPr algn="just">
              <a:lnSpc>
                <a:spcPct val="200000"/>
              </a:lnSpc>
              <a:buFont typeface="Wingdings" pitchFamily="2" charset="2"/>
              <a:buChar char="Ø"/>
            </a:pPr>
            <a:r>
              <a:rPr lang="en-US" sz="2800" dirty="0">
                <a:solidFill>
                  <a:srgbClr val="071D01"/>
                </a:solidFill>
                <a:latin typeface="Times" pitchFamily="18" charset="0"/>
                <a:cs typeface="Times" pitchFamily="18" charset="0"/>
              </a:rPr>
              <a:t>HTML elements are positioned static by default.</a:t>
            </a:r>
          </a:p>
          <a:p>
            <a:pPr algn="just">
              <a:lnSpc>
                <a:spcPct val="200000"/>
              </a:lnSpc>
              <a:buFont typeface="Wingdings" pitchFamily="2" charset="2"/>
              <a:buChar char="Ø"/>
            </a:pPr>
            <a:r>
              <a:rPr lang="en-US" sz="2800" dirty="0">
                <a:solidFill>
                  <a:srgbClr val="071D01"/>
                </a:solidFill>
                <a:latin typeface="Times" pitchFamily="18" charset="0"/>
                <a:cs typeface="Times" pitchFamily="18" charset="0"/>
              </a:rPr>
              <a:t>Static positioned elements are not affected by the top, bottom, left, and right properties.</a:t>
            </a:r>
          </a:p>
          <a:p>
            <a:pPr algn="just">
              <a:lnSpc>
                <a:spcPct val="200000"/>
              </a:lnSpc>
              <a:buFont typeface="Wingdings" pitchFamily="2" charset="2"/>
              <a:buChar char="Ø"/>
            </a:pPr>
            <a:r>
              <a:rPr lang="en-US" sz="2800" dirty="0">
                <a:solidFill>
                  <a:srgbClr val="071D01"/>
                </a:solidFill>
                <a:latin typeface="Times" pitchFamily="18" charset="0"/>
                <a:cs typeface="Times" pitchFamily="18" charset="0"/>
              </a:rPr>
              <a:t>An element with position: static; is not positioned in any special way; it is always positioned according to the normal flow of the page.</a:t>
            </a: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77873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pitchFamily="18" charset="0"/>
                <a:cs typeface="Times" pitchFamily="18" charset="0"/>
              </a:rPr>
              <a:t>STATIC POSITION</a:t>
            </a: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fontScale="70000" lnSpcReduction="20000"/>
          </a:bodyPr>
          <a:lstStyle/>
          <a:p>
            <a:r>
              <a:rPr lang="en-US" sz="2800" dirty="0">
                <a:solidFill>
                  <a:srgbClr val="071D01"/>
                </a:solidFill>
                <a:latin typeface="Times" pitchFamily="18" charset="0"/>
                <a:cs typeface="Times" pitchFamily="18" charset="0"/>
              </a:rPr>
              <a:t>&lt;html&gt;</a:t>
            </a:r>
          </a:p>
          <a:p>
            <a:r>
              <a:rPr lang="en-US" sz="2800" dirty="0">
                <a:solidFill>
                  <a:srgbClr val="071D01"/>
                </a:solidFill>
                <a:latin typeface="Times" pitchFamily="18" charset="0"/>
                <a:cs typeface="Times" pitchFamily="18" charset="0"/>
              </a:rPr>
              <a:t>	&lt;head&gt;</a:t>
            </a:r>
          </a:p>
          <a:p>
            <a:r>
              <a:rPr lang="en-US" sz="2800" dirty="0">
                <a:solidFill>
                  <a:srgbClr val="071D01"/>
                </a:solidFill>
                <a:latin typeface="Times" pitchFamily="18" charset="0"/>
                <a:cs typeface="Times" pitchFamily="18" charset="0"/>
              </a:rPr>
              <a:t>		&lt;style&gt;</a:t>
            </a:r>
          </a:p>
          <a:p>
            <a:pPr lvl="4"/>
            <a:r>
              <a:rPr lang="en-US" sz="2800" dirty="0" err="1">
                <a:solidFill>
                  <a:srgbClr val="071D01"/>
                </a:solidFill>
                <a:latin typeface="Times" pitchFamily="18" charset="0"/>
                <a:cs typeface="Times" pitchFamily="18" charset="0"/>
              </a:rPr>
              <a:t>div.static</a:t>
            </a:r>
            <a:r>
              <a:rPr lang="en-US" sz="2800" dirty="0">
                <a:solidFill>
                  <a:srgbClr val="071D01"/>
                </a:solidFill>
                <a:latin typeface="Times" pitchFamily="18" charset="0"/>
                <a:cs typeface="Times" pitchFamily="18" charset="0"/>
              </a:rPr>
              <a:t> </a:t>
            </a:r>
          </a:p>
          <a:p>
            <a:pPr lvl="4"/>
            <a:r>
              <a:rPr lang="en-US" sz="2800" dirty="0">
                <a:solidFill>
                  <a:srgbClr val="071D01"/>
                </a:solidFill>
                <a:latin typeface="Times" pitchFamily="18" charset="0"/>
                <a:cs typeface="Times" pitchFamily="18" charset="0"/>
              </a:rPr>
              <a:t>{</a:t>
            </a:r>
          </a:p>
          <a:p>
            <a:pPr lvl="4"/>
            <a:r>
              <a:rPr lang="en-US" sz="2800" dirty="0">
                <a:solidFill>
                  <a:srgbClr val="071D01"/>
                </a:solidFill>
                <a:latin typeface="Times" pitchFamily="18" charset="0"/>
                <a:cs typeface="Times" pitchFamily="18" charset="0"/>
              </a:rPr>
              <a:t>    </a:t>
            </a:r>
            <a:r>
              <a:rPr lang="en-US" sz="2800" b="1" dirty="0">
                <a:solidFill>
                  <a:srgbClr val="071D01"/>
                </a:solidFill>
                <a:latin typeface="Times" pitchFamily="18" charset="0"/>
                <a:cs typeface="Times" pitchFamily="18" charset="0"/>
              </a:rPr>
              <a:t>position: static;</a:t>
            </a:r>
          </a:p>
          <a:p>
            <a:pPr lvl="4"/>
            <a:r>
              <a:rPr lang="en-US" sz="2800" dirty="0">
                <a:solidFill>
                  <a:srgbClr val="071D01"/>
                </a:solidFill>
                <a:latin typeface="Times" pitchFamily="18" charset="0"/>
                <a:cs typeface="Times" pitchFamily="18" charset="0"/>
              </a:rPr>
              <a:t>    border: 3px solid #73AD21;</a:t>
            </a:r>
          </a:p>
          <a:p>
            <a:pPr lvl="4"/>
            <a:r>
              <a:rPr lang="en-US" sz="2800" dirty="0">
                <a:solidFill>
                  <a:srgbClr val="071D01"/>
                </a:solidFill>
                <a:latin typeface="Times" pitchFamily="18" charset="0"/>
                <a:cs typeface="Times" pitchFamily="18" charset="0"/>
              </a:rPr>
              <a:t>}</a:t>
            </a:r>
          </a:p>
          <a:p>
            <a:r>
              <a:rPr lang="en-US" sz="2800" dirty="0">
                <a:solidFill>
                  <a:srgbClr val="071D01"/>
                </a:solidFill>
                <a:latin typeface="Times" pitchFamily="18" charset="0"/>
                <a:cs typeface="Times" pitchFamily="18" charset="0"/>
              </a:rPr>
              <a:t>		&lt;/style&gt;</a:t>
            </a:r>
          </a:p>
          <a:p>
            <a:r>
              <a:rPr lang="en-US" sz="2800" dirty="0">
                <a:solidFill>
                  <a:srgbClr val="071D01"/>
                </a:solidFill>
                <a:latin typeface="Times" pitchFamily="18" charset="0"/>
                <a:cs typeface="Times" pitchFamily="18" charset="0"/>
              </a:rPr>
              <a:t>	&lt;/head&gt;</a:t>
            </a:r>
          </a:p>
          <a:p>
            <a:r>
              <a:rPr lang="en-US" sz="2800" dirty="0">
                <a:solidFill>
                  <a:srgbClr val="071D01"/>
                </a:solidFill>
                <a:latin typeface="Times" pitchFamily="18" charset="0"/>
                <a:cs typeface="Times" pitchFamily="18" charset="0"/>
              </a:rPr>
              <a:t>	&lt;body&gt;</a:t>
            </a:r>
          </a:p>
          <a:p>
            <a:endParaRPr lang="en-US" sz="2800" dirty="0">
              <a:solidFill>
                <a:srgbClr val="071D01"/>
              </a:solidFill>
              <a:latin typeface="Times" pitchFamily="18" charset="0"/>
              <a:cs typeface="Times" pitchFamily="18" charset="0"/>
            </a:endParaRPr>
          </a:p>
          <a:p>
            <a:pPr lvl="2"/>
            <a:r>
              <a:rPr lang="en-US" sz="2800" dirty="0">
                <a:solidFill>
                  <a:srgbClr val="071D01"/>
                </a:solidFill>
                <a:latin typeface="Times" pitchFamily="18" charset="0"/>
                <a:cs typeface="Times" pitchFamily="18" charset="0"/>
              </a:rPr>
              <a:t>&lt;h2&gt;position: static;&lt;/h2&gt;</a:t>
            </a:r>
          </a:p>
          <a:p>
            <a:pPr lvl="2"/>
            <a:endParaRPr lang="en-US" sz="2800" dirty="0">
              <a:solidFill>
                <a:srgbClr val="071D01"/>
              </a:solidFill>
              <a:latin typeface="Times" pitchFamily="18" charset="0"/>
              <a:cs typeface="Times" pitchFamily="18" charset="0"/>
            </a:endParaRPr>
          </a:p>
          <a:p>
            <a:pPr lvl="2"/>
            <a:r>
              <a:rPr lang="en-US" sz="2800" dirty="0">
                <a:solidFill>
                  <a:srgbClr val="071D01"/>
                </a:solidFill>
                <a:latin typeface="Times" pitchFamily="18" charset="0"/>
                <a:cs typeface="Times" pitchFamily="18" charset="0"/>
              </a:rPr>
              <a:t>&lt;p&gt;An element with position: static; is not positioned in any special way;&lt;/p&gt;</a:t>
            </a:r>
          </a:p>
          <a:p>
            <a:pPr lvl="2"/>
            <a:endParaRPr lang="en-US" sz="2800" dirty="0">
              <a:solidFill>
                <a:srgbClr val="071D01"/>
              </a:solidFill>
              <a:latin typeface="Times" pitchFamily="18" charset="0"/>
              <a:cs typeface="Times" pitchFamily="18" charset="0"/>
            </a:endParaRPr>
          </a:p>
          <a:p>
            <a:pPr lvl="2"/>
            <a:r>
              <a:rPr lang="en-US" sz="2800" dirty="0">
                <a:solidFill>
                  <a:srgbClr val="071D01"/>
                </a:solidFill>
                <a:latin typeface="Times" pitchFamily="18" charset="0"/>
                <a:cs typeface="Times" pitchFamily="18" charset="0"/>
              </a:rPr>
              <a:t>&lt;div class="static"&gt;   This div element has position: static; &lt;/div&gt;</a:t>
            </a:r>
          </a:p>
          <a:p>
            <a:pPr lvl="2"/>
            <a:endParaRPr lang="en-US" sz="2800" dirty="0">
              <a:solidFill>
                <a:srgbClr val="071D01"/>
              </a:solidFill>
              <a:latin typeface="Times" pitchFamily="18" charset="0"/>
              <a:cs typeface="Times" pitchFamily="18" charset="0"/>
            </a:endParaRPr>
          </a:p>
          <a:p>
            <a:pPr lvl="2"/>
            <a:r>
              <a:rPr lang="en-US" sz="2800" dirty="0">
                <a:solidFill>
                  <a:srgbClr val="071D01"/>
                </a:solidFill>
                <a:latin typeface="Times" pitchFamily="18" charset="0"/>
                <a:cs typeface="Times" pitchFamily="18" charset="0"/>
              </a:rPr>
              <a:t>&lt;/body&gt;</a:t>
            </a:r>
          </a:p>
          <a:p>
            <a:r>
              <a:rPr lang="en-US" sz="2800" dirty="0">
                <a:latin typeface="Times" pitchFamily="18" charset="0"/>
                <a:cs typeface="Times"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75928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latin typeface="Times" pitchFamily="18" charset="0"/>
                <a:cs typeface="Times" pitchFamily="18" charset="0"/>
              </a:rPr>
              <a:t>Relative Position</a:t>
            </a:r>
            <a:endParaRPr kumimoji="0" lang="en-US" sz="3600" b="1" i="0" u="none" strike="noStrike" kern="1200" cap="none" spc="0" normalizeH="0" baseline="0" noProof="0" dirty="0">
              <a:ln>
                <a:noFill/>
              </a:ln>
              <a:solidFill>
                <a:srgbClr val="860000"/>
              </a:solidFill>
              <a:effectLst/>
              <a:uLnTx/>
              <a:uFillTx/>
              <a:latin typeface="Times" pitchFamily="18" charset="0"/>
              <a:ea typeface="+mj-ea"/>
              <a:cs typeface="Times"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a:bodyPr>
          <a:lstStyle/>
          <a:p>
            <a:pPr algn="ctr">
              <a:lnSpc>
                <a:spcPct val="250000"/>
              </a:lnSpc>
            </a:pPr>
            <a:r>
              <a:rPr lang="en-US" sz="2800" b="1" dirty="0">
                <a:solidFill>
                  <a:srgbClr val="600000"/>
                </a:solidFill>
                <a:latin typeface="Times" pitchFamily="18" charset="0"/>
                <a:cs typeface="Times" pitchFamily="18" charset="0"/>
              </a:rPr>
              <a:t>position: relative;</a:t>
            </a:r>
          </a:p>
          <a:p>
            <a:pPr algn="just">
              <a:lnSpc>
                <a:spcPct val="250000"/>
              </a:lnSpc>
              <a:buFont typeface="Wingdings" pitchFamily="2" charset="2"/>
              <a:buChar char="Ø"/>
            </a:pPr>
            <a:r>
              <a:rPr lang="en-US" sz="2800" dirty="0">
                <a:solidFill>
                  <a:srgbClr val="071D01"/>
                </a:solidFill>
                <a:latin typeface="Times" pitchFamily="18" charset="0"/>
                <a:cs typeface="Times" pitchFamily="18" charset="0"/>
              </a:rPr>
              <a:t>An element with </a:t>
            </a:r>
            <a:r>
              <a:rPr lang="en-US" sz="2800" b="1" dirty="0">
                <a:solidFill>
                  <a:srgbClr val="071D01"/>
                </a:solidFill>
                <a:latin typeface="Times" pitchFamily="18" charset="0"/>
                <a:cs typeface="Times" pitchFamily="18" charset="0"/>
              </a:rPr>
              <a:t>position: relative;</a:t>
            </a:r>
            <a:r>
              <a:rPr lang="en-US" sz="2800" dirty="0">
                <a:solidFill>
                  <a:srgbClr val="071D01"/>
                </a:solidFill>
                <a:latin typeface="Times" pitchFamily="18" charset="0"/>
                <a:cs typeface="Times" pitchFamily="18" charset="0"/>
              </a:rPr>
              <a:t> is positioned relative to its normal position.</a:t>
            </a:r>
          </a:p>
          <a:p>
            <a:pPr algn="just">
              <a:lnSpc>
                <a:spcPct val="250000"/>
              </a:lnSpc>
              <a:buFont typeface="Wingdings" pitchFamily="2" charset="2"/>
              <a:buChar char="Ø"/>
            </a:pPr>
            <a:r>
              <a:rPr lang="en-US" sz="2800" dirty="0">
                <a:solidFill>
                  <a:srgbClr val="071D01"/>
                </a:solidFill>
                <a:latin typeface="Times" pitchFamily="18" charset="0"/>
                <a:cs typeface="Times" pitchFamily="18" charset="0"/>
              </a:rPr>
              <a:t>Setting the top, right, bottom, and left properties of a relatively-positioned element will cause it to be adjusted away from its normal position. </a:t>
            </a:r>
          </a:p>
          <a:p>
            <a:pPr algn="just">
              <a:lnSpc>
                <a:spcPct val="250000"/>
              </a:lnSpc>
              <a:buFont typeface="Wingdings" pitchFamily="2" charset="2"/>
              <a:buChar char="Ø"/>
            </a:pPr>
            <a:r>
              <a:rPr lang="en-US" sz="2800" dirty="0">
                <a:solidFill>
                  <a:srgbClr val="071D01"/>
                </a:solidFill>
                <a:latin typeface="Times" pitchFamily="18" charset="0"/>
                <a:cs typeface="Times" pitchFamily="18" charset="0"/>
              </a:rPr>
              <a:t>Other content will not be adjusted to fit into any gap left by the element.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46097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pitchFamily="18" charset="0"/>
                <a:cs typeface="Times" pitchFamily="18" charset="0"/>
              </a:rPr>
              <a:t>FIXED POSITION</a:t>
            </a: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lnSpcReduction="10000"/>
          </a:bodyPr>
          <a:lstStyle/>
          <a:p>
            <a:pPr algn="ctr">
              <a:lnSpc>
                <a:spcPct val="150000"/>
              </a:lnSpc>
            </a:pPr>
            <a:r>
              <a:rPr lang="en-US" sz="2800" b="1" dirty="0">
                <a:solidFill>
                  <a:srgbClr val="600000"/>
                </a:solidFill>
                <a:latin typeface="Times" pitchFamily="18" charset="0"/>
                <a:cs typeface="Times" pitchFamily="18" charset="0"/>
              </a:rPr>
              <a:t>position: fixed;</a:t>
            </a:r>
          </a:p>
          <a:p>
            <a:pPr marL="457200" indent="-457200" algn="just">
              <a:lnSpc>
                <a:spcPct val="200000"/>
              </a:lnSpc>
              <a:buFont typeface="Wingdings" pitchFamily="2" charset="2"/>
              <a:buChar char="Ø"/>
            </a:pPr>
            <a:r>
              <a:rPr lang="en-US" sz="2800" dirty="0">
                <a:solidFill>
                  <a:srgbClr val="071D01"/>
                </a:solidFill>
                <a:latin typeface="Times" pitchFamily="18" charset="0"/>
                <a:cs typeface="Times" pitchFamily="18" charset="0"/>
              </a:rPr>
              <a:t>An element with position: fixed; is positioned relative to the viewport, which means it always stays in the same place even if the page is scrolled. The top, right, bottom, and left properties are used to position the element.</a:t>
            </a:r>
          </a:p>
          <a:p>
            <a:pPr marL="457200" indent="-457200" algn="just">
              <a:lnSpc>
                <a:spcPct val="200000"/>
              </a:lnSpc>
              <a:buFont typeface="Wingdings" pitchFamily="2" charset="2"/>
              <a:buChar char="Ø"/>
            </a:pPr>
            <a:r>
              <a:rPr lang="en-US" sz="2800" dirty="0">
                <a:solidFill>
                  <a:srgbClr val="071D01"/>
                </a:solidFill>
                <a:latin typeface="Times" pitchFamily="18" charset="0"/>
                <a:cs typeface="Times" pitchFamily="18" charset="0"/>
              </a:rPr>
              <a:t>A fixed element does not leave a gap in the page where it would normally have been located.</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713419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US" sz="3600" b="1" dirty="0">
                <a:solidFill>
                  <a:srgbClr val="600000"/>
                </a:solidFill>
                <a:latin typeface="Times" pitchFamily="18" charset="0"/>
                <a:cs typeface="Times" pitchFamily="18" charset="0"/>
              </a:rPr>
              <a:t>FIXED POSITION</a:t>
            </a:r>
            <a:endParaRPr lang="en-US" sz="3600" b="1" dirty="0">
              <a:solidFill>
                <a:srgbClr val="860000"/>
              </a:solidFill>
              <a:latin typeface="Marcellus"/>
            </a:endParaRP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fontScale="70000" lnSpcReduction="20000"/>
          </a:bodyPr>
          <a:lstStyle/>
          <a:p>
            <a:r>
              <a:rPr lang="en-US" sz="2800" dirty="0">
                <a:solidFill>
                  <a:srgbClr val="071D01"/>
                </a:solidFill>
                <a:latin typeface="Times" pitchFamily="18" charset="0"/>
                <a:cs typeface="Times" pitchFamily="18" charset="0"/>
              </a:rPr>
              <a:t>&lt;html&gt;</a:t>
            </a:r>
          </a:p>
          <a:p>
            <a:r>
              <a:rPr lang="en-US" sz="2800" dirty="0">
                <a:solidFill>
                  <a:srgbClr val="071D01"/>
                </a:solidFill>
                <a:latin typeface="Times" pitchFamily="18" charset="0"/>
                <a:cs typeface="Times" pitchFamily="18" charset="0"/>
              </a:rPr>
              <a:t>	&lt;head&gt;</a:t>
            </a:r>
          </a:p>
          <a:p>
            <a:r>
              <a:rPr lang="en-US" sz="2800" dirty="0">
                <a:solidFill>
                  <a:srgbClr val="071D01"/>
                </a:solidFill>
                <a:latin typeface="Times" pitchFamily="18" charset="0"/>
                <a:cs typeface="Times" pitchFamily="18" charset="0"/>
              </a:rPr>
              <a:t>		&lt;style&gt;</a:t>
            </a:r>
          </a:p>
          <a:p>
            <a:pPr lvl="4"/>
            <a:r>
              <a:rPr lang="en-US" sz="2800" dirty="0" err="1">
                <a:solidFill>
                  <a:srgbClr val="071D01"/>
                </a:solidFill>
                <a:latin typeface="Times" pitchFamily="18" charset="0"/>
                <a:cs typeface="Times" pitchFamily="18" charset="0"/>
              </a:rPr>
              <a:t>div.fixed</a:t>
            </a:r>
            <a:r>
              <a:rPr lang="en-US" sz="2800" dirty="0">
                <a:solidFill>
                  <a:srgbClr val="071D01"/>
                </a:solidFill>
                <a:latin typeface="Times" pitchFamily="18" charset="0"/>
                <a:cs typeface="Times" pitchFamily="18" charset="0"/>
              </a:rPr>
              <a:t> </a:t>
            </a:r>
          </a:p>
          <a:p>
            <a:pPr lvl="4"/>
            <a:r>
              <a:rPr lang="en-US" sz="2800" dirty="0">
                <a:solidFill>
                  <a:srgbClr val="071D01"/>
                </a:solidFill>
                <a:latin typeface="Times" pitchFamily="18" charset="0"/>
                <a:cs typeface="Times" pitchFamily="18" charset="0"/>
              </a:rPr>
              <a:t>{</a:t>
            </a:r>
          </a:p>
          <a:p>
            <a:pPr lvl="4"/>
            <a:r>
              <a:rPr lang="en-US" sz="2800" dirty="0">
                <a:solidFill>
                  <a:srgbClr val="071D01"/>
                </a:solidFill>
                <a:latin typeface="Times" pitchFamily="18" charset="0"/>
                <a:cs typeface="Times" pitchFamily="18" charset="0"/>
              </a:rPr>
              <a:t>    position: fixed;</a:t>
            </a:r>
          </a:p>
          <a:p>
            <a:pPr lvl="4"/>
            <a:r>
              <a:rPr lang="en-US" sz="2800" dirty="0">
                <a:solidFill>
                  <a:srgbClr val="071D01"/>
                </a:solidFill>
                <a:latin typeface="Times" pitchFamily="18" charset="0"/>
                <a:cs typeface="Times" pitchFamily="18" charset="0"/>
              </a:rPr>
              <a:t>    bottom: 0;</a:t>
            </a:r>
          </a:p>
          <a:p>
            <a:pPr lvl="4"/>
            <a:r>
              <a:rPr lang="en-US" sz="2800" dirty="0">
                <a:solidFill>
                  <a:srgbClr val="071D01"/>
                </a:solidFill>
                <a:latin typeface="Times" pitchFamily="18" charset="0"/>
                <a:cs typeface="Times" pitchFamily="18" charset="0"/>
              </a:rPr>
              <a:t>    right: 0;</a:t>
            </a:r>
          </a:p>
          <a:p>
            <a:pPr lvl="4"/>
            <a:r>
              <a:rPr lang="en-US" sz="2800" dirty="0">
                <a:solidFill>
                  <a:srgbClr val="071D01"/>
                </a:solidFill>
                <a:latin typeface="Times" pitchFamily="18" charset="0"/>
                <a:cs typeface="Times" pitchFamily="18" charset="0"/>
              </a:rPr>
              <a:t>    width: 300px;</a:t>
            </a:r>
          </a:p>
          <a:p>
            <a:pPr lvl="4"/>
            <a:r>
              <a:rPr lang="en-US" sz="2800" dirty="0">
                <a:solidFill>
                  <a:srgbClr val="071D01"/>
                </a:solidFill>
                <a:latin typeface="Times" pitchFamily="18" charset="0"/>
                <a:cs typeface="Times" pitchFamily="18" charset="0"/>
              </a:rPr>
              <a:t>    border: 3px solid #73AD21;</a:t>
            </a:r>
          </a:p>
          <a:p>
            <a:pPr lvl="4"/>
            <a:r>
              <a:rPr lang="en-US" sz="2800" dirty="0">
                <a:solidFill>
                  <a:srgbClr val="071D01"/>
                </a:solidFill>
                <a:latin typeface="Times" pitchFamily="18" charset="0"/>
                <a:cs typeface="Times" pitchFamily="18" charset="0"/>
              </a:rPr>
              <a:t>}</a:t>
            </a:r>
          </a:p>
          <a:p>
            <a:r>
              <a:rPr lang="en-US" sz="2800" dirty="0">
                <a:solidFill>
                  <a:srgbClr val="071D01"/>
                </a:solidFill>
                <a:latin typeface="Times" pitchFamily="18" charset="0"/>
                <a:cs typeface="Times" pitchFamily="18" charset="0"/>
              </a:rPr>
              <a:t>		&lt;/style&gt;</a:t>
            </a:r>
          </a:p>
          <a:p>
            <a:r>
              <a:rPr lang="en-US" sz="2800" dirty="0">
                <a:solidFill>
                  <a:srgbClr val="071D01"/>
                </a:solidFill>
                <a:latin typeface="Times" pitchFamily="18" charset="0"/>
                <a:cs typeface="Times" pitchFamily="18" charset="0"/>
              </a:rPr>
              <a:t>	&lt;/head&gt;</a:t>
            </a:r>
          </a:p>
          <a:p>
            <a:r>
              <a:rPr lang="en-US" sz="2800" dirty="0">
                <a:solidFill>
                  <a:srgbClr val="071D01"/>
                </a:solidFill>
                <a:latin typeface="Times" pitchFamily="18" charset="0"/>
                <a:cs typeface="Times" pitchFamily="18" charset="0"/>
              </a:rPr>
              <a:t>	&lt;body&gt;</a:t>
            </a:r>
          </a:p>
          <a:p>
            <a:endParaRPr lang="en-US" sz="2800" dirty="0">
              <a:solidFill>
                <a:srgbClr val="071D01"/>
              </a:solidFill>
              <a:latin typeface="Times" pitchFamily="18" charset="0"/>
              <a:cs typeface="Times" pitchFamily="18" charset="0"/>
            </a:endParaRPr>
          </a:p>
          <a:p>
            <a:pPr lvl="1"/>
            <a:r>
              <a:rPr lang="en-US" sz="2800" dirty="0">
                <a:solidFill>
                  <a:srgbClr val="071D01"/>
                </a:solidFill>
                <a:latin typeface="Times" pitchFamily="18" charset="0"/>
                <a:cs typeface="Times" pitchFamily="18" charset="0"/>
              </a:rPr>
              <a:t>&lt;h2&gt;position: fixed;&lt;/h2&gt;</a:t>
            </a:r>
          </a:p>
          <a:p>
            <a:pPr lvl="1"/>
            <a:endParaRPr lang="en-US" sz="2800" dirty="0">
              <a:solidFill>
                <a:srgbClr val="071D01"/>
              </a:solidFill>
              <a:latin typeface="Times" pitchFamily="18" charset="0"/>
              <a:cs typeface="Times" pitchFamily="18" charset="0"/>
            </a:endParaRPr>
          </a:p>
          <a:p>
            <a:pPr lvl="1"/>
            <a:r>
              <a:rPr lang="en-US" sz="2800" dirty="0">
                <a:solidFill>
                  <a:srgbClr val="071D01"/>
                </a:solidFill>
                <a:latin typeface="Times" pitchFamily="18" charset="0"/>
                <a:cs typeface="Times" pitchFamily="18" charset="0"/>
              </a:rPr>
              <a:t>&lt;p&gt;An element with position: fixed;&lt;/p&gt;</a:t>
            </a:r>
          </a:p>
          <a:p>
            <a:pPr lvl="1"/>
            <a:r>
              <a:rPr lang="en-US" sz="2800" dirty="0">
                <a:solidFill>
                  <a:srgbClr val="071D01"/>
                </a:solidFill>
                <a:latin typeface="Times" pitchFamily="18" charset="0"/>
                <a:cs typeface="Times" pitchFamily="18" charset="0"/>
              </a:rPr>
              <a:t>&lt;div class="fixed"&gt;</a:t>
            </a:r>
          </a:p>
          <a:p>
            <a:pPr lvl="1"/>
            <a:r>
              <a:rPr lang="en-US" sz="2800" dirty="0">
                <a:solidFill>
                  <a:srgbClr val="071D01"/>
                </a:solidFill>
                <a:latin typeface="Times" pitchFamily="18" charset="0"/>
                <a:cs typeface="Times" pitchFamily="18" charset="0"/>
              </a:rPr>
              <a:t>This div element has position: fixed;</a:t>
            </a:r>
          </a:p>
          <a:p>
            <a:pPr lvl="1"/>
            <a:r>
              <a:rPr lang="en-US" sz="2800" dirty="0">
                <a:solidFill>
                  <a:srgbClr val="071D01"/>
                </a:solidFill>
                <a:latin typeface="Times" pitchFamily="18" charset="0"/>
                <a:cs typeface="Times" pitchFamily="18" charset="0"/>
              </a:rPr>
              <a:t>&lt;/div&gt;</a:t>
            </a:r>
          </a:p>
          <a:p>
            <a:pPr lvl="1"/>
            <a:r>
              <a:rPr lang="en-US" sz="2800" dirty="0">
                <a:solidFill>
                  <a:srgbClr val="071D01"/>
                </a:solidFill>
                <a:latin typeface="Times" pitchFamily="18" charset="0"/>
                <a:cs typeface="Times" pitchFamily="18" charset="0"/>
              </a:rPr>
              <a:t>&lt;/body&gt;</a:t>
            </a:r>
          </a:p>
          <a:p>
            <a:r>
              <a:rPr lang="en-US" sz="2800" dirty="0">
                <a:solidFill>
                  <a:srgbClr val="071D01"/>
                </a:solidFill>
                <a:latin typeface="Times" pitchFamily="18" charset="0"/>
                <a:cs typeface="Times" pitchFamily="18" charset="0"/>
              </a:rPr>
              <a:t>&lt;/html&gt;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27983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0781732"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pitchFamily="18" charset="0"/>
                <a:cs typeface="Times" pitchFamily="18" charset="0"/>
              </a:rPr>
              <a:t>ABSOLUTE POSITION</a:t>
            </a:r>
            <a:endParaRPr kumimoji="0" lang="en-US" sz="3600" b="1" i="0" u="none" strike="noStrike" kern="1200" cap="none" spc="0" normalizeH="0" baseline="0" noProof="0" dirty="0">
              <a:ln>
                <a:noFill/>
              </a:ln>
              <a:solidFill>
                <a:srgbClr val="600000"/>
              </a:solidFill>
              <a:effectLst/>
              <a:uLnTx/>
              <a:uFillTx/>
              <a:latin typeface="Times" pitchFamily="18" charset="0"/>
              <a:ea typeface="+mj-ea"/>
              <a:cs typeface="Times"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2"/>
            <a:ext cx="10781731" cy="5679281"/>
          </a:xfrm>
          <a:prstGeom prst="rect">
            <a:avLst/>
          </a:prstGeom>
          <a:noFill/>
          <a:ln w="25400">
            <a:solidFill>
              <a:srgbClr val="860000"/>
            </a:solidFill>
          </a:ln>
        </p:spPr>
        <p:txBody>
          <a:bodyPr vert="horz" lIns="91440" tIns="45720" rIns="91440" bIns="45720" rtlCol="0">
            <a:normAutofit/>
          </a:bodyPr>
          <a:lstStyle/>
          <a:p>
            <a:pPr algn="ctr">
              <a:lnSpc>
                <a:spcPct val="150000"/>
              </a:lnSpc>
            </a:pPr>
            <a:r>
              <a:rPr lang="en-US" sz="2800" b="1" dirty="0">
                <a:solidFill>
                  <a:srgbClr val="071D01"/>
                </a:solidFill>
                <a:latin typeface="Times" pitchFamily="18" charset="0"/>
                <a:cs typeface="Times" pitchFamily="18" charset="0"/>
              </a:rPr>
              <a:t>position: absolute;</a:t>
            </a:r>
          </a:p>
          <a:p>
            <a:pPr algn="just">
              <a:lnSpc>
                <a:spcPct val="150000"/>
              </a:lnSpc>
              <a:buFont typeface="Wingdings" pitchFamily="2" charset="2"/>
              <a:buChar char="Ø"/>
            </a:pPr>
            <a:r>
              <a:rPr lang="en-US" sz="2800" dirty="0">
                <a:solidFill>
                  <a:srgbClr val="071D01"/>
                </a:solidFill>
                <a:latin typeface="Times" pitchFamily="18" charset="0"/>
                <a:cs typeface="Times" pitchFamily="18" charset="0"/>
              </a:rPr>
              <a:t>Elements with </a:t>
            </a:r>
            <a:r>
              <a:rPr lang="en-US" sz="2800" b="1" dirty="0">
                <a:solidFill>
                  <a:srgbClr val="071D01"/>
                </a:solidFill>
                <a:latin typeface="Times" pitchFamily="18" charset="0"/>
                <a:cs typeface="Times" pitchFamily="18" charset="0"/>
              </a:rPr>
              <a:t>position: absolute;</a:t>
            </a:r>
            <a:r>
              <a:rPr lang="en-US" sz="2800" dirty="0">
                <a:solidFill>
                  <a:srgbClr val="071D01"/>
                </a:solidFill>
                <a:latin typeface="Times" pitchFamily="18" charset="0"/>
                <a:cs typeface="Times" pitchFamily="18" charset="0"/>
              </a:rPr>
              <a:t> are positioned relative to their parent elements.</a:t>
            </a:r>
          </a:p>
          <a:p>
            <a:pPr algn="just">
              <a:lnSpc>
                <a:spcPct val="150000"/>
              </a:lnSpc>
              <a:buFont typeface="Wingdings" pitchFamily="2" charset="2"/>
              <a:buChar char="Ø"/>
            </a:pPr>
            <a:r>
              <a:rPr lang="en-US" sz="2800" dirty="0">
                <a:solidFill>
                  <a:srgbClr val="071D01"/>
                </a:solidFill>
                <a:latin typeface="Times" pitchFamily="18" charset="0"/>
                <a:cs typeface="Times" pitchFamily="18" charset="0"/>
              </a:rPr>
              <a:t>That means that the parent element has to have a position value other than </a:t>
            </a:r>
            <a:r>
              <a:rPr lang="en-US" sz="2800" b="1" dirty="0">
                <a:solidFill>
                  <a:srgbClr val="071D01"/>
                </a:solidFill>
                <a:latin typeface="Times" pitchFamily="18" charset="0"/>
                <a:cs typeface="Times" pitchFamily="18" charset="0"/>
              </a:rPr>
              <a:t>position: static.</a:t>
            </a:r>
          </a:p>
          <a:p>
            <a:pPr algn="just">
              <a:lnSpc>
                <a:spcPct val="150000"/>
              </a:lnSpc>
              <a:buFont typeface="Wingdings" pitchFamily="2" charset="2"/>
              <a:buChar char="Ø"/>
            </a:pPr>
            <a:r>
              <a:rPr lang="en-US" sz="2800" dirty="0">
                <a:solidFill>
                  <a:srgbClr val="071D01"/>
                </a:solidFill>
                <a:latin typeface="Times" pitchFamily="18" charset="0"/>
                <a:cs typeface="Times" pitchFamily="18" charset="0"/>
              </a:rPr>
              <a:t>However; if an absolute positioned element has no positioned ancestors, it uses the document body, and moves along with page scrolling.</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5" name="Rectangle 14"/>
          <p:cNvSpPr/>
          <p:nvPr/>
        </p:nvSpPr>
        <p:spPr>
          <a:xfrm>
            <a:off x="11191167" y="0"/>
            <a:ext cx="259311" cy="551369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1450472" y="0"/>
            <a:ext cx="741528" cy="5882183"/>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1191166" y="5915467"/>
            <a:ext cx="1000833" cy="915237"/>
          </a:xfrm>
          <a:prstGeom prst="rect">
            <a:avLst/>
          </a:prstGeom>
          <a:noFill/>
          <a:ln>
            <a:solidFill>
              <a:srgbClr val="860000"/>
            </a:solidFill>
          </a:ln>
        </p:spPr>
      </p:pic>
    </p:spTree>
    <p:extLst>
      <p:ext uri="{BB962C8B-B14F-4D97-AF65-F5344CB8AC3E}">
        <p14:creationId xmlns:p14="http://schemas.microsoft.com/office/powerpoint/2010/main" val="1269025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pitchFamily="18" charset="0"/>
                <a:cs typeface="Times" pitchFamily="18" charset="0"/>
              </a:rPr>
              <a:t>ABSOLUTE POSITION</a:t>
            </a: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3"/>
            <a:ext cx="11122927" cy="5073974"/>
          </a:xfrm>
          <a:prstGeom prst="rect">
            <a:avLst/>
          </a:prstGeom>
          <a:noFill/>
          <a:ln w="25400">
            <a:solidFill>
              <a:srgbClr val="860000"/>
            </a:solidFill>
          </a:ln>
        </p:spPr>
        <p:txBody>
          <a:bodyPr vert="horz" lIns="91440" tIns="45720" rIns="91440" bIns="45720" rtlCol="0">
            <a:noAutofit/>
          </a:bodyPr>
          <a:lstStyle/>
          <a:p>
            <a:r>
              <a:rPr lang="en-US" sz="2000" dirty="0">
                <a:solidFill>
                  <a:srgbClr val="071D01"/>
                </a:solidFill>
                <a:latin typeface="Times New Roman" pitchFamily="18" charset="0"/>
                <a:cs typeface="Times New Roman" pitchFamily="18" charset="0"/>
              </a:rPr>
              <a:t>&lt;html&gt;</a:t>
            </a:r>
          </a:p>
          <a:p>
            <a:r>
              <a:rPr lang="en-US" sz="2000" dirty="0">
                <a:solidFill>
                  <a:srgbClr val="071D01"/>
                </a:solidFill>
                <a:latin typeface="Times New Roman" pitchFamily="18" charset="0"/>
                <a:cs typeface="Times New Roman" pitchFamily="18" charset="0"/>
              </a:rPr>
              <a:t>	&lt;head&gt;</a:t>
            </a:r>
          </a:p>
          <a:p>
            <a:r>
              <a:rPr lang="en-US" sz="2000" dirty="0">
                <a:solidFill>
                  <a:srgbClr val="071D01"/>
                </a:solidFill>
                <a:latin typeface="Times New Roman" pitchFamily="18" charset="0"/>
                <a:cs typeface="Times New Roman" pitchFamily="18" charset="0"/>
              </a:rPr>
              <a:t>		&lt;style&gt;</a:t>
            </a:r>
          </a:p>
          <a:p>
            <a:r>
              <a:rPr lang="en-US" sz="1600" b="1" dirty="0" err="1">
                <a:solidFill>
                  <a:srgbClr val="071D01"/>
                </a:solidFill>
                <a:latin typeface="Times New Roman" pitchFamily="18" charset="0"/>
                <a:cs typeface="Times New Roman" pitchFamily="18" charset="0"/>
              </a:rPr>
              <a:t>div.relative</a:t>
            </a:r>
            <a:r>
              <a:rPr lang="en-US" sz="1600" b="1" dirty="0">
                <a:solidFill>
                  <a:srgbClr val="071D01"/>
                </a:solidFill>
                <a:latin typeface="Times New Roman" pitchFamily="18" charset="0"/>
                <a:cs typeface="Times New Roman" pitchFamily="18" charset="0"/>
              </a:rPr>
              <a:t> {    position: relative;    width: 400px;    height: 200px;    border: 3px solid #73AD21;} </a:t>
            </a:r>
          </a:p>
          <a:p>
            <a:r>
              <a:rPr lang="en-US" sz="1600" b="1" dirty="0" err="1">
                <a:solidFill>
                  <a:srgbClr val="071D01"/>
                </a:solidFill>
                <a:latin typeface="Times New Roman" pitchFamily="18" charset="0"/>
                <a:cs typeface="Times New Roman" pitchFamily="18" charset="0"/>
              </a:rPr>
              <a:t>div.absolute</a:t>
            </a:r>
            <a:r>
              <a:rPr lang="en-US" sz="1600" b="1" dirty="0">
                <a:solidFill>
                  <a:srgbClr val="071D01"/>
                </a:solidFill>
                <a:latin typeface="Times New Roman" pitchFamily="18" charset="0"/>
                <a:cs typeface="Times New Roman" pitchFamily="18" charset="0"/>
              </a:rPr>
              <a:t> {    position: absolute;    top: 80px;    right: 0;    width: 200px;    height: 100px;    border: 3px solid #73AD21;}</a:t>
            </a:r>
          </a:p>
          <a:p>
            <a:r>
              <a:rPr lang="en-US" sz="2000" dirty="0">
                <a:solidFill>
                  <a:srgbClr val="071D01"/>
                </a:solidFill>
                <a:latin typeface="Times New Roman" pitchFamily="18" charset="0"/>
                <a:cs typeface="Times New Roman" pitchFamily="18" charset="0"/>
              </a:rPr>
              <a:t>		&lt;/style&gt;</a:t>
            </a:r>
          </a:p>
          <a:p>
            <a:r>
              <a:rPr lang="en-US" sz="2000" dirty="0">
                <a:solidFill>
                  <a:srgbClr val="071D01"/>
                </a:solidFill>
                <a:latin typeface="Times New Roman" pitchFamily="18" charset="0"/>
                <a:cs typeface="Times New Roman" pitchFamily="18" charset="0"/>
              </a:rPr>
              <a:t>	&lt;/head&gt;</a:t>
            </a:r>
          </a:p>
          <a:p>
            <a:r>
              <a:rPr lang="en-US" sz="2000" dirty="0">
                <a:solidFill>
                  <a:srgbClr val="071D01"/>
                </a:solidFill>
                <a:latin typeface="Times New Roman" pitchFamily="18" charset="0"/>
                <a:cs typeface="Times New Roman" pitchFamily="18" charset="0"/>
              </a:rPr>
              <a:t>	&lt;body&gt;</a:t>
            </a:r>
          </a:p>
          <a:p>
            <a:r>
              <a:rPr lang="en-US" sz="2000" dirty="0">
                <a:solidFill>
                  <a:srgbClr val="071D01"/>
                </a:solidFill>
                <a:latin typeface="Times New Roman" pitchFamily="18" charset="0"/>
                <a:cs typeface="Times New Roman" pitchFamily="18" charset="0"/>
              </a:rPr>
              <a:t>	&lt;h2&gt;position: absolute;&lt;/h2&gt;</a:t>
            </a:r>
          </a:p>
          <a:p>
            <a:r>
              <a:rPr lang="en-US" sz="2000" dirty="0">
                <a:solidFill>
                  <a:srgbClr val="071D01"/>
                </a:solidFill>
                <a:latin typeface="Times New Roman" pitchFamily="18" charset="0"/>
                <a:cs typeface="Times New Roman" pitchFamily="18" charset="0"/>
              </a:rPr>
              <a:t>	&lt;p&gt;An element with position: absolute; is positioned relative to the nearest positioned ancestor.&lt;/p&gt;</a:t>
            </a:r>
          </a:p>
          <a:p>
            <a:r>
              <a:rPr lang="en-US" sz="2000" dirty="0">
                <a:solidFill>
                  <a:srgbClr val="071D01"/>
                </a:solidFill>
                <a:latin typeface="Times New Roman" pitchFamily="18" charset="0"/>
                <a:cs typeface="Times New Roman" pitchFamily="18" charset="0"/>
              </a:rPr>
              <a:t>	&lt;div class="relative"&gt;This div element has position: relative;</a:t>
            </a:r>
          </a:p>
          <a:p>
            <a:r>
              <a:rPr lang="en-US" sz="2000" dirty="0">
                <a:solidFill>
                  <a:srgbClr val="071D01"/>
                </a:solidFill>
                <a:latin typeface="Times New Roman" pitchFamily="18" charset="0"/>
                <a:cs typeface="Times New Roman" pitchFamily="18" charset="0"/>
              </a:rPr>
              <a:t> 	 &lt;div class="absolute"&gt;This div element has position: absolute;&lt;/div&gt;</a:t>
            </a:r>
          </a:p>
          <a:p>
            <a:r>
              <a:rPr lang="en-US" sz="2000" dirty="0">
                <a:solidFill>
                  <a:srgbClr val="071D01"/>
                </a:solidFill>
                <a:latin typeface="Times New Roman" pitchFamily="18" charset="0"/>
                <a:cs typeface="Times New Roman" pitchFamily="18" charset="0"/>
              </a:rPr>
              <a:t>	&lt;/div&gt;</a:t>
            </a:r>
          </a:p>
          <a:p>
            <a:r>
              <a:rPr lang="en-US" sz="2000" dirty="0">
                <a:solidFill>
                  <a:srgbClr val="071D01"/>
                </a:solidFill>
                <a:latin typeface="Times New Roman" pitchFamily="18" charset="0"/>
                <a:cs typeface="Times New Roman" pitchFamily="18" charset="0"/>
              </a:rPr>
              <a:t>	&lt;/body&gt;</a:t>
            </a:r>
          </a:p>
          <a:p>
            <a:r>
              <a:rPr lang="en-US" sz="2000" dirty="0">
                <a:solidFill>
                  <a:srgbClr val="071D01"/>
                </a:solidFill>
                <a:latin typeface="Times New Roman" pitchFamily="18" charset="0"/>
                <a:cs typeface="Times New Roman" pitchFamily="18" charset="0"/>
              </a:rPr>
              <a:t>&lt;/html&gt;</a:t>
            </a: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358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US" sz="3600" b="1" dirty="0">
                <a:solidFill>
                  <a:srgbClr val="600000"/>
                </a:solidFill>
                <a:latin typeface="Times New Roman" pitchFamily="18" charset="0"/>
                <a:cs typeface="Times New Roman" pitchFamily="18" charset="0"/>
              </a:rPr>
              <a:t>CSS Layout - Float and Clear</a:t>
            </a:r>
            <a:endParaRPr kumimoji="0" lang="en-US" sz="3600" b="1" i="0" u="none" strike="noStrike" kern="1200" cap="none" spc="0" normalizeH="0" baseline="0" noProof="0" dirty="0">
              <a:ln>
                <a:noFill/>
              </a:ln>
              <a:solidFill>
                <a:srgbClr val="600000"/>
              </a:solidFill>
              <a:effectLst/>
              <a:uLnTx/>
              <a:uFillTx/>
              <a:latin typeface="Times New Roman" pitchFamily="18" charset="0"/>
              <a:ea typeface="+mj-ea"/>
              <a:cs typeface="Times New Roman" pitchFamily="18" charset="0"/>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a:bodyPr>
          <a:lstStyle/>
          <a:p>
            <a:pPr marL="457200" indent="-457200" algn="just">
              <a:lnSpc>
                <a:spcPct val="300000"/>
              </a:lnSpc>
              <a:buFont typeface="Wingdings" pitchFamily="2" charset="2"/>
              <a:buChar char="Ø"/>
            </a:pPr>
            <a:r>
              <a:rPr lang="en-US" sz="2800" dirty="0">
                <a:solidFill>
                  <a:srgbClr val="071D01"/>
                </a:solidFill>
                <a:latin typeface="Times New Roman" pitchFamily="18" charset="0"/>
                <a:cs typeface="Times New Roman" pitchFamily="18" charset="0"/>
              </a:rPr>
              <a:t>The float property specifies whether or not an element should float.</a:t>
            </a:r>
          </a:p>
          <a:p>
            <a:pPr marL="457200" indent="-457200" algn="just">
              <a:lnSpc>
                <a:spcPct val="300000"/>
              </a:lnSpc>
              <a:buFont typeface="Wingdings" pitchFamily="2" charset="2"/>
              <a:buChar char="Ø"/>
            </a:pPr>
            <a:r>
              <a:rPr lang="en-US" sz="2800" dirty="0">
                <a:solidFill>
                  <a:srgbClr val="071D01"/>
                </a:solidFill>
                <a:latin typeface="Times New Roman" pitchFamily="18" charset="0"/>
                <a:cs typeface="Times New Roman" pitchFamily="18" charset="0"/>
              </a:rPr>
              <a:t>The clear property is used to control the behavior of floating elements.</a:t>
            </a:r>
          </a:p>
          <a:p>
            <a:pPr marL="457200" indent="-457200" algn="just">
              <a:lnSpc>
                <a:spcPct val="300000"/>
              </a:lnSpc>
              <a:buFont typeface="Wingdings" pitchFamily="2" charset="2"/>
              <a:buChar char="Ø"/>
            </a:pPr>
            <a:r>
              <a:rPr lang="en-US" sz="2800" dirty="0">
                <a:solidFill>
                  <a:srgbClr val="071D01"/>
                </a:solidFill>
                <a:latin typeface="Times New Roman" pitchFamily="18" charset="0"/>
                <a:cs typeface="Times New Roman" pitchFamily="18" charset="0"/>
              </a:rPr>
              <a:t>The float property can be used to wrap text around images.</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694012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dirty="0">
                <a:solidFill>
                  <a:srgbClr val="600000"/>
                </a:solidFill>
                <a:latin typeface="Times New Roman" pitchFamily="18" charset="0"/>
                <a:cs typeface="Times New Roman" pitchFamily="18" charset="0"/>
              </a:rPr>
              <a:t>CSS Layout - Float and Clear</a:t>
            </a: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840" y="1452344"/>
            <a:ext cx="10192460" cy="418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3044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lvl="0" algn="ctr"/>
            <a:r>
              <a:rPr lang="en-US" sz="3600" b="1" dirty="0">
                <a:solidFill>
                  <a:srgbClr val="600000"/>
                </a:solidFill>
                <a:latin typeface="Times New Roman" pitchFamily="18" charset="0"/>
                <a:cs typeface="Times New Roman" pitchFamily="18" charset="0"/>
              </a:rPr>
              <a:t>CSS Layout - Float and Clear</a:t>
            </a:r>
            <a:endParaRPr lang="en-US" sz="3600" b="1" dirty="0">
              <a:solidFill>
                <a:srgbClr val="860000"/>
              </a:solidFill>
              <a:latin typeface="Marcellus"/>
            </a:endParaRP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a:bodyPr>
          <a:lstStyle/>
          <a:p>
            <a:pPr marL="457200" indent="-457200" algn="just">
              <a:lnSpc>
                <a:spcPct val="250000"/>
              </a:lnSpc>
              <a:buFont typeface="Wingdings" pitchFamily="2" charset="2"/>
              <a:buChar char="Ø"/>
            </a:pPr>
            <a:r>
              <a:rPr lang="en-US" sz="2800" dirty="0">
                <a:solidFill>
                  <a:srgbClr val="071D01"/>
                </a:solidFill>
                <a:latin typeface="Times New Roman" pitchFamily="18" charset="0"/>
                <a:cs typeface="Times New Roman" pitchFamily="18" charset="0"/>
              </a:rPr>
              <a:t>The clear property is used to control the behavior of floating elements.</a:t>
            </a:r>
          </a:p>
          <a:p>
            <a:pPr marL="457200" indent="-457200" algn="just">
              <a:lnSpc>
                <a:spcPct val="250000"/>
              </a:lnSpc>
              <a:buFont typeface="Wingdings" pitchFamily="2" charset="2"/>
              <a:buChar char="Ø"/>
            </a:pPr>
            <a:r>
              <a:rPr lang="en-US" sz="2800" dirty="0">
                <a:solidFill>
                  <a:srgbClr val="071D01"/>
                </a:solidFill>
                <a:latin typeface="Times New Roman" pitchFamily="18" charset="0"/>
                <a:cs typeface="Times New Roman" pitchFamily="18" charset="0"/>
              </a:rPr>
              <a:t>Elements after a floating element will flow around it. To avoid this, use the clear property.</a:t>
            </a:r>
          </a:p>
          <a:p>
            <a:pPr marL="457200" indent="-457200" algn="just">
              <a:lnSpc>
                <a:spcPct val="250000"/>
              </a:lnSpc>
              <a:buFont typeface="Wingdings" pitchFamily="2" charset="2"/>
              <a:buChar char="Ø"/>
            </a:pPr>
            <a:r>
              <a:rPr lang="en-US" sz="2800" dirty="0">
                <a:solidFill>
                  <a:srgbClr val="071D01"/>
                </a:solidFill>
                <a:latin typeface="Times New Roman" pitchFamily="18" charset="0"/>
                <a:cs typeface="Times New Roman" pitchFamily="18" charset="0"/>
              </a:rPr>
              <a:t>The clear property specifies on which sides of an element floating elements are not allowed to float.</a:t>
            </a:r>
          </a:p>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591163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18866" y="204716"/>
            <a:ext cx="11133650" cy="660699"/>
          </a:xfrm>
          <a:ln w="25400">
            <a:solidFill>
              <a:srgbClr val="860000"/>
            </a:solidFill>
          </a:ln>
        </p:spPr>
        <p:txBody>
          <a:bodyPr>
            <a:normAutofit/>
          </a:bodyPr>
          <a:lstStyle/>
          <a:p>
            <a:pPr algn="ctr"/>
            <a:r>
              <a:rPr lang="en-IN" sz="3600" b="1" dirty="0">
                <a:solidFill>
                  <a:srgbClr val="860000"/>
                </a:solidFill>
                <a:latin typeface="Times New Roman" pitchFamily="18" charset="0"/>
                <a:cs typeface="Times New Roman" pitchFamily="18" charset="0"/>
              </a:rPr>
              <a:t>CSS Grid Layout</a:t>
            </a:r>
            <a:endParaRPr lang="en-US" sz="3600" b="1" dirty="0">
              <a:solidFill>
                <a:srgbClr val="860000"/>
              </a:solidFill>
              <a:latin typeface="Times New Roman" pitchFamily="18" charset="0"/>
              <a:cs typeface="Times New Roman" pitchFamily="18" charset="0"/>
            </a:endParaRPr>
          </a:p>
        </p:txBody>
      </p:sp>
      <p:pic>
        <p:nvPicPr>
          <p:cNvPr id="1027" name="Picture 3" descr="C:\Users\GANGA\Desktop\download.jpg"/>
          <p:cNvPicPr>
            <a:picLocks noChangeAspect="1" noChangeArrowheads="1"/>
          </p:cNvPicPr>
          <p:nvPr/>
        </p:nvPicPr>
        <p:blipFill>
          <a:blip r:embed="rId2"/>
          <a:srcRect/>
          <a:stretch>
            <a:fillRect/>
          </a:stretch>
        </p:blipFill>
        <p:spPr bwMode="auto">
          <a:xfrm>
            <a:off x="0" y="6194738"/>
            <a:ext cx="586853" cy="663262"/>
          </a:xfrm>
          <a:prstGeom prst="rect">
            <a:avLst/>
          </a:prstGeom>
          <a:noFill/>
          <a:ln>
            <a:solidFill>
              <a:srgbClr val="860000"/>
            </a:solidFill>
          </a:ln>
        </p:spPr>
      </p:pic>
      <p:sp>
        <p:nvSpPr>
          <p:cNvPr id="10" name="Rectangle 9"/>
          <p:cNvSpPr/>
          <p:nvPr/>
        </p:nvSpPr>
        <p:spPr>
          <a:xfrm>
            <a:off x="0" y="0"/>
            <a:ext cx="587829" cy="6194738"/>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86853" y="0"/>
            <a:ext cx="183266" cy="542108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ubtitle 2">
            <a:extLst>
              <a:ext uri="{FF2B5EF4-FFF2-40B4-BE49-F238E27FC236}">
                <a16:creationId xmlns:a16="http://schemas.microsoft.com/office/drawing/2014/main" id="{6D9CEDE5-3115-42FB-90A3-0727B8EEECC0}"/>
              </a:ext>
            </a:extLst>
          </p:cNvPr>
          <p:cNvSpPr txBox="1">
            <a:spLocks/>
          </p:cNvSpPr>
          <p:nvPr/>
        </p:nvSpPr>
        <p:spPr>
          <a:xfrm>
            <a:off x="818866" y="914400"/>
            <a:ext cx="11136573" cy="5795493"/>
          </a:xfrm>
          <a:prstGeom prst="rect">
            <a:avLst/>
          </a:prstGeom>
          <a:noFill/>
          <a:ln w="25400">
            <a:solidFill>
              <a:srgbClr val="860000"/>
            </a:solidFill>
          </a:ln>
        </p:spPr>
        <p:txBody>
          <a:bodyPr vert="horz" lIns="91440" tIns="45720" rIns="91440" bIns="45720" rtlCol="0">
            <a:normAutofit/>
          </a:bodyPr>
          <a:lstStyle/>
          <a:p>
            <a:pPr marL="457200" lvl="0" indent="-457200" algn="just" defTabSz="914400">
              <a:lnSpc>
                <a:spcPct val="200000"/>
              </a:lnSpc>
              <a:spcBef>
                <a:spcPts val="1000"/>
              </a:spcBef>
              <a:buFont typeface="Wingdings" pitchFamily="2" charset="2"/>
              <a:buChar char="Ø"/>
              <a:defRPr/>
            </a:pPr>
            <a:r>
              <a:rPr lang="en-US" sz="2800" dirty="0">
                <a:solidFill>
                  <a:srgbClr val="071D01"/>
                </a:solidFill>
                <a:latin typeface="Times New Roman" pitchFamily="18" charset="0"/>
                <a:cs typeface="Times New Roman" pitchFamily="18" charset="0"/>
              </a:rPr>
              <a:t>The CSS Grid Layout Module offers a grid-based layout system, with rows and columns, making it easier to design web pages without having to use floats and positioning.</a:t>
            </a:r>
          </a:p>
          <a:p>
            <a:pPr marL="457200" indent="-457200" algn="just">
              <a:lnSpc>
                <a:spcPct val="200000"/>
              </a:lnSpc>
              <a:buFont typeface="Wingdings" pitchFamily="2" charset="2"/>
              <a:buChar char="Ø"/>
            </a:pPr>
            <a:r>
              <a:rPr lang="en-US" sz="2800" b="1" dirty="0">
                <a:solidFill>
                  <a:srgbClr val="860000"/>
                </a:solidFill>
                <a:latin typeface="Times New Roman" pitchFamily="18" charset="0"/>
                <a:cs typeface="Times New Roman" pitchFamily="18" charset="0"/>
              </a:rPr>
              <a:t>Display property is set to grid or inline-grid.</a:t>
            </a:r>
          </a:p>
          <a:p>
            <a:pPr marL="457200" indent="-457200" algn="just">
              <a:lnSpc>
                <a:spcPct val="200000"/>
              </a:lnSpc>
              <a:buFont typeface="Wingdings" pitchFamily="2" charset="2"/>
              <a:buChar char="Ø"/>
            </a:pPr>
            <a:r>
              <a:rPr lang="en-US" sz="2800" dirty="0">
                <a:solidFill>
                  <a:srgbClr val="071D01"/>
                </a:solidFill>
                <a:latin typeface="Times New Roman" pitchFamily="18" charset="0"/>
                <a:cs typeface="Times New Roman" pitchFamily="18" charset="0"/>
              </a:rPr>
              <a:t>The </a:t>
            </a:r>
            <a:r>
              <a:rPr lang="en-US" sz="2800" b="1" dirty="0">
                <a:solidFill>
                  <a:srgbClr val="860000"/>
                </a:solidFill>
                <a:latin typeface="Times New Roman" pitchFamily="18" charset="0"/>
                <a:cs typeface="Times New Roman" pitchFamily="18" charset="0"/>
              </a:rPr>
              <a:t>gap property </a:t>
            </a:r>
            <a:r>
              <a:rPr lang="en-US" sz="2800" dirty="0">
                <a:solidFill>
                  <a:srgbClr val="071D01"/>
                </a:solidFill>
                <a:latin typeface="Times New Roman" pitchFamily="18" charset="0"/>
                <a:cs typeface="Times New Roman" pitchFamily="18" charset="0"/>
              </a:rPr>
              <a:t>is a shorthand property for the </a:t>
            </a:r>
            <a:r>
              <a:rPr lang="en-US" sz="2800" b="1" dirty="0">
                <a:solidFill>
                  <a:srgbClr val="860000"/>
                </a:solidFill>
                <a:latin typeface="Times New Roman" pitchFamily="18" charset="0"/>
                <a:cs typeface="Times New Roman" pitchFamily="18" charset="0"/>
              </a:rPr>
              <a:t>row-gap and the column-gap</a:t>
            </a:r>
            <a:r>
              <a:rPr lang="en-US" sz="2800" dirty="0">
                <a:solidFill>
                  <a:srgbClr val="071D01"/>
                </a:solidFill>
                <a:latin typeface="Times New Roman" pitchFamily="18" charset="0"/>
                <a:cs typeface="Times New Roman" pitchFamily="18" charset="0"/>
              </a:rPr>
              <a:t> properties.</a:t>
            </a:r>
          </a:p>
          <a:p>
            <a:pPr marL="228600" lvl="0" indent="-228600" algn="just" defTabSz="914400">
              <a:lnSpc>
                <a:spcPct val="150000"/>
              </a:lnSpc>
              <a:spcBef>
                <a:spcPts val="1000"/>
              </a:spcBef>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111294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0781732" cy="660699"/>
          </a:xfrm>
          <a:prstGeom prst="rect">
            <a:avLst/>
          </a:prstGeom>
          <a:ln w="25400">
            <a:solidFill>
              <a:srgbClr val="860000"/>
            </a:solidFill>
          </a:ln>
        </p:spPr>
        <p:txBody>
          <a:bodyPr vert="horz" lIns="91440" tIns="45720" rIns="91440" bIns="45720" rtlCol="0" anchor="ctr">
            <a:normAutofit fontScale="97500"/>
          </a:bodyPr>
          <a:lstStyle/>
          <a:p>
            <a:pPr lvl="0" algn="ctr" defTabSz="914400">
              <a:lnSpc>
                <a:spcPct val="90000"/>
              </a:lnSpc>
              <a:spcBef>
                <a:spcPct val="0"/>
              </a:spcBef>
              <a:defRPr/>
            </a:pPr>
            <a:r>
              <a:rPr lang="en-IN" sz="3600" b="1" dirty="0">
                <a:solidFill>
                  <a:srgbClr val="860000"/>
                </a:solidFill>
                <a:latin typeface="Times New Roman" pitchFamily="18" charset="0"/>
                <a:cs typeface="Times New Roman" pitchFamily="18" charset="0"/>
              </a:rPr>
              <a:t>CSS Grid Layout</a:t>
            </a:r>
            <a:endParaRPr kumimoji="0" lang="en-US" sz="3600" b="1" i="0" u="none" strike="noStrike" kern="1200" cap="none" spc="0" normalizeH="0" baseline="0" noProof="0" dirty="0">
              <a:ln>
                <a:noFill/>
              </a:ln>
              <a:solidFill>
                <a:srgbClr val="860000"/>
              </a:solidFill>
              <a:effectLst/>
              <a:uLnTx/>
              <a:uFillTx/>
              <a:latin typeface="Marcellus"/>
              <a:ea typeface="+mj-ea"/>
              <a:cs typeface="+mj-c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1017732"/>
            <a:ext cx="10781731" cy="5679281"/>
          </a:xfrm>
          <a:prstGeom prst="rect">
            <a:avLst/>
          </a:prstGeom>
          <a:noFill/>
          <a:ln w="25400">
            <a:solidFill>
              <a:srgbClr val="860000"/>
            </a:solidFill>
          </a:ln>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5" name="Rectangle 14"/>
          <p:cNvSpPr/>
          <p:nvPr/>
        </p:nvSpPr>
        <p:spPr>
          <a:xfrm>
            <a:off x="11191167" y="0"/>
            <a:ext cx="259311" cy="5513696"/>
          </a:xfrm>
          <a:prstGeom prst="rect">
            <a:avLst/>
          </a:prstGeom>
          <a:solidFill>
            <a:srgbClr val="8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1450472" y="0"/>
            <a:ext cx="741528" cy="5882183"/>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1191166" y="5915467"/>
            <a:ext cx="1000833" cy="915237"/>
          </a:xfrm>
          <a:prstGeom prst="rect">
            <a:avLst/>
          </a:prstGeom>
          <a:noFill/>
          <a:ln>
            <a:solidFill>
              <a:srgbClr val="860000"/>
            </a:solidFill>
          </a:ln>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738" y="1017732"/>
            <a:ext cx="10482262"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3770457"/>
            <a:ext cx="5016500" cy="2629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74377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2" y="204716"/>
            <a:ext cx="11136574"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IN" sz="3600" b="1" dirty="0">
                <a:solidFill>
                  <a:srgbClr val="860000"/>
                </a:solidFill>
                <a:latin typeface="Times New Roman" pitchFamily="18" charset="0"/>
                <a:cs typeface="Times New Roman" pitchFamily="18" charset="0"/>
              </a:rPr>
              <a:t>CSS Grid Layout</a:t>
            </a:r>
            <a:endParaRPr lang="en-US" sz="3600" b="1" dirty="0">
              <a:solidFill>
                <a:srgbClr val="860000"/>
              </a:solidFill>
              <a:latin typeface="Marcellu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214572" y="1017733"/>
            <a:ext cx="11122927" cy="5073974"/>
          </a:xfrm>
          <a:prstGeom prst="rect">
            <a:avLst/>
          </a:prstGeom>
          <a:noFill/>
          <a:ln w="25400">
            <a:solidFill>
              <a:srgbClr val="860000"/>
            </a:solidFill>
          </a:ln>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6" name="Rectangle 15"/>
          <p:cNvSpPr/>
          <p:nvPr/>
        </p:nvSpPr>
        <p:spPr>
          <a:xfrm>
            <a:off x="11477767" y="0"/>
            <a:ext cx="714233" cy="6858000"/>
          </a:xfrm>
          <a:prstGeom prst="rect">
            <a:avLst/>
          </a:prstGeom>
          <a:solidFill>
            <a:srgbClr val="071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C:\Users\GANGA\Desktop\download.jpg"/>
          <p:cNvPicPr>
            <a:picLocks noChangeAspect="1" noChangeArrowheads="1"/>
          </p:cNvPicPr>
          <p:nvPr/>
        </p:nvPicPr>
        <p:blipFill>
          <a:blip r:embed="rId2"/>
          <a:srcRect/>
          <a:stretch>
            <a:fillRect/>
          </a:stretch>
        </p:blipFill>
        <p:spPr bwMode="auto">
          <a:xfrm>
            <a:off x="163772" y="6209730"/>
            <a:ext cx="778199" cy="593679"/>
          </a:xfrm>
          <a:prstGeom prst="rect">
            <a:avLst/>
          </a:prstGeom>
          <a:noFill/>
          <a:ln>
            <a:solidFill>
              <a:srgbClr val="860000"/>
            </a:solidFill>
          </a:ln>
        </p:spPr>
      </p:pic>
      <p:sp>
        <p:nvSpPr>
          <p:cNvPr id="8" name="Rectangle 7"/>
          <p:cNvSpPr/>
          <p:nvPr/>
        </p:nvSpPr>
        <p:spPr>
          <a:xfrm>
            <a:off x="3346973" y="6209731"/>
            <a:ext cx="8144442" cy="648269"/>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646389" y="6209730"/>
            <a:ext cx="700584" cy="64827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762000" y="1181100"/>
            <a:ext cx="4267200" cy="4533900"/>
          </a:xfrm>
          <a:prstGeom prst="rect">
            <a:avLst/>
          </a:prstGeom>
          <a:noFill/>
          <a:ln w="38100">
            <a:solidFill>
              <a:srgbClr val="071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IN" b="1" dirty="0">
                <a:solidFill>
                  <a:srgbClr val="071D01"/>
                </a:solidFill>
                <a:latin typeface="Times New Roman" pitchFamily="18" charset="0"/>
                <a:cs typeface="Times New Roman" pitchFamily="18" charset="0"/>
              </a:rPr>
              <a:t>.grid-container </a:t>
            </a:r>
          </a:p>
          <a:p>
            <a:pPr>
              <a:lnSpc>
                <a:spcPct val="200000"/>
              </a:lnSpc>
            </a:pPr>
            <a:r>
              <a:rPr lang="en-IN" b="1" dirty="0">
                <a:solidFill>
                  <a:srgbClr val="071D01"/>
                </a:solidFill>
                <a:latin typeface="Times New Roman" pitchFamily="18" charset="0"/>
                <a:cs typeface="Times New Roman" pitchFamily="18" charset="0"/>
              </a:rPr>
              <a:t>{</a:t>
            </a:r>
          </a:p>
          <a:p>
            <a:pPr>
              <a:lnSpc>
                <a:spcPct val="200000"/>
              </a:lnSpc>
            </a:pPr>
            <a:r>
              <a:rPr lang="en-IN" b="1" dirty="0">
                <a:solidFill>
                  <a:srgbClr val="071D01"/>
                </a:solidFill>
                <a:latin typeface="Times New Roman" pitchFamily="18" charset="0"/>
                <a:cs typeface="Times New Roman" pitchFamily="18" charset="0"/>
              </a:rPr>
              <a:t>  display: inline-grid;</a:t>
            </a:r>
          </a:p>
          <a:p>
            <a:pPr>
              <a:lnSpc>
                <a:spcPct val="200000"/>
              </a:lnSpc>
            </a:pPr>
            <a:r>
              <a:rPr lang="en-IN" b="1" dirty="0">
                <a:solidFill>
                  <a:srgbClr val="071D01"/>
                </a:solidFill>
                <a:latin typeface="Times New Roman" pitchFamily="18" charset="0"/>
                <a:cs typeface="Times New Roman" pitchFamily="18" charset="0"/>
              </a:rPr>
              <a:t>  grid-template-columns: auto </a:t>
            </a:r>
            <a:r>
              <a:rPr lang="en-IN" b="1" dirty="0" err="1">
                <a:solidFill>
                  <a:srgbClr val="071D01"/>
                </a:solidFill>
                <a:latin typeface="Times New Roman" pitchFamily="18" charset="0"/>
                <a:cs typeface="Times New Roman" pitchFamily="18" charset="0"/>
              </a:rPr>
              <a:t>auto</a:t>
            </a:r>
            <a:r>
              <a:rPr lang="en-IN" b="1" dirty="0">
                <a:solidFill>
                  <a:srgbClr val="071D01"/>
                </a:solidFill>
                <a:latin typeface="Times New Roman" pitchFamily="18" charset="0"/>
                <a:cs typeface="Times New Roman" pitchFamily="18" charset="0"/>
              </a:rPr>
              <a:t> </a:t>
            </a:r>
            <a:r>
              <a:rPr lang="en-IN" b="1" dirty="0" err="1">
                <a:solidFill>
                  <a:srgbClr val="071D01"/>
                </a:solidFill>
                <a:latin typeface="Times New Roman" pitchFamily="18" charset="0"/>
                <a:cs typeface="Times New Roman" pitchFamily="18" charset="0"/>
              </a:rPr>
              <a:t>auto</a:t>
            </a:r>
            <a:r>
              <a:rPr lang="en-IN" b="1" dirty="0">
                <a:solidFill>
                  <a:srgbClr val="071D01"/>
                </a:solidFill>
                <a:latin typeface="Times New Roman" pitchFamily="18" charset="0"/>
                <a:cs typeface="Times New Roman" pitchFamily="18" charset="0"/>
              </a:rPr>
              <a:t>;</a:t>
            </a:r>
          </a:p>
          <a:p>
            <a:pPr>
              <a:lnSpc>
                <a:spcPct val="200000"/>
              </a:lnSpc>
            </a:pPr>
            <a:r>
              <a:rPr lang="en-IN" b="1" dirty="0">
                <a:solidFill>
                  <a:srgbClr val="071D01"/>
                </a:solidFill>
                <a:latin typeface="Times New Roman" pitchFamily="18" charset="0"/>
                <a:cs typeface="Times New Roman" pitchFamily="18" charset="0"/>
              </a:rPr>
              <a:t>  background-</a:t>
            </a:r>
            <a:r>
              <a:rPr lang="en-IN" b="1" dirty="0" err="1">
                <a:solidFill>
                  <a:srgbClr val="071D01"/>
                </a:solidFill>
                <a:latin typeface="Times New Roman" pitchFamily="18" charset="0"/>
                <a:cs typeface="Times New Roman" pitchFamily="18" charset="0"/>
              </a:rPr>
              <a:t>color</a:t>
            </a:r>
            <a:r>
              <a:rPr lang="en-IN" b="1" dirty="0">
                <a:solidFill>
                  <a:srgbClr val="071D01"/>
                </a:solidFill>
                <a:latin typeface="Times New Roman" pitchFamily="18" charset="0"/>
                <a:cs typeface="Times New Roman" pitchFamily="18" charset="0"/>
              </a:rPr>
              <a:t>: #2196F3;</a:t>
            </a:r>
          </a:p>
          <a:p>
            <a:pPr>
              <a:lnSpc>
                <a:spcPct val="200000"/>
              </a:lnSpc>
            </a:pPr>
            <a:r>
              <a:rPr lang="en-IN" b="1" dirty="0">
                <a:solidFill>
                  <a:srgbClr val="071D01"/>
                </a:solidFill>
                <a:latin typeface="Times New Roman" pitchFamily="18" charset="0"/>
                <a:cs typeface="Times New Roman" pitchFamily="18" charset="0"/>
              </a:rPr>
              <a:t>  padding: 10px;</a:t>
            </a:r>
          </a:p>
          <a:p>
            <a:pPr>
              <a:lnSpc>
                <a:spcPct val="200000"/>
              </a:lnSpc>
            </a:pPr>
            <a:r>
              <a:rPr lang="en-IN" b="1" dirty="0">
                <a:solidFill>
                  <a:srgbClr val="071D01"/>
                </a:solidFill>
                <a:latin typeface="Times New Roman" pitchFamily="18" charset="0"/>
                <a:cs typeface="Times New Roman" pitchFamily="18" charset="0"/>
              </a:rPr>
              <a:t>}</a:t>
            </a:r>
          </a:p>
        </p:txBody>
      </p:sp>
      <p:sp>
        <p:nvSpPr>
          <p:cNvPr id="12" name="Rectangle 11"/>
          <p:cNvSpPr/>
          <p:nvPr/>
        </p:nvSpPr>
        <p:spPr>
          <a:xfrm>
            <a:off x="6172200" y="1181100"/>
            <a:ext cx="4267200" cy="4533900"/>
          </a:xfrm>
          <a:prstGeom prst="rect">
            <a:avLst/>
          </a:prstGeom>
          <a:noFill/>
          <a:ln w="38100">
            <a:solidFill>
              <a:srgbClr val="071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IN" b="1" dirty="0">
                <a:solidFill>
                  <a:srgbClr val="071D01"/>
                </a:solidFill>
                <a:latin typeface="Times New Roman" pitchFamily="18" charset="0"/>
                <a:cs typeface="Times New Roman" pitchFamily="18" charset="0"/>
              </a:rPr>
              <a:t>.grid-item </a:t>
            </a:r>
          </a:p>
          <a:p>
            <a:pPr>
              <a:lnSpc>
                <a:spcPct val="200000"/>
              </a:lnSpc>
            </a:pPr>
            <a:r>
              <a:rPr lang="en-IN" b="1" dirty="0">
                <a:solidFill>
                  <a:srgbClr val="071D01"/>
                </a:solidFill>
                <a:latin typeface="Times New Roman" pitchFamily="18" charset="0"/>
                <a:cs typeface="Times New Roman" pitchFamily="18" charset="0"/>
              </a:rPr>
              <a:t>{</a:t>
            </a:r>
          </a:p>
          <a:p>
            <a:pPr>
              <a:lnSpc>
                <a:spcPct val="200000"/>
              </a:lnSpc>
            </a:pPr>
            <a:r>
              <a:rPr lang="en-IN" b="1" dirty="0">
                <a:solidFill>
                  <a:srgbClr val="071D01"/>
                </a:solidFill>
                <a:latin typeface="Times New Roman" pitchFamily="18" charset="0"/>
                <a:cs typeface="Times New Roman" pitchFamily="18" charset="0"/>
              </a:rPr>
              <a:t>  background-</a:t>
            </a:r>
            <a:r>
              <a:rPr lang="en-IN" b="1" dirty="0" err="1">
                <a:solidFill>
                  <a:srgbClr val="071D01"/>
                </a:solidFill>
                <a:latin typeface="Times New Roman" pitchFamily="18" charset="0"/>
                <a:cs typeface="Times New Roman" pitchFamily="18" charset="0"/>
              </a:rPr>
              <a:t>color</a:t>
            </a:r>
            <a:r>
              <a:rPr lang="en-IN" b="1" dirty="0">
                <a:solidFill>
                  <a:srgbClr val="071D01"/>
                </a:solidFill>
                <a:latin typeface="Times New Roman" pitchFamily="18" charset="0"/>
                <a:cs typeface="Times New Roman" pitchFamily="18" charset="0"/>
              </a:rPr>
              <a:t>: </a:t>
            </a:r>
            <a:r>
              <a:rPr lang="en-IN" b="1" dirty="0" err="1">
                <a:solidFill>
                  <a:srgbClr val="071D01"/>
                </a:solidFill>
                <a:latin typeface="Times New Roman" pitchFamily="18" charset="0"/>
                <a:cs typeface="Times New Roman" pitchFamily="18" charset="0"/>
              </a:rPr>
              <a:t>rgb</a:t>
            </a:r>
            <a:r>
              <a:rPr lang="en-IN" b="1" dirty="0">
                <a:solidFill>
                  <a:srgbClr val="071D01"/>
                </a:solidFill>
                <a:latin typeface="Times New Roman" pitchFamily="18" charset="0"/>
                <a:cs typeface="Times New Roman" pitchFamily="18" charset="0"/>
              </a:rPr>
              <a:t>(255, 255, 255);</a:t>
            </a:r>
          </a:p>
          <a:p>
            <a:pPr>
              <a:lnSpc>
                <a:spcPct val="200000"/>
              </a:lnSpc>
            </a:pPr>
            <a:r>
              <a:rPr lang="en-IN" b="1" dirty="0">
                <a:solidFill>
                  <a:srgbClr val="071D01"/>
                </a:solidFill>
                <a:latin typeface="Times New Roman" pitchFamily="18" charset="0"/>
                <a:cs typeface="Times New Roman" pitchFamily="18" charset="0"/>
              </a:rPr>
              <a:t>  border: 1px solid </a:t>
            </a:r>
            <a:r>
              <a:rPr lang="en-IN" b="1" dirty="0" err="1">
                <a:solidFill>
                  <a:srgbClr val="071D01"/>
                </a:solidFill>
                <a:latin typeface="Times New Roman" pitchFamily="18" charset="0"/>
                <a:cs typeface="Times New Roman" pitchFamily="18" charset="0"/>
              </a:rPr>
              <a:t>rgb</a:t>
            </a:r>
            <a:r>
              <a:rPr lang="en-IN" b="1" dirty="0">
                <a:solidFill>
                  <a:srgbClr val="071D01"/>
                </a:solidFill>
                <a:latin typeface="Times New Roman" pitchFamily="18" charset="0"/>
                <a:cs typeface="Times New Roman" pitchFamily="18" charset="0"/>
              </a:rPr>
              <a:t>(0, 0, 0);</a:t>
            </a:r>
          </a:p>
          <a:p>
            <a:pPr>
              <a:lnSpc>
                <a:spcPct val="200000"/>
              </a:lnSpc>
            </a:pPr>
            <a:r>
              <a:rPr lang="en-IN" b="1" dirty="0">
                <a:solidFill>
                  <a:srgbClr val="071D01"/>
                </a:solidFill>
                <a:latin typeface="Times New Roman" pitchFamily="18" charset="0"/>
                <a:cs typeface="Times New Roman" pitchFamily="18" charset="0"/>
              </a:rPr>
              <a:t>  padding: 20px;</a:t>
            </a:r>
          </a:p>
          <a:p>
            <a:pPr>
              <a:lnSpc>
                <a:spcPct val="200000"/>
              </a:lnSpc>
            </a:pPr>
            <a:r>
              <a:rPr lang="en-IN" b="1" dirty="0">
                <a:solidFill>
                  <a:srgbClr val="071D01"/>
                </a:solidFill>
                <a:latin typeface="Times New Roman" pitchFamily="18" charset="0"/>
                <a:cs typeface="Times New Roman" pitchFamily="18" charset="0"/>
              </a:rPr>
              <a:t>  font-size: 30px;</a:t>
            </a:r>
          </a:p>
          <a:p>
            <a:pPr>
              <a:lnSpc>
                <a:spcPct val="200000"/>
              </a:lnSpc>
            </a:pPr>
            <a:r>
              <a:rPr lang="en-IN" b="1" dirty="0">
                <a:solidFill>
                  <a:srgbClr val="071D01"/>
                </a:solidFill>
                <a:latin typeface="Times New Roman" pitchFamily="18" charset="0"/>
                <a:cs typeface="Times New Roman" pitchFamily="18" charset="0"/>
              </a:rPr>
              <a:t>  text-align: </a:t>
            </a:r>
            <a:r>
              <a:rPr lang="en-IN" b="1" dirty="0" err="1">
                <a:solidFill>
                  <a:srgbClr val="071D01"/>
                </a:solidFill>
                <a:latin typeface="Times New Roman" pitchFamily="18" charset="0"/>
                <a:cs typeface="Times New Roman" pitchFamily="18" charset="0"/>
              </a:rPr>
              <a:t>center</a:t>
            </a:r>
            <a:r>
              <a:rPr lang="en-IN" b="1" dirty="0">
                <a:solidFill>
                  <a:srgbClr val="071D01"/>
                </a:solidFill>
                <a:latin typeface="Times New Roman" pitchFamily="18" charset="0"/>
                <a:cs typeface="Times New Roman" pitchFamily="18" charset="0"/>
              </a:rPr>
              <a:t>;</a:t>
            </a:r>
          </a:p>
          <a:p>
            <a:pPr>
              <a:lnSpc>
                <a:spcPct val="200000"/>
              </a:lnSpc>
            </a:pPr>
            <a:r>
              <a:rPr lang="en-IN" b="1" dirty="0">
                <a:solidFill>
                  <a:srgbClr val="071D01"/>
                </a:solidFill>
                <a:latin typeface="Times New Roman" pitchFamily="18" charset="0"/>
                <a:cs typeface="Times New Roman" pitchFamily="18" charset="0"/>
              </a:rPr>
              <a:t>}</a:t>
            </a:r>
          </a:p>
        </p:txBody>
      </p:sp>
    </p:spTree>
    <p:extLst>
      <p:ext uri="{BB962C8B-B14F-4D97-AF65-F5344CB8AC3E}">
        <p14:creationId xmlns:p14="http://schemas.microsoft.com/office/powerpoint/2010/main" val="6174717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163771" y="204716"/>
            <a:ext cx="11778019"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IN" sz="3600" b="1" dirty="0">
                <a:solidFill>
                  <a:srgbClr val="860000"/>
                </a:solidFill>
                <a:latin typeface="Times New Roman" pitchFamily="18" charset="0"/>
                <a:cs typeface="Times New Roman" pitchFamily="18" charset="0"/>
              </a:rPr>
              <a:t>CSS Grid Layout</a:t>
            </a:r>
            <a:endParaRPr lang="en-US" sz="3600" b="1" dirty="0">
              <a:solidFill>
                <a:srgbClr val="860000"/>
              </a:solidFill>
              <a:latin typeface="Marcellu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163772" y="979096"/>
            <a:ext cx="11764371" cy="5225185"/>
          </a:xfrm>
          <a:prstGeom prst="rect">
            <a:avLst/>
          </a:prstGeom>
          <a:noFill/>
          <a:ln w="25400">
            <a:solidFill>
              <a:srgbClr val="860000"/>
            </a:solidFill>
          </a:ln>
        </p:spPr>
        <p:txBody>
          <a:bodyPr vert="horz" lIns="91440" tIns="45720" rIns="91440" bIns="45720" rtlCol="0">
            <a:normAutofit fontScale="55000" lnSpcReduction="20000"/>
          </a:bodyPr>
          <a:lstStyle/>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&lt;div class="grid-container"&gt;</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class="grid-item"&gt;1&lt;/div&gt;</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class="grid-item"&gt;2&lt;/div&gt;</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class="grid-item"&gt;3&lt;/div&gt;  </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class="grid-item"&gt;4&lt;/div&gt;</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class="grid-item"&gt;5&lt;/div&gt;</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class="grid-item"&gt;6&lt;/div&gt;  </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class="grid-item"&gt;7&lt;/div&gt;</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class="grid-item"&gt;8&lt;/div&gt;</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  &lt;div class="grid-item"&gt;9&lt;/div&gt;  </a:t>
            </a:r>
          </a:p>
          <a:p>
            <a:pPr marL="228600" lvl="0" indent="-228600" algn="just" defTabSz="914400">
              <a:lnSpc>
                <a:spcPct val="150000"/>
              </a:lnSpc>
              <a:spcBef>
                <a:spcPts val="1000"/>
              </a:spcBef>
              <a:defRPr/>
            </a:pPr>
            <a:r>
              <a:rPr lang="en-US" sz="2800" b="1" dirty="0">
                <a:solidFill>
                  <a:srgbClr val="071D01"/>
                </a:solidFill>
                <a:latin typeface="Times New Roman" pitchFamily="18" charset="0"/>
                <a:cs typeface="Times New Roman" pitchFamily="18" charset="0"/>
              </a:rPr>
              <a:t>&lt;/div&gt;</a:t>
            </a:r>
            <a:endParaRPr kumimoji="0" lang="en-US" sz="2800" b="1" i="0" u="none" strike="noStrike" kern="1200" cap="none" spc="0" normalizeH="0" baseline="0" noProof="0" dirty="0">
              <a:ln>
                <a:noFill/>
              </a:ln>
              <a:solidFill>
                <a:srgbClr val="071D01"/>
              </a:solidFill>
              <a:effectLst/>
              <a:uLnTx/>
              <a:uFillTx/>
              <a:latin typeface="Times New Roman" pitchFamily="18" charset="0"/>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05780" y="6242918"/>
            <a:ext cx="622363" cy="615082"/>
          </a:xfrm>
          <a:prstGeom prst="rect">
            <a:avLst/>
          </a:prstGeom>
          <a:noFill/>
          <a:ln>
            <a:solidFill>
              <a:srgbClr val="860000"/>
            </a:solidFill>
          </a:ln>
        </p:spPr>
      </p:pic>
      <p:sp>
        <p:nvSpPr>
          <p:cNvPr id="8" name="Rectangle 7"/>
          <p:cNvSpPr/>
          <p:nvPr/>
        </p:nvSpPr>
        <p:spPr>
          <a:xfrm>
            <a:off x="0" y="6553209"/>
            <a:ext cx="11305780" cy="304791"/>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36406"/>
            <a:ext cx="10683416" cy="216803"/>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4690" y="1068388"/>
            <a:ext cx="4850010" cy="4572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61834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98058B23-DDE2-4F62-9A2E-46739C3C685F}"/>
              </a:ext>
            </a:extLst>
          </p:cNvPr>
          <p:cNvSpPr txBox="1">
            <a:spLocks/>
          </p:cNvSpPr>
          <p:nvPr/>
        </p:nvSpPr>
        <p:spPr>
          <a:xfrm>
            <a:off x="68236" y="43974"/>
            <a:ext cx="11123505" cy="660699"/>
          </a:xfrm>
          <a:prstGeom prst="rect">
            <a:avLst/>
          </a:prstGeom>
          <a:ln w="25400">
            <a:solidFill>
              <a:srgbClr val="860000"/>
            </a:solidFill>
          </a:ln>
        </p:spPr>
        <p:txBody>
          <a:bodyPr vert="horz" lIns="91440" tIns="45720" rIns="91440" bIns="45720" rtlCol="0" anchor="ctr">
            <a:normAutofit fontScale="97500"/>
          </a:bodyPr>
          <a:lstStyle/>
          <a:p>
            <a:pPr algn="ctr" defTabSz="914400">
              <a:lnSpc>
                <a:spcPct val="90000"/>
              </a:lnSpc>
              <a:spcBef>
                <a:spcPct val="0"/>
              </a:spcBef>
              <a:defRPr/>
            </a:pPr>
            <a:r>
              <a:rPr lang="en-US" sz="3600" b="1">
                <a:solidFill>
                  <a:srgbClr val="600000"/>
                </a:solidFill>
                <a:latin typeface="Times New Roman" panose="02020603050405020304" pitchFamily="18" charset="0"/>
                <a:cs typeface="Times New Roman" panose="02020603050405020304" pitchFamily="18" charset="0"/>
              </a:rPr>
              <a:t>CSS </a:t>
            </a:r>
            <a:r>
              <a:rPr lang="en-US" sz="3600" b="1" dirty="0">
                <a:solidFill>
                  <a:srgbClr val="600000"/>
                </a:solidFill>
                <a:latin typeface="Times New Roman" panose="02020603050405020304" pitchFamily="18" charset="0"/>
                <a:cs typeface="Times New Roman" panose="02020603050405020304" pitchFamily="18" charset="0"/>
              </a:rPr>
              <a:t>Based CHESS Board &amp; VIBGYOR</a:t>
            </a:r>
            <a:endParaRPr lang="en-US" sz="3600" b="1" dirty="0">
              <a:solidFill>
                <a:srgbClr val="860000"/>
              </a:solidFill>
              <a:latin typeface="Marcellus"/>
            </a:endParaRPr>
          </a:p>
        </p:txBody>
      </p:sp>
      <p:sp>
        <p:nvSpPr>
          <p:cNvPr id="14" name="Subtitle 2">
            <a:extLst>
              <a:ext uri="{FF2B5EF4-FFF2-40B4-BE49-F238E27FC236}">
                <a16:creationId xmlns:a16="http://schemas.microsoft.com/office/drawing/2014/main" id="{6D9CEDE5-3115-42FB-90A3-0727B8EEECC0}"/>
              </a:ext>
            </a:extLst>
          </p:cNvPr>
          <p:cNvSpPr txBox="1">
            <a:spLocks/>
          </p:cNvSpPr>
          <p:nvPr/>
        </p:nvSpPr>
        <p:spPr>
          <a:xfrm>
            <a:off x="68236" y="811369"/>
            <a:ext cx="12012147" cy="5466601"/>
          </a:xfrm>
          <a:prstGeom prst="rect">
            <a:avLst/>
          </a:prstGeom>
          <a:noFill/>
          <a:ln w="25400">
            <a:solidFill>
              <a:srgbClr val="860000"/>
            </a:solidFill>
          </a:ln>
        </p:spPr>
        <p:txBody>
          <a:bodyPr vert="horz" lIns="91440" tIns="45720" rIns="91440" bIns="45720" rtlCol="0">
            <a:normAutofit/>
          </a:bodyPr>
          <a:lstStyle/>
          <a:p>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050" name="Picture 2" descr="C:\Users\GANGA\Desktop\download.jpg"/>
          <p:cNvPicPr>
            <a:picLocks noChangeAspect="1" noChangeArrowheads="1"/>
          </p:cNvPicPr>
          <p:nvPr/>
        </p:nvPicPr>
        <p:blipFill>
          <a:blip r:embed="rId2"/>
          <a:srcRect/>
          <a:stretch>
            <a:fillRect/>
          </a:stretch>
        </p:blipFill>
        <p:spPr bwMode="auto">
          <a:xfrm>
            <a:off x="11333408" y="68781"/>
            <a:ext cx="746975" cy="660699"/>
          </a:xfrm>
          <a:prstGeom prst="rect">
            <a:avLst/>
          </a:prstGeom>
          <a:noFill/>
          <a:ln>
            <a:solidFill>
              <a:srgbClr val="860000"/>
            </a:solidFill>
          </a:ln>
        </p:spPr>
      </p:pic>
      <p:sp>
        <p:nvSpPr>
          <p:cNvPr id="8" name="Rectangle 7"/>
          <p:cNvSpPr/>
          <p:nvPr/>
        </p:nvSpPr>
        <p:spPr>
          <a:xfrm>
            <a:off x="0" y="6564573"/>
            <a:ext cx="12192000" cy="293427"/>
          </a:xfrm>
          <a:prstGeom prst="rect">
            <a:avLst/>
          </a:prstGeom>
          <a:solidFill>
            <a:srgbClr val="071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 y="6359859"/>
            <a:ext cx="10276764" cy="193350"/>
          </a:xfrm>
          <a:prstGeom prst="rect">
            <a:avLst/>
          </a:prstGeom>
          <a:solidFill>
            <a:srgbClr val="860000"/>
          </a:solidFill>
          <a:ln>
            <a:solidFill>
              <a:srgbClr val="86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p:nvPicPr>
        <p:blipFill>
          <a:blip r:embed="rId3"/>
          <a:stretch>
            <a:fillRect/>
          </a:stretch>
        </p:blipFill>
        <p:spPr>
          <a:xfrm>
            <a:off x="230332" y="1318238"/>
            <a:ext cx="4229100" cy="4248150"/>
          </a:xfrm>
          <a:prstGeom prst="rect">
            <a:avLst/>
          </a:prstGeom>
        </p:spPr>
      </p:pic>
      <p:pic>
        <p:nvPicPr>
          <p:cNvPr id="4" name="Picture 3"/>
          <p:cNvPicPr>
            <a:picLocks noChangeAspect="1"/>
          </p:cNvPicPr>
          <p:nvPr/>
        </p:nvPicPr>
        <p:blipFill>
          <a:blip r:embed="rId4"/>
          <a:stretch>
            <a:fillRect/>
          </a:stretch>
        </p:blipFill>
        <p:spPr>
          <a:xfrm>
            <a:off x="4738255" y="1402773"/>
            <a:ext cx="7013863" cy="4163615"/>
          </a:xfrm>
          <a:prstGeom prst="rect">
            <a:avLst/>
          </a:prstGeom>
        </p:spPr>
      </p:pic>
    </p:spTree>
    <p:extLst>
      <p:ext uri="{BB962C8B-B14F-4D97-AF65-F5344CB8AC3E}">
        <p14:creationId xmlns:p14="http://schemas.microsoft.com/office/powerpoint/2010/main" val="8646442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3549</TotalTime>
  <Words>2998</Words>
  <Application>Microsoft Office PowerPoint</Application>
  <PresentationFormat>Widescreen</PresentationFormat>
  <Paragraphs>455</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Calibri Light</vt:lpstr>
      <vt:lpstr>Marcellus</vt:lpstr>
      <vt:lpstr>Times</vt:lpstr>
      <vt:lpstr>Times New Roman</vt:lpstr>
      <vt:lpstr>Wingdings</vt:lpstr>
      <vt:lpstr>Office Theme</vt:lpstr>
      <vt:lpstr>PowerPoint Presentation</vt:lpstr>
      <vt:lpstr>PowerPoint Presentation</vt:lpstr>
      <vt:lpstr>PowerPoint Presentation</vt:lpstr>
      <vt:lpstr>PowerPoint Presentation</vt:lpstr>
      <vt:lpstr>Element Selector</vt:lpstr>
      <vt:lpstr>The Id Selector</vt:lpstr>
      <vt:lpstr>PowerPoint Presentation</vt:lpstr>
      <vt:lpstr>PowerPoint Presentation</vt:lpstr>
      <vt:lpstr>PowerPoint Presentation</vt:lpstr>
      <vt:lpstr>PowerPoint Presentation</vt:lpstr>
      <vt:lpstr>Group Selectors</vt:lpstr>
      <vt:lpstr>Universal Selectors</vt:lpstr>
      <vt:lpstr>PowerPoint Presentation</vt:lpstr>
      <vt:lpstr>PowerPoint Presentation</vt:lpstr>
      <vt:lpstr>PowerPoint Presentation</vt:lpstr>
      <vt:lpstr>PowerPoint Presentation</vt:lpstr>
      <vt:lpstr>Internal Style Sheet</vt:lpstr>
      <vt:lpstr>Internal Style Sheet</vt:lpstr>
      <vt:lpstr>PowerPoint Presentation</vt:lpstr>
      <vt:lpstr>PowerPoint Presentation</vt:lpstr>
      <vt:lpstr>PowerPoint Presentation</vt:lpstr>
      <vt:lpstr>PowerPoint Presentation</vt:lpstr>
      <vt:lpstr>CSS Background</vt:lpstr>
      <vt:lpstr>The CSS Box Model</vt:lpstr>
      <vt:lpstr>PowerPoint Presentation</vt:lpstr>
      <vt:lpstr>PowerPoint Presentation</vt:lpstr>
      <vt:lpstr>PowerPoint Presentation</vt:lpstr>
      <vt:lpstr>PowerPoint Presentation</vt:lpstr>
      <vt:lpstr>CSS POSITIONING</vt:lpstr>
      <vt:lpstr>PowerPoint Presentation</vt:lpstr>
      <vt:lpstr>PowerPoint Presentation</vt:lpstr>
      <vt:lpstr>PowerPoint Presentation</vt:lpstr>
      <vt:lpstr>PowerPoint Presentation</vt:lpstr>
      <vt:lpstr>FIXED POSITION</vt:lpstr>
      <vt:lpstr>FIXED POSITION</vt:lpstr>
      <vt:lpstr>PowerPoint Presentation</vt:lpstr>
      <vt:lpstr>PowerPoint Presentation</vt:lpstr>
      <vt:lpstr>PowerPoint Presentation</vt:lpstr>
      <vt:lpstr>PowerPoint Presentation</vt:lpstr>
      <vt:lpstr>CSS Layout - Float and Clear</vt:lpstr>
      <vt:lpstr>CSS Grid Layout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Aditi  Rajani</dc:creator>
  <cp:lastModifiedBy>shivakumar chary</cp:lastModifiedBy>
  <cp:revision>652</cp:revision>
  <dcterms:created xsi:type="dcterms:W3CDTF">2020-04-30T07:52:47Z</dcterms:created>
  <dcterms:modified xsi:type="dcterms:W3CDTF">2025-09-06T10:56:59Z</dcterms:modified>
</cp:coreProperties>
</file>